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5" r:id="rId4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4" Type="http://schemas.openxmlformats.org/officeDocument/2006/relationships/tableStyles" Target="tableStyles.xml"/><Relationship Id="rId43" Type="http://schemas.openxmlformats.org/officeDocument/2006/relationships/viewProps" Target="viewProps.xml"/><Relationship Id="rId42" Type="http://schemas.openxmlformats.org/officeDocument/2006/relationships/presProps" Target="presProps.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cover_eyebrow"/>
          <p:cNvSpPr>
            <a:spLocks noGrp="1"/>
          </p:cNvSpPr>
          <p:nvPr/>
        </p:nvSpPr>
        <p:spPr>
          <a:xfrm>
            <a:off x="400050" y="381000"/>
            <a:ext cx="4000500" cy="266700"/>
          </a:xfrm>
          <a:prstGeom prst="rect">
            <a:avLst/>
          </a:prstGeom>
          <a:noFill/>
          <a:ln w="0">
            <a:noFill/>
            <a:prstDash val="solid"/>
          </a:ln>
        </p:spPr>
        <p:txBody>
          <a:bodyPr lIns="0" tIns="0" rIns="0" bIns="0" anchor="t"/>
          <a:lstStyle/>
          <a:p>
            <a:pPr algn="l">
              <a:defRPr sz="1275" b="1">
                <a:solidFill>
                  <a:srgbClr val="5D626C"/>
                </a:solidFill>
                <a:latin typeface="微软雅黑" panose="020B0503020204020204" charset="-122"/>
                <a:ea typeface="微软雅黑" panose="020B0503020204020204" charset="-122"/>
                <a:cs typeface="微软雅黑" panose="020B0503020204020204" charset="-122"/>
              </a:defRPr>
            </a:pPr>
            <a:r>
              <a:rPr sz="1275" b="1">
                <a:solidFill>
                  <a:srgbClr val="5D626C"/>
                </a:solidFill>
                <a:latin typeface="微软雅黑" panose="020B0503020204020204" charset="-122"/>
                <a:ea typeface="微软雅黑" panose="020B0503020204020204" charset="-122"/>
                <a:cs typeface="微软雅黑" panose="020B0503020204020204" charset="-122"/>
              </a:rPr>
              <a:t>数据结构课程设计 · 答辩</a:t>
            </a:r>
            <a:endParaRPr sz="1275"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cover_title"/>
          <p:cNvSpPr>
            <a:spLocks noGrp="1"/>
          </p:cNvSpPr>
          <p:nvPr/>
        </p:nvSpPr>
        <p:spPr>
          <a:xfrm>
            <a:off x="400050" y="1381125"/>
            <a:ext cx="6762750" cy="1666875"/>
          </a:xfrm>
          <a:prstGeom prst="rect">
            <a:avLst/>
          </a:prstGeom>
          <a:noFill/>
          <a:ln w="0">
            <a:noFill/>
            <a:prstDash val="solid"/>
          </a:ln>
        </p:spPr>
        <p:txBody>
          <a:bodyPr lIns="0" tIns="0" rIns="0" bIns="0" anchor="t"/>
          <a:lstStyle/>
          <a:p>
            <a:pPr algn="l">
              <a:defRPr sz="4200" b="1">
                <a:solidFill>
                  <a:srgbClr val="17181C"/>
                </a:solidFill>
                <a:latin typeface="微软雅黑" panose="020B0503020204020204" charset="-122"/>
                <a:ea typeface="微软雅黑" panose="020B0503020204020204" charset="-122"/>
                <a:cs typeface="微软雅黑" panose="020B0503020204020204" charset="-122"/>
              </a:defRPr>
            </a:pPr>
            <a:r>
              <a:rPr sz="4200" b="1">
                <a:solidFill>
                  <a:srgbClr val="17181C"/>
                </a:solidFill>
                <a:latin typeface="微软雅黑" panose="020B0503020204020204" charset="-122"/>
                <a:ea typeface="微软雅黑" panose="020B0503020204020204" charset="-122"/>
                <a:cs typeface="微软雅黑" panose="020B0503020204020204" charset="-122"/>
              </a:rPr>
              <a:t>红黑树后端算法</a:t>
            </a:r>
            <a:endParaRPr sz="4200" b="1">
              <a:solidFill>
                <a:srgbClr val="17181C"/>
              </a:solidFill>
              <a:latin typeface="微软雅黑" panose="020B0503020204020204" charset="-122"/>
              <a:ea typeface="微软雅黑" panose="020B0503020204020204" charset="-122"/>
              <a:cs typeface="微软雅黑" panose="020B0503020204020204" charset="-122"/>
            </a:endParaRPr>
          </a:p>
          <a:p>
            <a:pPr algn="l">
              <a:defRPr sz="4200" b="1">
                <a:solidFill>
                  <a:srgbClr val="17181C"/>
                </a:solidFill>
                <a:latin typeface="微软雅黑" panose="020B0503020204020204" charset="-122"/>
                <a:ea typeface="微软雅黑" panose="020B0503020204020204" charset="-122"/>
                <a:cs typeface="微软雅黑" panose="020B0503020204020204" charset="-122"/>
              </a:defRPr>
            </a:pPr>
            <a:r>
              <a:rPr sz="4200" b="1">
                <a:solidFill>
                  <a:srgbClr val="17181C"/>
                </a:solidFill>
                <a:latin typeface="微软雅黑" panose="020B0503020204020204" charset="-122"/>
                <a:ea typeface="微软雅黑" panose="020B0503020204020204" charset="-122"/>
                <a:cs typeface="微软雅黑" panose="020B0503020204020204" charset="-122"/>
              </a:rPr>
              <a:t>设计与修复</a:t>
            </a:r>
            <a:endParaRPr sz="42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cover_subtitle"/>
          <p:cNvSpPr>
            <a:spLocks noGrp="1"/>
          </p:cNvSpPr>
          <p:nvPr/>
        </p:nvSpPr>
        <p:spPr>
          <a:xfrm>
            <a:off x="428625" y="3381375"/>
            <a:ext cx="6953250" cy="666750"/>
          </a:xfrm>
          <a:prstGeom prst="rect">
            <a:avLst/>
          </a:prstGeom>
          <a:noFill/>
          <a:ln w="0">
            <a:noFill/>
            <a:prstDash val="solid"/>
          </a:ln>
        </p:spPr>
        <p:txBody>
          <a:bodyPr lIns="0" tIns="0" rIns="0" bIns="0" anchor="t"/>
          <a:lstStyle/>
          <a:p>
            <a:pPr algn="l">
              <a:defRPr sz="1650" b="0">
                <a:solidFill>
                  <a:srgbClr val="5D626C"/>
                </a:solidFill>
                <a:latin typeface="微软雅黑" panose="020B0503020204020204" charset="-122"/>
                <a:ea typeface="微软雅黑" panose="020B0503020204020204" charset="-122"/>
                <a:cs typeface="微软雅黑" panose="020B0503020204020204" charset="-122"/>
              </a:defRPr>
            </a:pPr>
            <a:endParaRPr sz="16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5" name="cover_tree_edge_n10_n5"/>
          <p:cNvSpPr>
            <a:spLocks noGrp="1"/>
          </p:cNvSpPr>
          <p:nvPr/>
        </p:nvSpPr>
        <p:spPr>
          <a:xfrm rot="7871156">
            <a:off x="8075046" y="2319338"/>
            <a:ext cx="1518782" cy="28575"/>
          </a:xfrm>
          <a:prstGeom prst="rect">
            <a:avLst/>
          </a:prstGeom>
          <a:solidFill>
            <a:srgbClr val="B9BDC5"/>
          </a:solidFill>
          <a:ln w="0">
            <a:noFill/>
            <a:prstDash val="solid"/>
          </a:ln>
        </p:spPr>
      </p:sp>
      <p:sp>
        <p:nvSpPr>
          <p:cNvPr id="6" name="cover_tree_edge_n10_n15"/>
          <p:cNvSpPr>
            <a:spLocks noGrp="1"/>
          </p:cNvSpPr>
          <p:nvPr/>
        </p:nvSpPr>
        <p:spPr>
          <a:xfrm rot="2928844">
            <a:off x="9075171" y="2319338"/>
            <a:ext cx="1518782" cy="28575"/>
          </a:xfrm>
          <a:prstGeom prst="rect">
            <a:avLst/>
          </a:prstGeom>
          <a:solidFill>
            <a:srgbClr val="B9BDC5"/>
          </a:solidFill>
          <a:ln w="0">
            <a:noFill/>
            <a:prstDash val="solid"/>
          </a:ln>
        </p:spPr>
      </p:sp>
      <p:sp>
        <p:nvSpPr>
          <p:cNvPr id="7" name="cover_tree_edge_n5_n3"/>
          <p:cNvSpPr>
            <a:spLocks noGrp="1"/>
          </p:cNvSpPr>
          <p:nvPr/>
        </p:nvSpPr>
        <p:spPr>
          <a:xfrm rot="6775926">
            <a:off x="7400182" y="3509963"/>
            <a:ext cx="1344510" cy="28575"/>
          </a:xfrm>
          <a:prstGeom prst="rect">
            <a:avLst/>
          </a:prstGeom>
          <a:solidFill>
            <a:srgbClr val="B9BDC5"/>
          </a:solidFill>
          <a:ln w="0">
            <a:noFill/>
            <a:prstDash val="solid"/>
          </a:ln>
        </p:spPr>
      </p:sp>
      <p:sp>
        <p:nvSpPr>
          <p:cNvPr id="8" name="cover_tree_edge_n5_n7"/>
          <p:cNvSpPr>
            <a:spLocks noGrp="1"/>
          </p:cNvSpPr>
          <p:nvPr/>
        </p:nvSpPr>
        <p:spPr>
          <a:xfrm rot="4024074">
            <a:off x="7924057" y="3509963"/>
            <a:ext cx="1344510" cy="28575"/>
          </a:xfrm>
          <a:prstGeom prst="rect">
            <a:avLst/>
          </a:prstGeom>
          <a:solidFill>
            <a:srgbClr val="B9BDC5"/>
          </a:solidFill>
          <a:ln w="0">
            <a:noFill/>
            <a:prstDash val="solid"/>
          </a:ln>
        </p:spPr>
      </p:sp>
      <p:sp>
        <p:nvSpPr>
          <p:cNvPr id="9" name="cover_tree_edge_n15_n12"/>
          <p:cNvSpPr>
            <a:spLocks noGrp="1"/>
          </p:cNvSpPr>
          <p:nvPr/>
        </p:nvSpPr>
        <p:spPr>
          <a:xfrm rot="6775926">
            <a:off x="9400432" y="3509963"/>
            <a:ext cx="1344510" cy="28575"/>
          </a:xfrm>
          <a:prstGeom prst="rect">
            <a:avLst/>
          </a:prstGeom>
          <a:solidFill>
            <a:srgbClr val="B9BDC5"/>
          </a:solidFill>
          <a:ln w="0">
            <a:noFill/>
            <a:prstDash val="solid"/>
          </a:ln>
        </p:spPr>
      </p:sp>
      <p:sp>
        <p:nvSpPr>
          <p:cNvPr id="10" name="cover_tree_edge_n15_n18"/>
          <p:cNvSpPr>
            <a:spLocks noGrp="1"/>
          </p:cNvSpPr>
          <p:nvPr/>
        </p:nvSpPr>
        <p:spPr>
          <a:xfrm rot="4024074">
            <a:off x="9924307" y="3509963"/>
            <a:ext cx="1344510" cy="28575"/>
          </a:xfrm>
          <a:prstGeom prst="rect">
            <a:avLst/>
          </a:prstGeom>
          <a:solidFill>
            <a:srgbClr val="B9BDC5"/>
          </a:solidFill>
          <a:ln w="0">
            <a:noFill/>
            <a:prstDash val="solid"/>
          </a:ln>
        </p:spPr>
      </p:sp>
      <p:sp>
        <p:nvSpPr>
          <p:cNvPr id="11" name="cover_tree_n10"/>
          <p:cNvSpPr>
            <a:spLocks noGrp="1"/>
          </p:cNvSpPr>
          <p:nvPr/>
        </p:nvSpPr>
        <p:spPr>
          <a:xfrm>
            <a:off x="9096375" y="1524000"/>
            <a:ext cx="476250" cy="476250"/>
          </a:xfrm>
          <a:prstGeom prst="ellipse">
            <a:avLst/>
          </a:prstGeom>
          <a:solidFill>
            <a:srgbClr val="22242A"/>
          </a:solidFill>
          <a:ln w="9525">
            <a:solidFill>
              <a:srgbClr val="FFFFFF"/>
            </a:solidFill>
            <a:prstDash val="solid"/>
          </a:ln>
        </p:spPr>
      </p:sp>
      <p:sp>
        <p:nvSpPr>
          <p:cNvPr id="12" name="cover_tree_n10_label"/>
          <p:cNvSpPr>
            <a:spLocks noGrp="1"/>
          </p:cNvSpPr>
          <p:nvPr/>
        </p:nvSpPr>
        <p:spPr>
          <a:xfrm>
            <a:off x="9134475" y="1638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10</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cover_tree_n5"/>
          <p:cNvSpPr>
            <a:spLocks noGrp="1"/>
          </p:cNvSpPr>
          <p:nvPr/>
        </p:nvSpPr>
        <p:spPr>
          <a:xfrm>
            <a:off x="8096250" y="2667000"/>
            <a:ext cx="476250" cy="476250"/>
          </a:xfrm>
          <a:prstGeom prst="ellipse">
            <a:avLst/>
          </a:prstGeom>
          <a:solidFill>
            <a:srgbClr val="DE3840"/>
          </a:solidFill>
          <a:ln w="9525">
            <a:solidFill>
              <a:srgbClr val="FFFFFF"/>
            </a:solidFill>
            <a:prstDash val="solid"/>
          </a:ln>
        </p:spPr>
      </p:sp>
      <p:sp>
        <p:nvSpPr>
          <p:cNvPr id="14" name="cover_tree_n5_label"/>
          <p:cNvSpPr>
            <a:spLocks noGrp="1"/>
          </p:cNvSpPr>
          <p:nvPr/>
        </p:nvSpPr>
        <p:spPr>
          <a:xfrm>
            <a:off x="8134350" y="2781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cover_tree_n15"/>
          <p:cNvSpPr>
            <a:spLocks noGrp="1"/>
          </p:cNvSpPr>
          <p:nvPr/>
        </p:nvSpPr>
        <p:spPr>
          <a:xfrm>
            <a:off x="10096500" y="2667000"/>
            <a:ext cx="476250" cy="476250"/>
          </a:xfrm>
          <a:prstGeom prst="ellipse">
            <a:avLst/>
          </a:prstGeom>
          <a:solidFill>
            <a:srgbClr val="DE3840"/>
          </a:solidFill>
          <a:ln w="9525">
            <a:solidFill>
              <a:srgbClr val="FFFFFF"/>
            </a:solidFill>
            <a:prstDash val="solid"/>
          </a:ln>
        </p:spPr>
      </p:sp>
      <p:sp>
        <p:nvSpPr>
          <p:cNvPr id="16" name="cover_tree_n15_label"/>
          <p:cNvSpPr>
            <a:spLocks noGrp="1"/>
          </p:cNvSpPr>
          <p:nvPr/>
        </p:nvSpPr>
        <p:spPr>
          <a:xfrm>
            <a:off x="10134600" y="2781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cover_tree_n3"/>
          <p:cNvSpPr>
            <a:spLocks noGrp="1"/>
          </p:cNvSpPr>
          <p:nvPr/>
        </p:nvSpPr>
        <p:spPr>
          <a:xfrm>
            <a:off x="7572375" y="3905250"/>
            <a:ext cx="476250" cy="476250"/>
          </a:xfrm>
          <a:prstGeom prst="ellipse">
            <a:avLst/>
          </a:prstGeom>
          <a:solidFill>
            <a:srgbClr val="22242A"/>
          </a:solidFill>
          <a:ln w="9525">
            <a:solidFill>
              <a:srgbClr val="FFFFFF"/>
            </a:solidFill>
            <a:prstDash val="solid"/>
          </a:ln>
        </p:spPr>
      </p:sp>
      <p:sp>
        <p:nvSpPr>
          <p:cNvPr id="18" name="cover_tree_n3_label"/>
          <p:cNvSpPr>
            <a:spLocks noGrp="1"/>
          </p:cNvSpPr>
          <p:nvPr/>
        </p:nvSpPr>
        <p:spPr>
          <a:xfrm>
            <a:off x="7610475" y="4019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3</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cover_tree_n7"/>
          <p:cNvSpPr>
            <a:spLocks noGrp="1"/>
          </p:cNvSpPr>
          <p:nvPr/>
        </p:nvSpPr>
        <p:spPr>
          <a:xfrm>
            <a:off x="8620125" y="3905250"/>
            <a:ext cx="476250" cy="476250"/>
          </a:xfrm>
          <a:prstGeom prst="ellipse">
            <a:avLst/>
          </a:prstGeom>
          <a:solidFill>
            <a:srgbClr val="22242A"/>
          </a:solidFill>
          <a:ln w="9525">
            <a:solidFill>
              <a:srgbClr val="FFFFFF"/>
            </a:solidFill>
            <a:prstDash val="solid"/>
          </a:ln>
        </p:spPr>
      </p:sp>
      <p:sp>
        <p:nvSpPr>
          <p:cNvPr id="20" name="cover_tree_n7_label"/>
          <p:cNvSpPr>
            <a:spLocks noGrp="1"/>
          </p:cNvSpPr>
          <p:nvPr/>
        </p:nvSpPr>
        <p:spPr>
          <a:xfrm>
            <a:off x="8658225" y="4019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7</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cover_tree_n12"/>
          <p:cNvSpPr>
            <a:spLocks noGrp="1"/>
          </p:cNvSpPr>
          <p:nvPr/>
        </p:nvSpPr>
        <p:spPr>
          <a:xfrm>
            <a:off x="9572625" y="3905250"/>
            <a:ext cx="476250" cy="476250"/>
          </a:xfrm>
          <a:prstGeom prst="ellipse">
            <a:avLst/>
          </a:prstGeom>
          <a:solidFill>
            <a:srgbClr val="22242A"/>
          </a:solidFill>
          <a:ln w="9525">
            <a:solidFill>
              <a:srgbClr val="FFFFFF"/>
            </a:solidFill>
            <a:prstDash val="solid"/>
          </a:ln>
        </p:spPr>
      </p:sp>
      <p:sp>
        <p:nvSpPr>
          <p:cNvPr id="22" name="cover_tree_n12_label"/>
          <p:cNvSpPr>
            <a:spLocks noGrp="1"/>
          </p:cNvSpPr>
          <p:nvPr/>
        </p:nvSpPr>
        <p:spPr>
          <a:xfrm>
            <a:off x="9610725" y="4019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12</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cover_tree_n18"/>
          <p:cNvSpPr>
            <a:spLocks noGrp="1"/>
          </p:cNvSpPr>
          <p:nvPr/>
        </p:nvSpPr>
        <p:spPr>
          <a:xfrm>
            <a:off x="10620375" y="3905250"/>
            <a:ext cx="476250" cy="476250"/>
          </a:xfrm>
          <a:prstGeom prst="ellipse">
            <a:avLst/>
          </a:prstGeom>
          <a:solidFill>
            <a:srgbClr val="22242A"/>
          </a:solidFill>
          <a:ln w="9525">
            <a:solidFill>
              <a:srgbClr val="FFFFFF"/>
            </a:solidFill>
            <a:prstDash val="solid"/>
          </a:ln>
        </p:spPr>
      </p:sp>
      <p:sp>
        <p:nvSpPr>
          <p:cNvPr id="24" name="cover_tree_n18_label"/>
          <p:cNvSpPr>
            <a:spLocks noGrp="1"/>
          </p:cNvSpPr>
          <p:nvPr/>
        </p:nvSpPr>
        <p:spPr>
          <a:xfrm>
            <a:off x="10658475" y="4019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18</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cover_bottom_rule"/>
          <p:cNvSpPr>
            <a:spLocks noGrp="1"/>
          </p:cNvSpPr>
          <p:nvPr/>
        </p:nvSpPr>
        <p:spPr>
          <a:xfrm>
            <a:off x="400050" y="5724525"/>
            <a:ext cx="11391900" cy="19050"/>
          </a:xfrm>
          <a:prstGeom prst="rect">
            <a:avLst/>
          </a:prstGeom>
          <a:solidFill>
            <a:srgbClr val="B9BDC5"/>
          </a:solidFill>
          <a:ln w="0">
            <a:noFill/>
            <a:prstDash val="solid"/>
          </a:ln>
        </p:spPr>
      </p:sp>
      <p:sp>
        <p:nvSpPr>
          <p:cNvPr id="26" name="cover_meta"/>
          <p:cNvSpPr>
            <a:spLocks noGrp="1"/>
          </p:cNvSpPr>
          <p:nvPr/>
        </p:nvSpPr>
        <p:spPr>
          <a:xfrm>
            <a:off x="400050" y="5953125"/>
            <a:ext cx="9525000" cy="266700"/>
          </a:xfrm>
          <a:prstGeom prst="rect">
            <a:avLst/>
          </a:prstGeom>
          <a:noFill/>
          <a:ln w="0">
            <a:noFill/>
            <a:prstDash val="solid"/>
          </a:ln>
        </p:spPr>
        <p:txBody>
          <a:bodyPr lIns="0" tIns="0" rIns="0" bIns="0" anchor="t"/>
          <a:lstStyle/>
          <a:p>
            <a:pPr algn="l">
              <a:defRPr sz="1275" b="0">
                <a:solidFill>
                  <a:srgbClr val="5D626C"/>
                </a:solidFill>
                <a:latin typeface="微软雅黑" panose="020B0503020204020204" charset="-122"/>
                <a:ea typeface="微软雅黑" panose="020B0503020204020204" charset="-122"/>
                <a:cs typeface="微软雅黑" panose="020B0503020204020204" charset="-122"/>
              </a:defRPr>
            </a:pPr>
            <a:r>
              <a:rPr sz="1275" b="0">
                <a:solidFill>
                  <a:srgbClr val="5D626C"/>
                </a:solidFill>
                <a:latin typeface="微软雅黑" panose="020B0503020204020204" charset="-122"/>
                <a:ea typeface="微软雅黑" panose="020B0503020204020204" charset="-122"/>
                <a:cs typeface="微软雅黑" panose="020B0503020204020204" charset="-122"/>
              </a:rPr>
              <a:t>答辩重点：src/rbtree.h 后端算法  |  EasyX 仅用于运行演示  |  验证：39 项测试</a:t>
            </a:r>
            <a:endParaRPr sz="1275"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27" name="cover_footer"/>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01</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01 · 项目背景</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这个项目真正要解决的，不只是“写出一棵红黑树”</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
          <p:cNvSpPr>
            <a:spLocks noGrp="1"/>
          </p:cNvSpPr>
          <p:nvPr/>
        </p:nvSpPr>
        <p:spPr>
          <a:xfrm>
            <a:off x="400050" y="1352550"/>
            <a:ext cx="11391900" cy="19050"/>
          </a:xfrm>
          <a:prstGeom prst="rect">
            <a:avLst/>
          </a:prstGeom>
          <a:solidFill>
            <a:srgbClr val="17181C"/>
          </a:solidFill>
          <a:ln w="0">
            <a:noFill/>
            <a:prstDash val="solid"/>
          </a:ln>
        </p:spPr>
      </p:sp>
      <p:sp>
        <p:nvSpPr>
          <p:cNvPr id="5" name="footer_2"/>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02</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2_42"/>
          <p:cNvSpPr>
            <a:spLocks noGrp="1"/>
          </p:cNvSpPr>
          <p:nvPr/>
        </p:nvSpPr>
        <p:spPr>
          <a:xfrm>
            <a:off x="400050" y="1695450"/>
            <a:ext cx="5334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为什么普通二叉搜索树还不够？</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2_42"/>
          <p:cNvSpPr>
            <a:spLocks noGrp="1"/>
          </p:cNvSpPr>
          <p:nvPr/>
        </p:nvSpPr>
        <p:spPr>
          <a:xfrm>
            <a:off x="400050" y="2305050"/>
            <a:ext cx="66675" cy="3629025"/>
          </a:xfrm>
          <a:prstGeom prst="rect">
            <a:avLst/>
          </a:prstGeom>
          <a:solidFill>
            <a:srgbClr val="DE3840"/>
          </a:solidFill>
          <a:ln w="0">
            <a:noFill/>
            <a:prstDash val="solid"/>
          </a:ln>
        </p:spPr>
      </p:sp>
      <p:sp>
        <p:nvSpPr>
          <p:cNvPr id="8" name="reason_body_2_42"/>
          <p:cNvSpPr>
            <a:spLocks noGrp="1"/>
          </p:cNvSpPr>
          <p:nvPr/>
        </p:nvSpPr>
        <p:spPr>
          <a:xfrm>
            <a:off x="628650" y="2419350"/>
            <a:ext cx="5048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因为它只规定了左边小、右边大，却没有规定树应该长得多高。</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如果输入恰好是 1、2、3、4、5，普通二叉搜索树会一路向右长成链表。查找 5 不再是沿几层下降，而是把前面的节点全走一遍。</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所以这里需要的不是“绝对平衡”，而是一个更现实的目标：每次插入和删除只改动局部，同时把整棵树的高度压在 O(log n)。</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question_2_665"/>
          <p:cNvSpPr>
            <a:spLocks noGrp="1"/>
          </p:cNvSpPr>
          <p:nvPr/>
        </p:nvSpPr>
        <p:spPr>
          <a:xfrm>
            <a:off x="6334125" y="1695450"/>
            <a:ext cx="5238750" cy="533400"/>
          </a:xfrm>
          <a:prstGeom prst="rect">
            <a:avLst/>
          </a:prstGeom>
          <a:noFill/>
          <a:ln w="0">
            <a:noFill/>
            <a:prstDash val="solid"/>
          </a:ln>
        </p:spPr>
        <p:txBody>
          <a:bodyPr lIns="0" tIns="0" rIns="0" bIns="0" anchor="t"/>
          <a:lstStyle/>
          <a:p>
            <a:pPr algn="l">
              <a:defRPr sz="1800" b="1">
                <a:solidFill>
                  <a:srgbClr val="486A9A"/>
                </a:solidFill>
                <a:latin typeface="微软雅黑" panose="020B0503020204020204" charset="-122"/>
                <a:ea typeface="微软雅黑" panose="020B0503020204020204" charset="-122"/>
                <a:cs typeface="微软雅黑" panose="020B0503020204020204" charset="-122"/>
              </a:defRPr>
            </a:pPr>
            <a:r>
              <a:rPr sz="1800" b="1">
                <a:solidFill>
                  <a:srgbClr val="486A9A"/>
                </a:solidFill>
                <a:latin typeface="微软雅黑" panose="020B0503020204020204" charset="-122"/>
                <a:ea typeface="微软雅黑" panose="020B0503020204020204" charset="-122"/>
                <a:cs typeface="微软雅黑" panose="020B0503020204020204" charset="-122"/>
              </a:rPr>
              <a:t>为什么还保留 EasyX 演示？</a:t>
            </a:r>
            <a:endParaRPr sz="1800" b="1">
              <a:solidFill>
                <a:srgbClr val="486A9A"/>
              </a:solidFill>
              <a:latin typeface="微软雅黑" panose="020B0503020204020204" charset="-122"/>
              <a:ea typeface="微软雅黑" panose="020B0503020204020204" charset="-122"/>
              <a:cs typeface="微软雅黑" panose="020B0503020204020204" charset="-122"/>
            </a:endParaRPr>
          </a:p>
        </p:txBody>
      </p:sp>
      <p:sp>
        <p:nvSpPr>
          <p:cNvPr id="10" name="reason_bar_2_665"/>
          <p:cNvSpPr>
            <a:spLocks noGrp="1"/>
          </p:cNvSpPr>
          <p:nvPr/>
        </p:nvSpPr>
        <p:spPr>
          <a:xfrm>
            <a:off x="6334125" y="2305050"/>
            <a:ext cx="66675" cy="3629025"/>
          </a:xfrm>
          <a:prstGeom prst="rect">
            <a:avLst/>
          </a:prstGeom>
          <a:solidFill>
            <a:srgbClr val="486A9A"/>
          </a:solidFill>
          <a:ln w="0">
            <a:noFill/>
            <a:prstDash val="solid"/>
          </a:ln>
        </p:spPr>
      </p:sp>
      <p:sp>
        <p:nvSpPr>
          <p:cNvPr id="11" name="reason_body_2_665"/>
          <p:cNvSpPr>
            <a:spLocks noGrp="1"/>
          </p:cNvSpPr>
          <p:nvPr/>
        </p:nvSpPr>
        <p:spPr>
          <a:xfrm>
            <a:off x="6562725" y="2419350"/>
            <a:ext cx="49530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红黑树最难的地方不是调用 insert 或 remove，而是旋转以后谁成了父亲、哪一块局部结构发生了变化。</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EasyX 在这里仅作为结果展示：输入 key，观察后端操作完成后的树形与颜色。答辩主体仍然回到 rbtree.h，解释判断条件、换色、旋转和不变量。</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01 · 项目背景</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课程目标被拆成三条互相验证的数据流</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
          <p:cNvSpPr>
            <a:spLocks noGrp="1"/>
          </p:cNvSpPr>
          <p:nvPr/>
        </p:nvSpPr>
        <p:spPr>
          <a:xfrm>
            <a:off x="400050" y="1352550"/>
            <a:ext cx="11391900" cy="19050"/>
          </a:xfrm>
          <a:prstGeom prst="rect">
            <a:avLst/>
          </a:prstGeom>
          <a:solidFill>
            <a:srgbClr val="17181C"/>
          </a:solidFill>
          <a:ln w="0">
            <a:noFill/>
            <a:prstDash val="solid"/>
          </a:ln>
        </p:spPr>
      </p:sp>
      <p:sp>
        <p:nvSpPr>
          <p:cNvPr id="5" name="footer_3"/>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03</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_42"/>
          <p:cNvSpPr>
            <a:spLocks noGrp="1"/>
          </p:cNvSpPr>
          <p:nvPr/>
        </p:nvSpPr>
        <p:spPr>
          <a:xfrm>
            <a:off x="400050" y="1695450"/>
            <a:ext cx="3333750" cy="533400"/>
          </a:xfrm>
          <a:prstGeom prst="rect">
            <a:avLst/>
          </a:prstGeom>
          <a:noFill/>
          <a:ln w="0">
            <a:noFill/>
            <a:prstDash val="solid"/>
          </a:ln>
        </p:spPr>
        <p:txBody>
          <a:bodyPr lIns="0" tIns="0" rIns="0" bIns="0" anchor="t"/>
          <a:lstStyle/>
          <a:p>
            <a:pPr algn="l">
              <a:defRPr sz="1800" b="1">
                <a:solidFill>
                  <a:srgbClr val="17181C"/>
                </a:solidFill>
                <a:latin typeface="微软雅黑" panose="020B0503020204020204" charset="-122"/>
                <a:ea typeface="微软雅黑" panose="020B0503020204020204" charset="-122"/>
                <a:cs typeface="微软雅黑" panose="020B0503020204020204" charset="-122"/>
              </a:defRPr>
            </a:pPr>
            <a:r>
              <a:rPr sz="1800" b="1">
                <a:solidFill>
                  <a:srgbClr val="17181C"/>
                </a:solidFill>
                <a:latin typeface="微软雅黑" panose="020B0503020204020204" charset="-122"/>
                <a:ea typeface="微软雅黑" panose="020B0503020204020204" charset="-122"/>
                <a:cs typeface="微软雅黑" panose="020B0503020204020204" charset="-122"/>
              </a:rPr>
              <a:t>第一条：算法要能独立运行</a:t>
            </a:r>
            <a:endParaRPr sz="18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7" name="reason_bar_3_42"/>
          <p:cNvSpPr>
            <a:spLocks noGrp="1"/>
          </p:cNvSpPr>
          <p:nvPr/>
        </p:nvSpPr>
        <p:spPr>
          <a:xfrm>
            <a:off x="400050" y="2305050"/>
            <a:ext cx="66675" cy="3105150"/>
          </a:xfrm>
          <a:prstGeom prst="rect">
            <a:avLst/>
          </a:prstGeom>
          <a:solidFill>
            <a:srgbClr val="17181C"/>
          </a:solidFill>
          <a:ln w="0">
            <a:noFill/>
            <a:prstDash val="solid"/>
          </a:ln>
        </p:spPr>
      </p:sp>
      <p:sp>
        <p:nvSpPr>
          <p:cNvPr id="8" name="reason_body_3_42"/>
          <p:cNvSpPr>
            <a:spLocks noGrp="1"/>
          </p:cNvSpPr>
          <p:nvPr/>
        </p:nvSpPr>
        <p:spPr>
          <a:xfrm>
            <a:off x="628650" y="2419350"/>
            <a:ext cx="3048000" cy="2952750"/>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RBTree&lt;int&gt; 不知道 EasyX 是什么。它只维护 key、颜色和父子指针，并提供 contains、insert、remove、iterator。</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这样数据测试不需要图形库，算法错误也不会被界面问题掩盖。</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question_3_465"/>
          <p:cNvSpPr>
            <a:spLocks noGrp="1"/>
          </p:cNvSpPr>
          <p:nvPr/>
        </p:nvSpPr>
        <p:spPr>
          <a:xfrm>
            <a:off x="4429125" y="1695450"/>
            <a:ext cx="33337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第二条：演示界面不参与算法</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10" name="reason_bar_3_465"/>
          <p:cNvSpPr>
            <a:spLocks noGrp="1"/>
          </p:cNvSpPr>
          <p:nvPr/>
        </p:nvSpPr>
        <p:spPr>
          <a:xfrm>
            <a:off x="4429125" y="2305050"/>
            <a:ext cx="66675" cy="3105150"/>
          </a:xfrm>
          <a:prstGeom prst="rect">
            <a:avLst/>
          </a:prstGeom>
          <a:solidFill>
            <a:srgbClr val="DE3840"/>
          </a:solidFill>
          <a:ln w="0">
            <a:noFill/>
            <a:prstDash val="solid"/>
          </a:ln>
        </p:spPr>
      </p:sp>
      <p:sp>
        <p:nvSpPr>
          <p:cNvPr id="11" name="reason_body_3_465"/>
          <p:cNvSpPr>
            <a:spLocks noGrp="1"/>
          </p:cNvSpPr>
          <p:nvPr/>
        </p:nvSpPr>
        <p:spPr>
          <a:xfrm>
            <a:off x="4657725" y="2419350"/>
            <a:ext cx="3048000" cy="2952750"/>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程序使用 EasyX 显示操作后的树形，但本次答辩不展开界面实现。</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演示时只把它当成观察窗口：点击插入或删除，重点解释后端经历了哪种换色、旋转与黑高修复。</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12" name="question_3_888"/>
          <p:cNvSpPr>
            <a:spLocks noGrp="1"/>
          </p:cNvSpPr>
          <p:nvPr/>
        </p:nvSpPr>
        <p:spPr>
          <a:xfrm>
            <a:off x="8458200" y="1695450"/>
            <a:ext cx="3333750" cy="533400"/>
          </a:xfrm>
          <a:prstGeom prst="rect">
            <a:avLst/>
          </a:prstGeom>
          <a:noFill/>
          <a:ln w="0">
            <a:noFill/>
            <a:prstDash val="solid"/>
          </a:ln>
        </p:spPr>
        <p:txBody>
          <a:bodyPr lIns="0" tIns="0" rIns="0" bIns="0" anchor="t"/>
          <a:lstStyle/>
          <a:p>
            <a:pPr algn="l">
              <a:defRPr sz="1800" b="1">
                <a:solidFill>
                  <a:srgbClr val="486A9A"/>
                </a:solidFill>
                <a:latin typeface="微软雅黑" panose="020B0503020204020204" charset="-122"/>
                <a:ea typeface="微软雅黑" panose="020B0503020204020204" charset="-122"/>
                <a:cs typeface="微软雅黑" panose="020B0503020204020204" charset="-122"/>
              </a:defRPr>
            </a:pPr>
            <a:r>
              <a:rPr sz="1800" b="1">
                <a:solidFill>
                  <a:srgbClr val="486A9A"/>
                </a:solidFill>
                <a:latin typeface="微软雅黑" panose="020B0503020204020204" charset="-122"/>
                <a:ea typeface="微软雅黑" panose="020B0503020204020204" charset="-122"/>
                <a:cs typeface="微软雅黑" panose="020B0503020204020204" charset="-122"/>
              </a:rPr>
              <a:t>第三条：测试盯住不变量</a:t>
            </a:r>
            <a:endParaRPr sz="1800" b="1">
              <a:solidFill>
                <a:srgbClr val="486A9A"/>
              </a:solidFill>
              <a:latin typeface="微软雅黑" panose="020B0503020204020204" charset="-122"/>
              <a:ea typeface="微软雅黑" panose="020B0503020204020204" charset="-122"/>
              <a:cs typeface="微软雅黑" panose="020B0503020204020204" charset="-122"/>
            </a:endParaRPr>
          </a:p>
        </p:txBody>
      </p:sp>
      <p:sp>
        <p:nvSpPr>
          <p:cNvPr id="13" name="reason_bar_3_888"/>
          <p:cNvSpPr>
            <a:spLocks noGrp="1"/>
          </p:cNvSpPr>
          <p:nvPr/>
        </p:nvSpPr>
        <p:spPr>
          <a:xfrm>
            <a:off x="8458200" y="2305050"/>
            <a:ext cx="66675" cy="3105150"/>
          </a:xfrm>
          <a:prstGeom prst="rect">
            <a:avLst/>
          </a:prstGeom>
          <a:solidFill>
            <a:srgbClr val="486A9A"/>
          </a:solidFill>
          <a:ln w="0">
            <a:noFill/>
            <a:prstDash val="solid"/>
          </a:ln>
        </p:spPr>
      </p:sp>
      <p:sp>
        <p:nvSpPr>
          <p:cNvPr id="14" name="reason_body_3_888"/>
          <p:cNvSpPr>
            <a:spLocks noGrp="1"/>
          </p:cNvSpPr>
          <p:nvPr/>
        </p:nvSpPr>
        <p:spPr>
          <a:xfrm>
            <a:off x="8686800" y="2419350"/>
            <a:ext cx="3048000" cy="2952750"/>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contains 成功不代表树一定正确。颜色可能错、黑高可能错、父子方向也可能错。</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因此固定案例检查精确树形，随机案例则在每次操作后调用 invariant。</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15" name="takeaway_3"/>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17181C"/>
                </a:solidFill>
                <a:latin typeface="微软雅黑" panose="020B0503020204020204" charset="-122"/>
                <a:ea typeface="微软雅黑" panose="020B0503020204020204" charset="-122"/>
                <a:cs typeface="微软雅黑" panose="020B0503020204020204" charset="-122"/>
              </a:defRPr>
            </a:pPr>
            <a:r>
              <a:rPr sz="1575" b="1">
                <a:solidFill>
                  <a:srgbClr val="17181C"/>
                </a:solidFill>
                <a:latin typeface="微软雅黑" panose="020B0503020204020204" charset="-122"/>
                <a:ea typeface="微软雅黑" panose="020B0503020204020204" charset="-122"/>
                <a:cs typeface="微软雅黑" panose="020B0503020204020204" charset="-122"/>
              </a:rPr>
              <a:t>测试、算法、界面共用同一棵树，但它们不互相冒充对方。</a:t>
            </a:r>
            <a:endParaRPr sz="1575" b="1">
              <a:solidFill>
                <a:srgbClr val="17181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4"/>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02 · 数据结构设计</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4"/>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先认识 RBTreeNode：修复算法为什么离不开 parent</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4"/>
          <p:cNvSpPr>
            <a:spLocks noGrp="1"/>
          </p:cNvSpPr>
          <p:nvPr/>
        </p:nvSpPr>
        <p:spPr>
          <a:xfrm>
            <a:off x="400050" y="1352550"/>
            <a:ext cx="11391900" cy="19050"/>
          </a:xfrm>
          <a:prstGeom prst="rect">
            <a:avLst/>
          </a:prstGeom>
          <a:solidFill>
            <a:srgbClr val="17181C"/>
          </a:solidFill>
          <a:ln w="0">
            <a:noFill/>
            <a:prstDash val="solid"/>
          </a:ln>
        </p:spPr>
      </p:sp>
      <p:sp>
        <p:nvSpPr>
          <p:cNvPr id="5" name="footer_4"/>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04</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4_42"/>
          <p:cNvSpPr>
            <a:spLocks noGrp="1"/>
          </p:cNvSpPr>
          <p:nvPr/>
        </p:nvSpPr>
        <p:spPr>
          <a:xfrm>
            <a:off x="400050" y="1695450"/>
            <a:ext cx="5429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节点为什么保存五类状态？</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4_42"/>
          <p:cNvSpPr>
            <a:spLocks noGrp="1"/>
          </p:cNvSpPr>
          <p:nvPr/>
        </p:nvSpPr>
        <p:spPr>
          <a:xfrm>
            <a:off x="400050" y="2305050"/>
            <a:ext cx="66675" cy="3629025"/>
          </a:xfrm>
          <a:prstGeom prst="rect">
            <a:avLst/>
          </a:prstGeom>
          <a:solidFill>
            <a:srgbClr val="DE3840"/>
          </a:solidFill>
          <a:ln w="0">
            <a:noFill/>
            <a:prstDash val="solid"/>
          </a:ln>
        </p:spPr>
      </p:sp>
      <p:sp>
        <p:nvSpPr>
          <p:cNvPr id="8" name="reason_body_4_42"/>
          <p:cNvSpPr>
            <a:spLocks noGrp="1"/>
          </p:cNvSpPr>
          <p:nvPr/>
        </p:nvSpPr>
        <p:spPr>
          <a:xfrm>
            <a:off x="628650" y="2419350"/>
            <a:ext cx="5143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key 决定二叉搜索树顺序；color 决定红红冲突和黑高；left / right 让搜索可以向下走；parent 则让修复可以向上走。</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这里最容易忽略的是 parent。插入时叔叔为红，冲突会被推到祖父；删除时双黑也可能被推到父亲。没有 parent，每次向上修复都得从 root 重新搜索当前节点，局部算法就被迫依赖整棵树。</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节点还保存 tree，是因为一次旋转可能把局部新根送到整棵树顶端，此时必须更新 tree-&gt;root。</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4_665"/>
          <p:cNvSpPr>
            <a:spLocks noGrp="1"/>
          </p:cNvSpPr>
          <p:nvPr/>
        </p:nvSpPr>
        <p:spPr>
          <a:xfrm>
            <a:off x="6334125" y="1905000"/>
            <a:ext cx="4953000" cy="2381250"/>
          </a:xfrm>
          <a:prstGeom prst="rect">
            <a:avLst/>
          </a:prstGeom>
          <a:solidFill>
            <a:srgbClr val="202126"/>
          </a:solidFill>
          <a:ln w="0">
            <a:noFill/>
            <a:prstDash val="solid"/>
          </a:ln>
        </p:spPr>
      </p:sp>
      <p:sp>
        <p:nvSpPr>
          <p:cNvPr id="10" name="code_hl_4_0"/>
          <p:cNvSpPr>
            <a:spLocks noGrp="1"/>
          </p:cNvSpPr>
          <p:nvPr/>
        </p:nvSpPr>
        <p:spPr>
          <a:xfrm>
            <a:off x="6410325" y="2009775"/>
            <a:ext cx="4800600" cy="238125"/>
          </a:xfrm>
          <a:prstGeom prst="rect">
            <a:avLst/>
          </a:prstGeom>
          <a:solidFill>
            <a:srgbClr val="56362F"/>
          </a:solidFill>
          <a:ln w="0">
            <a:noFill/>
            <a:prstDash val="solid"/>
          </a:ln>
        </p:spPr>
      </p:sp>
      <p:sp>
        <p:nvSpPr>
          <p:cNvPr id="11" name="code_line_4_0"/>
          <p:cNvSpPr>
            <a:spLocks noGrp="1"/>
          </p:cNvSpPr>
          <p:nvPr/>
        </p:nvSpPr>
        <p:spPr>
          <a:xfrm>
            <a:off x="6496050" y="2000250"/>
            <a:ext cx="4667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T key;</a:t>
            </a:r>
            <a:endParaRPr sz="975" b="0">
              <a:solidFill>
                <a:srgbClr val="FFD1BF"/>
              </a:solidFill>
              <a:latin typeface="Consolas" panose="020B0609020204030204"/>
              <a:ea typeface="Consolas" panose="020B0609020204030204"/>
              <a:cs typeface="Consolas" panose="020B0609020204030204"/>
            </a:endParaRPr>
          </a:p>
        </p:txBody>
      </p:sp>
      <p:sp>
        <p:nvSpPr>
          <p:cNvPr id="12" name="code_hl_4_1"/>
          <p:cNvSpPr>
            <a:spLocks noGrp="1"/>
          </p:cNvSpPr>
          <p:nvPr/>
        </p:nvSpPr>
        <p:spPr>
          <a:xfrm>
            <a:off x="6410325" y="2247900"/>
            <a:ext cx="4800600" cy="238125"/>
          </a:xfrm>
          <a:prstGeom prst="rect">
            <a:avLst/>
          </a:prstGeom>
          <a:solidFill>
            <a:srgbClr val="56362F"/>
          </a:solidFill>
          <a:ln w="0">
            <a:noFill/>
            <a:prstDash val="solid"/>
          </a:ln>
        </p:spPr>
      </p:sp>
      <p:sp>
        <p:nvSpPr>
          <p:cNvPr id="13" name="code_line_4_1"/>
          <p:cNvSpPr>
            <a:spLocks noGrp="1"/>
          </p:cNvSpPr>
          <p:nvPr/>
        </p:nvSpPr>
        <p:spPr>
          <a:xfrm>
            <a:off x="6496050" y="2238375"/>
            <a:ext cx="4667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Color color;</a:t>
            </a:r>
            <a:endParaRPr sz="975" b="0">
              <a:solidFill>
                <a:srgbClr val="FFD1BF"/>
              </a:solidFill>
              <a:latin typeface="Consolas" panose="020B0609020204030204"/>
              <a:ea typeface="Consolas" panose="020B0609020204030204"/>
              <a:cs typeface="Consolas" panose="020B0609020204030204"/>
            </a:endParaRPr>
          </a:p>
        </p:txBody>
      </p:sp>
      <p:sp>
        <p:nvSpPr>
          <p:cNvPr id="14" name="code_line_4_2"/>
          <p:cNvSpPr>
            <a:spLocks noGrp="1"/>
          </p:cNvSpPr>
          <p:nvPr/>
        </p:nvSpPr>
        <p:spPr>
          <a:xfrm>
            <a:off x="6496050" y="2476500"/>
            <a:ext cx="4667250" cy="238125"/>
          </a:xfrm>
          <a:prstGeom prst="rect">
            <a:avLst/>
          </a:prstGeom>
          <a:noFill/>
          <a:ln w="0">
            <a:noFill/>
            <a:prstDash val="solid"/>
          </a:ln>
        </p:spPr>
        <p:txBody>
          <a:bodyPr lIns="0" tIns="0" rIns="0" bIns="0" anchor="t"/>
          <a:lstStyle/>
          <a:p/>
        </p:txBody>
      </p:sp>
      <p:sp>
        <p:nvSpPr>
          <p:cNvPr id="15" name="code_hl_4_3"/>
          <p:cNvSpPr>
            <a:spLocks noGrp="1"/>
          </p:cNvSpPr>
          <p:nvPr/>
        </p:nvSpPr>
        <p:spPr>
          <a:xfrm>
            <a:off x="6410325" y="2724150"/>
            <a:ext cx="4800600" cy="238125"/>
          </a:xfrm>
          <a:prstGeom prst="rect">
            <a:avLst/>
          </a:prstGeom>
          <a:solidFill>
            <a:srgbClr val="56362F"/>
          </a:solidFill>
          <a:ln w="0">
            <a:noFill/>
            <a:prstDash val="solid"/>
          </a:ln>
        </p:spPr>
      </p:sp>
      <p:sp>
        <p:nvSpPr>
          <p:cNvPr id="16" name="code_line_4_3"/>
          <p:cNvSpPr>
            <a:spLocks noGrp="1"/>
          </p:cNvSpPr>
          <p:nvPr/>
        </p:nvSpPr>
        <p:spPr>
          <a:xfrm>
            <a:off x="6496050" y="2714625"/>
            <a:ext cx="4667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parent;</a:t>
            </a:r>
            <a:endParaRPr sz="975" b="0">
              <a:solidFill>
                <a:srgbClr val="FFD1BF"/>
              </a:solidFill>
              <a:latin typeface="Consolas" panose="020B0609020204030204"/>
              <a:ea typeface="Consolas" panose="020B0609020204030204"/>
              <a:cs typeface="Consolas" panose="020B0609020204030204"/>
            </a:endParaRPr>
          </a:p>
        </p:txBody>
      </p:sp>
      <p:sp>
        <p:nvSpPr>
          <p:cNvPr id="17" name="code_line_4_4"/>
          <p:cNvSpPr>
            <a:spLocks noGrp="1"/>
          </p:cNvSpPr>
          <p:nvPr/>
        </p:nvSpPr>
        <p:spPr>
          <a:xfrm>
            <a:off x="6496050" y="2952750"/>
            <a:ext cx="4667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RBTreeNode* left;</a:t>
            </a:r>
            <a:endParaRPr sz="975" b="0">
              <a:solidFill>
                <a:srgbClr val="E7E7EA"/>
              </a:solidFill>
              <a:latin typeface="Consolas" panose="020B0609020204030204"/>
              <a:ea typeface="Consolas" panose="020B0609020204030204"/>
              <a:cs typeface="Consolas" panose="020B0609020204030204"/>
            </a:endParaRPr>
          </a:p>
        </p:txBody>
      </p:sp>
      <p:sp>
        <p:nvSpPr>
          <p:cNvPr id="18" name="code_line_4_5"/>
          <p:cNvSpPr>
            <a:spLocks noGrp="1"/>
          </p:cNvSpPr>
          <p:nvPr/>
        </p:nvSpPr>
        <p:spPr>
          <a:xfrm>
            <a:off x="6496050" y="3190875"/>
            <a:ext cx="4667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RBTreeNode* right;</a:t>
            </a:r>
            <a:endParaRPr sz="975" b="0">
              <a:solidFill>
                <a:srgbClr val="E7E7EA"/>
              </a:solidFill>
              <a:latin typeface="Consolas" panose="020B0609020204030204"/>
              <a:ea typeface="Consolas" panose="020B0609020204030204"/>
              <a:cs typeface="Consolas" panose="020B0609020204030204"/>
            </a:endParaRPr>
          </a:p>
        </p:txBody>
      </p:sp>
      <p:sp>
        <p:nvSpPr>
          <p:cNvPr id="19" name="code_hl_4_6"/>
          <p:cNvSpPr>
            <a:spLocks noGrp="1"/>
          </p:cNvSpPr>
          <p:nvPr/>
        </p:nvSpPr>
        <p:spPr>
          <a:xfrm>
            <a:off x="6410325" y="3438525"/>
            <a:ext cx="4800600" cy="238125"/>
          </a:xfrm>
          <a:prstGeom prst="rect">
            <a:avLst/>
          </a:prstGeom>
          <a:solidFill>
            <a:srgbClr val="56362F"/>
          </a:solidFill>
          <a:ln w="0">
            <a:noFill/>
            <a:prstDash val="solid"/>
          </a:ln>
        </p:spPr>
      </p:sp>
      <p:sp>
        <p:nvSpPr>
          <p:cNvPr id="20" name="code_line_4_6"/>
          <p:cNvSpPr>
            <a:spLocks noGrp="1"/>
          </p:cNvSpPr>
          <p:nvPr/>
        </p:nvSpPr>
        <p:spPr>
          <a:xfrm>
            <a:off x="6496050" y="3429000"/>
            <a:ext cx="4667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RBTree&lt;T&gt;* tree;</a:t>
            </a:r>
            <a:endParaRPr sz="975" b="0">
              <a:solidFill>
                <a:srgbClr val="FFD1BF"/>
              </a:solidFill>
              <a:latin typeface="Consolas" panose="020B0609020204030204"/>
              <a:ea typeface="Consolas" panose="020B0609020204030204"/>
              <a:cs typeface="Consolas" panose="020B0609020204030204"/>
            </a:endParaRPr>
          </a:p>
        </p:txBody>
      </p:sp>
      <p:sp>
        <p:nvSpPr>
          <p:cNvPr id="21" name="node_private"/>
          <p:cNvSpPr>
            <a:spLocks noGrp="1"/>
          </p:cNvSpPr>
          <p:nvPr/>
        </p:nvSpPr>
        <p:spPr>
          <a:xfrm>
            <a:off x="6477000" y="4572000"/>
            <a:ext cx="4667250" cy="10001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RBTreeNode 被放在 RBTree 内部并设为 private。外部真正需要的是“插入一个值”，不是随便写 node-&gt;left 或 node-&gt;color。</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5"/>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02 · 数据结构设计</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5"/>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构造与析构：根为什么默认黑，删除前为什么要断开孩子</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5"/>
          <p:cNvSpPr>
            <a:spLocks noGrp="1"/>
          </p:cNvSpPr>
          <p:nvPr/>
        </p:nvSpPr>
        <p:spPr>
          <a:xfrm>
            <a:off x="400050" y="1352550"/>
            <a:ext cx="11391900" cy="19050"/>
          </a:xfrm>
          <a:prstGeom prst="rect">
            <a:avLst/>
          </a:prstGeom>
          <a:solidFill>
            <a:srgbClr val="17181C"/>
          </a:solidFill>
          <a:ln w="0">
            <a:noFill/>
            <a:prstDash val="solid"/>
          </a:ln>
        </p:spPr>
      </p:sp>
      <p:sp>
        <p:nvSpPr>
          <p:cNvPr id="5" name="footer_5"/>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05</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5_42"/>
          <p:cNvSpPr>
            <a:spLocks noGrp="1"/>
          </p:cNvSpPr>
          <p:nvPr/>
        </p:nvSpPr>
        <p:spPr>
          <a:xfrm>
            <a:off x="400050" y="1695450"/>
            <a:ext cx="5381625"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两个构造函数不是重复代码吗？</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5_42"/>
          <p:cNvSpPr>
            <a:spLocks noGrp="1"/>
          </p:cNvSpPr>
          <p:nvPr/>
        </p:nvSpPr>
        <p:spPr>
          <a:xfrm>
            <a:off x="400050" y="2305050"/>
            <a:ext cx="66675" cy="3629025"/>
          </a:xfrm>
          <a:prstGeom prst="rect">
            <a:avLst/>
          </a:prstGeom>
          <a:solidFill>
            <a:srgbClr val="DE3840"/>
          </a:solidFill>
          <a:ln w="0">
            <a:noFill/>
            <a:prstDash val="solid"/>
          </a:ln>
        </p:spPr>
      </p:sp>
      <p:sp>
        <p:nvSpPr>
          <p:cNvPr id="8" name="reason_body_5_42"/>
          <p:cNvSpPr>
            <a:spLocks noGrp="1"/>
          </p:cNvSpPr>
          <p:nvPr/>
        </p:nvSpPr>
        <p:spPr>
          <a:xfrm>
            <a:off x="628650" y="2419350"/>
            <a:ext cx="5095875"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根节点的构造函数没有 parent，所以它把 parent 设为 NULL，并直接染成 BLACK。根出现在所有路径上，它变黑不会制造左右黑高差。</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普通新节点的构造函数则接收 parent 和 color。插入节点通常传 RED；删除修复的临时占位节点会传 DOUBLE_BLACK。也就是说，构造函数并不决定算法，只负责把调用者已经决定好的状态完整保存下来。</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question_5_665"/>
          <p:cNvSpPr>
            <a:spLocks noGrp="1"/>
          </p:cNvSpPr>
          <p:nvPr/>
        </p:nvSpPr>
        <p:spPr>
          <a:xfrm>
            <a:off x="6334125" y="1695450"/>
            <a:ext cx="5238750" cy="533400"/>
          </a:xfrm>
          <a:prstGeom prst="rect">
            <a:avLst/>
          </a:prstGeom>
          <a:noFill/>
          <a:ln w="0">
            <a:noFill/>
            <a:prstDash val="solid"/>
          </a:ln>
        </p:spPr>
        <p:txBody>
          <a:bodyPr lIns="0" tIns="0" rIns="0" bIns="0" anchor="t"/>
          <a:lstStyle/>
          <a:p>
            <a:pPr algn="l">
              <a:defRPr sz="1800" b="1">
                <a:solidFill>
                  <a:srgbClr val="486A9A"/>
                </a:solidFill>
                <a:latin typeface="微软雅黑" panose="020B0503020204020204" charset="-122"/>
                <a:ea typeface="微软雅黑" panose="020B0503020204020204" charset="-122"/>
                <a:cs typeface="微软雅黑" panose="020B0503020204020204" charset="-122"/>
              </a:defRPr>
            </a:pPr>
            <a:r>
              <a:rPr sz="1800" b="1">
                <a:solidFill>
                  <a:srgbClr val="486A9A"/>
                </a:solidFill>
                <a:latin typeface="微软雅黑" panose="020B0503020204020204" charset="-122"/>
                <a:ea typeface="微软雅黑" panose="020B0503020204020204" charset="-122"/>
                <a:cs typeface="微软雅黑" panose="020B0503020204020204" charset="-122"/>
              </a:rPr>
              <a:t>析构函数为什么会递归 delete？</a:t>
            </a:r>
            <a:endParaRPr sz="1800" b="1">
              <a:solidFill>
                <a:srgbClr val="486A9A"/>
              </a:solidFill>
              <a:latin typeface="微软雅黑" panose="020B0503020204020204" charset="-122"/>
              <a:ea typeface="微软雅黑" panose="020B0503020204020204" charset="-122"/>
              <a:cs typeface="微软雅黑" panose="020B0503020204020204" charset="-122"/>
            </a:endParaRPr>
          </a:p>
        </p:txBody>
      </p:sp>
      <p:sp>
        <p:nvSpPr>
          <p:cNvPr id="10" name="reason_bar_5_665"/>
          <p:cNvSpPr>
            <a:spLocks noGrp="1"/>
          </p:cNvSpPr>
          <p:nvPr/>
        </p:nvSpPr>
        <p:spPr>
          <a:xfrm>
            <a:off x="6334125" y="2305050"/>
            <a:ext cx="66675" cy="3629025"/>
          </a:xfrm>
          <a:prstGeom prst="rect">
            <a:avLst/>
          </a:prstGeom>
          <a:solidFill>
            <a:srgbClr val="486A9A"/>
          </a:solidFill>
          <a:ln w="0">
            <a:noFill/>
            <a:prstDash val="solid"/>
          </a:ln>
        </p:spPr>
      </p:sp>
      <p:sp>
        <p:nvSpPr>
          <p:cNvPr id="11" name="reason_body_5_665"/>
          <p:cNvSpPr>
            <a:spLocks noGrp="1"/>
          </p:cNvSpPr>
          <p:nvPr/>
        </p:nvSpPr>
        <p:spPr>
          <a:xfrm>
            <a:off x="6562725" y="2419350"/>
            <a:ext cx="49530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RBTree 析构时只 delete root，随后每个节点继续 delete left 和 right，整棵树就会自然释放。</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但 remove() 只想摘掉一个 node。如果不先把 node-&gt;left 和 node-&gt;right 设为 NULL，再 delete node，析构函数会顺手把仍然挂在树里的子树一起删掉。</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所以“断开孩子”不是清理习惯，而是在阻止递归析构越界。</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6"/>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03 · 查找</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6"/>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lookup：node 不是树节点的名字，而是“我现在站的位置”</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6"/>
          <p:cNvSpPr>
            <a:spLocks noGrp="1"/>
          </p:cNvSpPr>
          <p:nvPr/>
        </p:nvSpPr>
        <p:spPr>
          <a:xfrm>
            <a:off x="400050" y="1352550"/>
            <a:ext cx="11391900" cy="19050"/>
          </a:xfrm>
          <a:prstGeom prst="rect">
            <a:avLst/>
          </a:prstGeom>
          <a:solidFill>
            <a:srgbClr val="17181C"/>
          </a:solidFill>
          <a:ln w="0">
            <a:noFill/>
            <a:prstDash val="solid"/>
          </a:ln>
        </p:spPr>
      </p:sp>
      <p:sp>
        <p:nvSpPr>
          <p:cNvPr id="5" name="footer_6"/>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06</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6_42"/>
          <p:cNvSpPr>
            <a:spLocks noGrp="1"/>
          </p:cNvSpPr>
          <p:nvPr/>
        </p:nvSpPr>
        <p:spPr>
          <a:xfrm>
            <a:off x="400050" y="1695450"/>
            <a:ext cx="5429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为什么使用 while，而不是递归？</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6_42"/>
          <p:cNvSpPr>
            <a:spLocks noGrp="1"/>
          </p:cNvSpPr>
          <p:nvPr/>
        </p:nvSpPr>
        <p:spPr>
          <a:xfrm>
            <a:off x="400050" y="2305050"/>
            <a:ext cx="66675" cy="3629025"/>
          </a:xfrm>
          <a:prstGeom prst="rect">
            <a:avLst/>
          </a:prstGeom>
          <a:solidFill>
            <a:srgbClr val="DE3840"/>
          </a:solidFill>
          <a:ln w="0">
            <a:noFill/>
            <a:prstDash val="solid"/>
          </a:ln>
        </p:spPr>
      </p:sp>
      <p:sp>
        <p:nvSpPr>
          <p:cNvPr id="8" name="reason_body_6_42"/>
          <p:cNvSpPr>
            <a:spLocks noGrp="1"/>
          </p:cNvSpPr>
          <p:nvPr/>
        </p:nvSpPr>
        <p:spPr>
          <a:xfrm>
            <a:off x="628650" y="2419350"/>
            <a:ext cx="5143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查找每一轮只做一件事：比较当前 node-&gt;key 与目标 key。</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目标更大就去 right，更小就去 left。node 走到 NULL，说明本来应该出现目标的位置是空的；node-&gt;key 等于 key，则说明已经找到。</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这里用 while 可以把“当前位置不断变化”直接写出来，也避免递归栈。它和后面的 insert 定位阶段其实是同一套思路，只是 lookup 不会创建节点。</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6_660"/>
          <p:cNvSpPr>
            <a:spLocks noGrp="1"/>
          </p:cNvSpPr>
          <p:nvPr/>
        </p:nvSpPr>
        <p:spPr>
          <a:xfrm>
            <a:off x="6286500" y="1809750"/>
            <a:ext cx="5143500" cy="3238500"/>
          </a:xfrm>
          <a:prstGeom prst="rect">
            <a:avLst/>
          </a:prstGeom>
          <a:solidFill>
            <a:srgbClr val="202126"/>
          </a:solidFill>
          <a:ln w="0">
            <a:noFill/>
            <a:prstDash val="solid"/>
          </a:ln>
        </p:spPr>
      </p:sp>
      <p:sp>
        <p:nvSpPr>
          <p:cNvPr id="10" name="code_hl_6_0"/>
          <p:cNvSpPr>
            <a:spLocks noGrp="1"/>
          </p:cNvSpPr>
          <p:nvPr/>
        </p:nvSpPr>
        <p:spPr>
          <a:xfrm>
            <a:off x="6362700" y="1914525"/>
            <a:ext cx="4991100" cy="238125"/>
          </a:xfrm>
          <a:prstGeom prst="rect">
            <a:avLst/>
          </a:prstGeom>
          <a:solidFill>
            <a:srgbClr val="56362F"/>
          </a:solidFill>
          <a:ln w="0">
            <a:noFill/>
            <a:prstDash val="solid"/>
          </a:ln>
        </p:spPr>
      </p:sp>
      <p:sp>
        <p:nvSpPr>
          <p:cNvPr id="11" name="code_line_6_0"/>
          <p:cNvSpPr>
            <a:spLocks noGrp="1"/>
          </p:cNvSpPr>
          <p:nvPr/>
        </p:nvSpPr>
        <p:spPr>
          <a:xfrm>
            <a:off x="6448425" y="1905000"/>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node = this;</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6_1"/>
          <p:cNvSpPr>
            <a:spLocks noGrp="1"/>
          </p:cNvSpPr>
          <p:nvPr/>
        </p:nvSpPr>
        <p:spPr>
          <a:xfrm>
            <a:off x="6448425" y="2143125"/>
            <a:ext cx="4857750" cy="238125"/>
          </a:xfrm>
          <a:prstGeom prst="rect">
            <a:avLst/>
          </a:prstGeom>
          <a:noFill/>
          <a:ln w="0">
            <a:noFill/>
            <a:prstDash val="solid"/>
          </a:ln>
        </p:spPr>
        <p:txBody>
          <a:bodyPr lIns="0" tIns="0" rIns="0" bIns="0" anchor="t"/>
          <a:lstStyle/>
          <a:p/>
        </p:txBody>
      </p:sp>
      <p:sp>
        <p:nvSpPr>
          <p:cNvPr id="13" name="code_hl_6_2"/>
          <p:cNvSpPr>
            <a:spLocks noGrp="1"/>
          </p:cNvSpPr>
          <p:nvPr/>
        </p:nvSpPr>
        <p:spPr>
          <a:xfrm>
            <a:off x="6362700" y="2390775"/>
            <a:ext cx="4991100" cy="238125"/>
          </a:xfrm>
          <a:prstGeom prst="rect">
            <a:avLst/>
          </a:prstGeom>
          <a:solidFill>
            <a:srgbClr val="56362F"/>
          </a:solidFill>
          <a:ln w="0">
            <a:noFill/>
            <a:prstDash val="solid"/>
          </a:ln>
        </p:spPr>
      </p:sp>
      <p:sp>
        <p:nvSpPr>
          <p:cNvPr id="14" name="code_line_6_2"/>
          <p:cNvSpPr>
            <a:spLocks noGrp="1"/>
          </p:cNvSpPr>
          <p:nvPr/>
        </p:nvSpPr>
        <p:spPr>
          <a:xfrm>
            <a:off x="6448425" y="2381250"/>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while (node != NULL &amp;&amp; node-&gt;key != key)</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6_3"/>
          <p:cNvSpPr>
            <a:spLocks noGrp="1"/>
          </p:cNvSpPr>
          <p:nvPr/>
        </p:nvSpPr>
        <p:spPr>
          <a:xfrm>
            <a:off x="6448425" y="261937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6" name="code_hl_6_4"/>
          <p:cNvSpPr>
            <a:spLocks noGrp="1"/>
          </p:cNvSpPr>
          <p:nvPr/>
        </p:nvSpPr>
        <p:spPr>
          <a:xfrm>
            <a:off x="6362700" y="2867025"/>
            <a:ext cx="4991100" cy="238125"/>
          </a:xfrm>
          <a:prstGeom prst="rect">
            <a:avLst/>
          </a:prstGeom>
          <a:solidFill>
            <a:srgbClr val="56362F"/>
          </a:solidFill>
          <a:ln w="0">
            <a:noFill/>
            <a:prstDash val="solid"/>
          </a:ln>
        </p:spPr>
      </p:sp>
      <p:sp>
        <p:nvSpPr>
          <p:cNvPr id="17" name="code_line_6_4"/>
          <p:cNvSpPr>
            <a:spLocks noGrp="1"/>
          </p:cNvSpPr>
          <p:nvPr/>
        </p:nvSpPr>
        <p:spPr>
          <a:xfrm>
            <a:off x="6448425" y="2857500"/>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 = node-&gt;key &lt; key</a:t>
            </a:r>
            <a:endParaRPr sz="975" b="0">
              <a:solidFill>
                <a:srgbClr val="FFD1BF"/>
              </a:solidFill>
              <a:latin typeface="Consolas" panose="020B0609020204030204"/>
              <a:ea typeface="Consolas" panose="020B0609020204030204"/>
              <a:cs typeface="Consolas" panose="020B0609020204030204"/>
            </a:endParaRPr>
          </a:p>
        </p:txBody>
      </p:sp>
      <p:sp>
        <p:nvSpPr>
          <p:cNvPr id="18" name="code_line_6_5"/>
          <p:cNvSpPr>
            <a:spLocks noGrp="1"/>
          </p:cNvSpPr>
          <p:nvPr/>
        </p:nvSpPr>
        <p:spPr>
          <a:xfrm>
            <a:off x="6448425" y="309562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 node-&gt;right</a:t>
            </a:r>
            <a:endParaRPr sz="975" b="0">
              <a:solidFill>
                <a:srgbClr val="E7E7EA"/>
              </a:solidFill>
              <a:latin typeface="Consolas" panose="020B0609020204030204"/>
              <a:ea typeface="Consolas" panose="020B0609020204030204"/>
              <a:cs typeface="Consolas" panose="020B0609020204030204"/>
            </a:endParaRPr>
          </a:p>
        </p:txBody>
      </p:sp>
      <p:sp>
        <p:nvSpPr>
          <p:cNvPr id="19" name="code_line_6_6"/>
          <p:cNvSpPr>
            <a:spLocks noGrp="1"/>
          </p:cNvSpPr>
          <p:nvPr/>
        </p:nvSpPr>
        <p:spPr>
          <a:xfrm>
            <a:off x="6448425" y="3333750"/>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 node-&gt;left;</a:t>
            </a:r>
            <a:endParaRPr sz="975" b="0">
              <a:solidFill>
                <a:srgbClr val="E7E7EA"/>
              </a:solidFill>
              <a:latin typeface="Consolas" panose="020B0609020204030204"/>
              <a:ea typeface="Consolas" panose="020B0609020204030204"/>
              <a:cs typeface="Consolas" panose="020B0609020204030204"/>
            </a:endParaRPr>
          </a:p>
        </p:txBody>
      </p:sp>
      <p:sp>
        <p:nvSpPr>
          <p:cNvPr id="20" name="code_line_6_7"/>
          <p:cNvSpPr>
            <a:spLocks noGrp="1"/>
          </p:cNvSpPr>
          <p:nvPr/>
        </p:nvSpPr>
        <p:spPr>
          <a:xfrm>
            <a:off x="6448425" y="357187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1" name="code_line_6_8"/>
          <p:cNvSpPr>
            <a:spLocks noGrp="1"/>
          </p:cNvSpPr>
          <p:nvPr/>
        </p:nvSpPr>
        <p:spPr>
          <a:xfrm>
            <a:off x="6448425" y="3810000"/>
            <a:ext cx="4857750" cy="238125"/>
          </a:xfrm>
          <a:prstGeom prst="rect">
            <a:avLst/>
          </a:prstGeom>
          <a:noFill/>
          <a:ln w="0">
            <a:noFill/>
            <a:prstDash val="solid"/>
          </a:ln>
        </p:spPr>
        <p:txBody>
          <a:bodyPr lIns="0" tIns="0" rIns="0" bIns="0" anchor="t"/>
          <a:lstStyle/>
          <a:p/>
        </p:txBody>
      </p:sp>
      <p:sp>
        <p:nvSpPr>
          <p:cNvPr id="22" name="code_hl_6_9"/>
          <p:cNvSpPr>
            <a:spLocks noGrp="1"/>
          </p:cNvSpPr>
          <p:nvPr/>
        </p:nvSpPr>
        <p:spPr>
          <a:xfrm>
            <a:off x="6362700" y="4057650"/>
            <a:ext cx="4991100" cy="238125"/>
          </a:xfrm>
          <a:prstGeom prst="rect">
            <a:avLst/>
          </a:prstGeom>
          <a:solidFill>
            <a:srgbClr val="56362F"/>
          </a:solidFill>
          <a:ln w="0">
            <a:noFill/>
            <a:prstDash val="solid"/>
          </a:ln>
        </p:spPr>
      </p:sp>
      <p:sp>
        <p:nvSpPr>
          <p:cNvPr id="23" name="code_line_6_9"/>
          <p:cNvSpPr>
            <a:spLocks noGrp="1"/>
          </p:cNvSpPr>
          <p:nvPr/>
        </p:nvSpPr>
        <p:spPr>
          <a:xfrm>
            <a:off x="6448425" y="4048125"/>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return node;</a:t>
            </a:r>
            <a:endParaRPr sz="975" b="0">
              <a:solidFill>
                <a:srgbClr val="FFD1BF"/>
              </a:solidFill>
              <a:latin typeface="Consolas" panose="020B0609020204030204"/>
              <a:ea typeface="Consolas" panose="020B0609020204030204"/>
              <a:cs typeface="Consolas" panose="020B0609020204030204"/>
            </a:endParaRPr>
          </a:p>
        </p:txBody>
      </p:sp>
      <p:sp>
        <p:nvSpPr>
          <p:cNvPr id="24" name="takeaway_6"/>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17181C"/>
                </a:solidFill>
                <a:latin typeface="微软雅黑" panose="020B0503020204020204" charset="-122"/>
                <a:ea typeface="微软雅黑" panose="020B0503020204020204" charset="-122"/>
                <a:cs typeface="微软雅黑" panose="020B0503020204020204" charset="-122"/>
              </a:defRPr>
            </a:pPr>
            <a:r>
              <a:rPr sz="1575" b="1">
                <a:solidFill>
                  <a:srgbClr val="17181C"/>
                </a:solidFill>
                <a:latin typeface="微软雅黑" panose="020B0503020204020204" charset="-122"/>
                <a:ea typeface="微软雅黑" panose="020B0503020204020204" charset="-122"/>
                <a:cs typeface="微软雅黑" panose="020B0503020204020204" charset="-122"/>
              </a:rPr>
              <a:t>查找结束只有两种状态：找到真实节点，或者走到本应放置它的 NULL。</a:t>
            </a:r>
            <a:endParaRPr sz="1575" b="1">
              <a:solidFill>
                <a:srgbClr val="17181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7"/>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03 · 查找</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7"/>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contains 与公开 remove：为什么 RBTree 先处理空树</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7"/>
          <p:cNvSpPr>
            <a:spLocks noGrp="1"/>
          </p:cNvSpPr>
          <p:nvPr/>
        </p:nvSpPr>
        <p:spPr>
          <a:xfrm>
            <a:off x="400050" y="1352550"/>
            <a:ext cx="11391900" cy="19050"/>
          </a:xfrm>
          <a:prstGeom prst="rect">
            <a:avLst/>
          </a:prstGeom>
          <a:solidFill>
            <a:srgbClr val="17181C"/>
          </a:solidFill>
          <a:ln w="0">
            <a:noFill/>
            <a:prstDash val="solid"/>
          </a:ln>
        </p:spPr>
      </p:sp>
      <p:sp>
        <p:nvSpPr>
          <p:cNvPr id="5" name="footer_7"/>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07</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7_42"/>
          <p:cNvSpPr>
            <a:spLocks noGrp="1"/>
          </p:cNvSpPr>
          <p:nvPr/>
        </p:nvSpPr>
        <p:spPr>
          <a:xfrm>
            <a:off x="400050" y="1695450"/>
            <a:ext cx="5429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为什么不直接写 root-&gt;lookup(key)？</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7_42"/>
          <p:cNvSpPr>
            <a:spLocks noGrp="1"/>
          </p:cNvSpPr>
          <p:nvPr/>
        </p:nvSpPr>
        <p:spPr>
          <a:xfrm>
            <a:off x="400050" y="2305050"/>
            <a:ext cx="66675" cy="3629025"/>
          </a:xfrm>
          <a:prstGeom prst="rect">
            <a:avLst/>
          </a:prstGeom>
          <a:solidFill>
            <a:srgbClr val="DE3840"/>
          </a:solidFill>
          <a:ln w="0">
            <a:noFill/>
            <a:prstDash val="solid"/>
          </a:ln>
        </p:spPr>
      </p:sp>
      <p:sp>
        <p:nvSpPr>
          <p:cNvPr id="8" name="reason_body_7_42"/>
          <p:cNvSpPr>
            <a:spLocks noGrp="1"/>
          </p:cNvSpPr>
          <p:nvPr/>
        </p:nvSpPr>
        <p:spPr>
          <a:xfrm>
            <a:off x="628650" y="2419350"/>
            <a:ext cx="5143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因为空树的 root 就是 NULL。对 NULL 调成员函数不是“查找失败”，而是非法访问。</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所以公开接口先处理 root == NULL，再把真正的向下搜索交给节点。这个分层很朴素：RBTree 负责整棵树是否存在，RBTreeNode 负责从某个真实节点开始向下走。</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remove 也遵循同一顺序：空树返回 false；lookup 没找到返回 false；只有拿到真实 node，才调用 node-&gt;remove()。</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7_660"/>
          <p:cNvSpPr>
            <a:spLocks noGrp="1"/>
          </p:cNvSpPr>
          <p:nvPr/>
        </p:nvSpPr>
        <p:spPr>
          <a:xfrm>
            <a:off x="6286500" y="1762125"/>
            <a:ext cx="5143500" cy="3524250"/>
          </a:xfrm>
          <a:prstGeom prst="rect">
            <a:avLst/>
          </a:prstGeom>
          <a:solidFill>
            <a:srgbClr val="202126"/>
          </a:solidFill>
          <a:ln w="0">
            <a:noFill/>
            <a:prstDash val="solid"/>
          </a:ln>
        </p:spPr>
      </p:sp>
      <p:sp>
        <p:nvSpPr>
          <p:cNvPr id="10" name="code_hl_7_0"/>
          <p:cNvSpPr>
            <a:spLocks noGrp="1"/>
          </p:cNvSpPr>
          <p:nvPr/>
        </p:nvSpPr>
        <p:spPr>
          <a:xfrm>
            <a:off x="6362700" y="1866900"/>
            <a:ext cx="4991100" cy="238125"/>
          </a:xfrm>
          <a:prstGeom prst="rect">
            <a:avLst/>
          </a:prstGeom>
          <a:solidFill>
            <a:srgbClr val="56362F"/>
          </a:solidFill>
          <a:ln w="0">
            <a:noFill/>
            <a:prstDash val="solid"/>
          </a:ln>
        </p:spPr>
      </p:sp>
      <p:sp>
        <p:nvSpPr>
          <p:cNvPr id="11" name="code_line_7_0"/>
          <p:cNvSpPr>
            <a:spLocks noGrp="1"/>
          </p:cNvSpPr>
          <p:nvPr/>
        </p:nvSpPr>
        <p:spPr>
          <a:xfrm>
            <a:off x="6448425" y="1857375"/>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(root == NULL)</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7_1"/>
          <p:cNvSpPr>
            <a:spLocks noGrp="1"/>
          </p:cNvSpPr>
          <p:nvPr/>
        </p:nvSpPr>
        <p:spPr>
          <a:xfrm>
            <a:off x="6448425" y="2095500"/>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3" name="code_line_7_2"/>
          <p:cNvSpPr>
            <a:spLocks noGrp="1"/>
          </p:cNvSpPr>
          <p:nvPr/>
        </p:nvSpPr>
        <p:spPr>
          <a:xfrm>
            <a:off x="6448425" y="233362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return false;</a:t>
            </a:r>
            <a:endParaRPr sz="975" b="0">
              <a:solidFill>
                <a:srgbClr val="E7E7EA"/>
              </a:solidFill>
              <a:latin typeface="Consolas" panose="020B0609020204030204"/>
              <a:ea typeface="Consolas" panose="020B0609020204030204"/>
              <a:cs typeface="Consolas" panose="020B0609020204030204"/>
            </a:endParaRPr>
          </a:p>
        </p:txBody>
      </p:sp>
      <p:sp>
        <p:nvSpPr>
          <p:cNvPr id="14" name="code_line_7_3"/>
          <p:cNvSpPr>
            <a:spLocks noGrp="1"/>
          </p:cNvSpPr>
          <p:nvPr/>
        </p:nvSpPr>
        <p:spPr>
          <a:xfrm>
            <a:off x="6448425" y="2571750"/>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5" name="code_line_7_4"/>
          <p:cNvSpPr>
            <a:spLocks noGrp="1"/>
          </p:cNvSpPr>
          <p:nvPr/>
        </p:nvSpPr>
        <p:spPr>
          <a:xfrm>
            <a:off x="6448425" y="2809875"/>
            <a:ext cx="4857750" cy="238125"/>
          </a:xfrm>
          <a:prstGeom prst="rect">
            <a:avLst/>
          </a:prstGeom>
          <a:noFill/>
          <a:ln w="0">
            <a:noFill/>
            <a:prstDash val="solid"/>
          </a:ln>
        </p:spPr>
        <p:txBody>
          <a:bodyPr lIns="0" tIns="0" rIns="0" bIns="0" anchor="t"/>
          <a:lstStyle/>
          <a:p/>
        </p:txBody>
      </p:sp>
      <p:sp>
        <p:nvSpPr>
          <p:cNvPr id="16" name="code_hl_7_5"/>
          <p:cNvSpPr>
            <a:spLocks noGrp="1"/>
          </p:cNvSpPr>
          <p:nvPr/>
        </p:nvSpPr>
        <p:spPr>
          <a:xfrm>
            <a:off x="6362700" y="3057525"/>
            <a:ext cx="4991100" cy="238125"/>
          </a:xfrm>
          <a:prstGeom prst="rect">
            <a:avLst/>
          </a:prstGeom>
          <a:solidFill>
            <a:srgbClr val="56362F"/>
          </a:solidFill>
          <a:ln w="0">
            <a:noFill/>
            <a:prstDash val="solid"/>
          </a:ln>
        </p:spPr>
      </p:sp>
      <p:sp>
        <p:nvSpPr>
          <p:cNvPr id="17" name="code_line_7_5"/>
          <p:cNvSpPr>
            <a:spLocks noGrp="1"/>
          </p:cNvSpPr>
          <p:nvPr/>
        </p:nvSpPr>
        <p:spPr>
          <a:xfrm>
            <a:off x="6448425" y="3048000"/>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node = root-&gt;lookup(key);</a:t>
            </a:r>
            <a:endParaRPr sz="975" b="0">
              <a:solidFill>
                <a:srgbClr val="FFD1BF"/>
              </a:solidFill>
              <a:latin typeface="Consolas" panose="020B0609020204030204"/>
              <a:ea typeface="Consolas" panose="020B0609020204030204"/>
              <a:cs typeface="Consolas" panose="020B0609020204030204"/>
            </a:endParaRPr>
          </a:p>
        </p:txBody>
      </p:sp>
      <p:sp>
        <p:nvSpPr>
          <p:cNvPr id="18" name="code_line_7_6"/>
          <p:cNvSpPr>
            <a:spLocks noGrp="1"/>
          </p:cNvSpPr>
          <p:nvPr/>
        </p:nvSpPr>
        <p:spPr>
          <a:xfrm>
            <a:off x="6448425" y="328612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if (node == NULL)</a:t>
            </a:r>
            <a:endParaRPr sz="975" b="0">
              <a:solidFill>
                <a:srgbClr val="E7E7EA"/>
              </a:solidFill>
              <a:latin typeface="Consolas" panose="020B0609020204030204"/>
              <a:ea typeface="Consolas" panose="020B0609020204030204"/>
              <a:cs typeface="Consolas" panose="020B0609020204030204"/>
            </a:endParaRPr>
          </a:p>
        </p:txBody>
      </p:sp>
      <p:sp>
        <p:nvSpPr>
          <p:cNvPr id="19" name="code_line_7_7"/>
          <p:cNvSpPr>
            <a:spLocks noGrp="1"/>
          </p:cNvSpPr>
          <p:nvPr/>
        </p:nvSpPr>
        <p:spPr>
          <a:xfrm>
            <a:off x="6448425" y="3524250"/>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0" name="code_line_7_8"/>
          <p:cNvSpPr>
            <a:spLocks noGrp="1"/>
          </p:cNvSpPr>
          <p:nvPr/>
        </p:nvSpPr>
        <p:spPr>
          <a:xfrm>
            <a:off x="6448425" y="376237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return false;</a:t>
            </a:r>
            <a:endParaRPr sz="975" b="0">
              <a:solidFill>
                <a:srgbClr val="E7E7EA"/>
              </a:solidFill>
              <a:latin typeface="Consolas" panose="020B0609020204030204"/>
              <a:ea typeface="Consolas" panose="020B0609020204030204"/>
              <a:cs typeface="Consolas" panose="020B0609020204030204"/>
            </a:endParaRPr>
          </a:p>
        </p:txBody>
      </p:sp>
      <p:sp>
        <p:nvSpPr>
          <p:cNvPr id="21" name="code_line_7_9"/>
          <p:cNvSpPr>
            <a:spLocks noGrp="1"/>
          </p:cNvSpPr>
          <p:nvPr/>
        </p:nvSpPr>
        <p:spPr>
          <a:xfrm>
            <a:off x="6448425" y="4000500"/>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2" name="code_line_7_10"/>
          <p:cNvSpPr>
            <a:spLocks noGrp="1"/>
          </p:cNvSpPr>
          <p:nvPr/>
        </p:nvSpPr>
        <p:spPr>
          <a:xfrm>
            <a:off x="6448425" y="4238625"/>
            <a:ext cx="4857750" cy="238125"/>
          </a:xfrm>
          <a:prstGeom prst="rect">
            <a:avLst/>
          </a:prstGeom>
          <a:noFill/>
          <a:ln w="0">
            <a:noFill/>
            <a:prstDash val="solid"/>
          </a:ln>
        </p:spPr>
        <p:txBody>
          <a:bodyPr lIns="0" tIns="0" rIns="0" bIns="0" anchor="t"/>
          <a:lstStyle/>
          <a:p/>
        </p:txBody>
      </p:sp>
      <p:sp>
        <p:nvSpPr>
          <p:cNvPr id="23" name="code_hl_7_11"/>
          <p:cNvSpPr>
            <a:spLocks noGrp="1"/>
          </p:cNvSpPr>
          <p:nvPr/>
        </p:nvSpPr>
        <p:spPr>
          <a:xfrm>
            <a:off x="6362700" y="4486275"/>
            <a:ext cx="4991100" cy="238125"/>
          </a:xfrm>
          <a:prstGeom prst="rect">
            <a:avLst/>
          </a:prstGeom>
          <a:solidFill>
            <a:srgbClr val="56362F"/>
          </a:solidFill>
          <a:ln w="0">
            <a:noFill/>
            <a:prstDash val="solid"/>
          </a:ln>
        </p:spPr>
      </p:sp>
      <p:sp>
        <p:nvSpPr>
          <p:cNvPr id="24" name="code_line_7_11"/>
          <p:cNvSpPr>
            <a:spLocks noGrp="1"/>
          </p:cNvSpPr>
          <p:nvPr/>
        </p:nvSpPr>
        <p:spPr>
          <a:xfrm>
            <a:off x="6448425" y="4476750"/>
            <a:ext cx="48577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node-&gt;remove();</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7_12"/>
          <p:cNvSpPr>
            <a:spLocks noGrp="1"/>
          </p:cNvSpPr>
          <p:nvPr/>
        </p:nvSpPr>
        <p:spPr>
          <a:xfrm>
            <a:off x="6448425" y="4714875"/>
            <a:ext cx="48577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return true;</a:t>
            </a:r>
            <a:endParaRPr sz="975" b="0">
              <a:solidFill>
                <a:srgbClr val="E7E7EA"/>
              </a:solidFill>
              <a:latin typeface="Consolas" panose="020B0609020204030204"/>
              <a:ea typeface="Consolas" panose="020B0609020204030204"/>
              <a:cs typeface="Consolas" panose="020B0609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8"/>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8"/>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insert 先找空位：不要把“搜索位置”和“冲突位置”混在一起</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8"/>
          <p:cNvSpPr>
            <a:spLocks noGrp="1"/>
          </p:cNvSpPr>
          <p:nvPr/>
        </p:nvSpPr>
        <p:spPr>
          <a:xfrm>
            <a:off x="400050" y="1352550"/>
            <a:ext cx="11391900" cy="19050"/>
          </a:xfrm>
          <a:prstGeom prst="rect">
            <a:avLst/>
          </a:prstGeom>
          <a:solidFill>
            <a:srgbClr val="17181C"/>
          </a:solidFill>
          <a:ln w="0">
            <a:noFill/>
            <a:prstDash val="solid"/>
          </a:ln>
        </p:spPr>
      </p:sp>
      <p:sp>
        <p:nvSpPr>
          <p:cNvPr id="5" name="footer_8"/>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08</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8_42"/>
          <p:cNvSpPr>
            <a:spLocks noGrp="1"/>
          </p:cNvSpPr>
          <p:nvPr/>
        </p:nvSpPr>
        <p:spPr>
          <a:xfrm>
            <a:off x="400050" y="1695450"/>
            <a:ext cx="5429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为什么插入要拆成两段？</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8_42"/>
          <p:cNvSpPr>
            <a:spLocks noGrp="1"/>
          </p:cNvSpPr>
          <p:nvPr/>
        </p:nvSpPr>
        <p:spPr>
          <a:xfrm>
            <a:off x="400050" y="2305050"/>
            <a:ext cx="66675" cy="3629025"/>
          </a:xfrm>
          <a:prstGeom prst="rect">
            <a:avLst/>
          </a:prstGeom>
          <a:solidFill>
            <a:srgbClr val="DE3840"/>
          </a:solidFill>
          <a:ln w="0">
            <a:noFill/>
            <a:prstDash val="solid"/>
          </a:ln>
        </p:spPr>
      </p:sp>
      <p:sp>
        <p:nvSpPr>
          <p:cNvPr id="8" name="reason_body_8_42"/>
          <p:cNvSpPr>
            <a:spLocks noGrp="1"/>
          </p:cNvSpPr>
          <p:nvPr/>
        </p:nvSpPr>
        <p:spPr>
          <a:xfrm>
            <a:off x="628650" y="2419350"/>
            <a:ext cx="5143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第一段完全按照二叉搜索树规则向下走，直到左边或右边出现 NULL。此时只解决“新 key 应该放在哪里”。</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第二段才调用 adjustInsert，解决“放进去以后颜色是否合法”。</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如果边找位置边旋转，node 一会儿代表搜索光标，一会儿又代表红红冲突，旋转以后它的身份更难追踪。先定位、后修复，相当于让每个阶段只背一种责任。</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8_650"/>
          <p:cNvSpPr>
            <a:spLocks noGrp="1"/>
          </p:cNvSpPr>
          <p:nvPr/>
        </p:nvSpPr>
        <p:spPr>
          <a:xfrm>
            <a:off x="6191250" y="1714500"/>
            <a:ext cx="5334000" cy="3524250"/>
          </a:xfrm>
          <a:prstGeom prst="rect">
            <a:avLst/>
          </a:prstGeom>
          <a:solidFill>
            <a:srgbClr val="202126"/>
          </a:solidFill>
          <a:ln w="0">
            <a:noFill/>
            <a:prstDash val="solid"/>
          </a:ln>
        </p:spPr>
      </p:sp>
      <p:sp>
        <p:nvSpPr>
          <p:cNvPr id="10" name="code_hl_8_0"/>
          <p:cNvSpPr>
            <a:spLocks noGrp="1"/>
          </p:cNvSpPr>
          <p:nvPr/>
        </p:nvSpPr>
        <p:spPr>
          <a:xfrm>
            <a:off x="6267450" y="1819275"/>
            <a:ext cx="5181600" cy="238125"/>
          </a:xfrm>
          <a:prstGeom prst="rect">
            <a:avLst/>
          </a:prstGeom>
          <a:solidFill>
            <a:srgbClr val="56362F"/>
          </a:solidFill>
          <a:ln w="0">
            <a:noFill/>
            <a:prstDash val="solid"/>
          </a:ln>
        </p:spPr>
      </p:sp>
      <p:sp>
        <p:nvSpPr>
          <p:cNvPr id="11" name="code_line_8_0"/>
          <p:cNvSpPr>
            <a:spLocks noGrp="1"/>
          </p:cNvSpPr>
          <p:nvPr/>
        </p:nvSpPr>
        <p:spPr>
          <a:xfrm>
            <a:off x="6353175" y="1809750"/>
            <a:ext cx="5048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(node-&gt;key == key)</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8_1"/>
          <p:cNvSpPr>
            <a:spLocks noGrp="1"/>
          </p:cNvSpPr>
          <p:nvPr/>
        </p:nvSpPr>
        <p:spPr>
          <a:xfrm>
            <a:off x="6353175" y="2047875"/>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return false;</a:t>
            </a:r>
            <a:endParaRPr sz="975" b="0">
              <a:solidFill>
                <a:srgbClr val="E7E7EA"/>
              </a:solidFill>
              <a:latin typeface="Consolas" panose="020B0609020204030204"/>
              <a:ea typeface="Consolas" panose="020B0609020204030204"/>
              <a:cs typeface="Consolas" panose="020B0609020204030204"/>
            </a:endParaRPr>
          </a:p>
        </p:txBody>
      </p:sp>
      <p:sp>
        <p:nvSpPr>
          <p:cNvPr id="13" name="code_line_8_2"/>
          <p:cNvSpPr>
            <a:spLocks noGrp="1"/>
          </p:cNvSpPr>
          <p:nvPr/>
        </p:nvSpPr>
        <p:spPr>
          <a:xfrm>
            <a:off x="6353175" y="2286000"/>
            <a:ext cx="5048250" cy="238125"/>
          </a:xfrm>
          <a:prstGeom prst="rect">
            <a:avLst/>
          </a:prstGeom>
          <a:noFill/>
          <a:ln w="0">
            <a:noFill/>
            <a:prstDash val="solid"/>
          </a:ln>
        </p:spPr>
        <p:txBody>
          <a:bodyPr lIns="0" tIns="0" rIns="0" bIns="0" anchor="t"/>
          <a:lstStyle/>
          <a:p/>
        </p:txBody>
      </p:sp>
      <p:sp>
        <p:nvSpPr>
          <p:cNvPr id="14" name="code_line_8_3"/>
          <p:cNvSpPr>
            <a:spLocks noGrp="1"/>
          </p:cNvSpPr>
          <p:nvPr/>
        </p:nvSpPr>
        <p:spPr>
          <a:xfrm>
            <a:off x="6353175" y="2524125"/>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if (node-&gt;key &lt; key)</a:t>
            </a:r>
            <a:endParaRPr sz="975" b="0">
              <a:solidFill>
                <a:srgbClr val="E7E7EA"/>
              </a:solidFill>
              <a:latin typeface="Consolas" panose="020B0609020204030204"/>
              <a:ea typeface="Consolas" panose="020B0609020204030204"/>
              <a:cs typeface="Consolas" panose="020B0609020204030204"/>
            </a:endParaRPr>
          </a:p>
        </p:txBody>
      </p:sp>
      <p:sp>
        <p:nvSpPr>
          <p:cNvPr id="15" name="code_line_8_4"/>
          <p:cNvSpPr>
            <a:spLocks noGrp="1"/>
          </p:cNvSpPr>
          <p:nvPr/>
        </p:nvSpPr>
        <p:spPr>
          <a:xfrm>
            <a:off x="6353175" y="2762250"/>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6" name="code_hl_8_5"/>
          <p:cNvSpPr>
            <a:spLocks noGrp="1"/>
          </p:cNvSpPr>
          <p:nvPr/>
        </p:nvSpPr>
        <p:spPr>
          <a:xfrm>
            <a:off x="6267450" y="3009900"/>
            <a:ext cx="5181600" cy="238125"/>
          </a:xfrm>
          <a:prstGeom prst="rect">
            <a:avLst/>
          </a:prstGeom>
          <a:solidFill>
            <a:srgbClr val="56362F"/>
          </a:solidFill>
          <a:ln w="0">
            <a:noFill/>
            <a:prstDash val="solid"/>
          </a:ln>
        </p:spPr>
      </p:sp>
      <p:sp>
        <p:nvSpPr>
          <p:cNvPr id="17" name="code_line_8_5"/>
          <p:cNvSpPr>
            <a:spLocks noGrp="1"/>
          </p:cNvSpPr>
          <p:nvPr/>
        </p:nvSpPr>
        <p:spPr>
          <a:xfrm>
            <a:off x="6353175" y="3000375"/>
            <a:ext cx="5048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if (node-&gt;right == NULL)</a:t>
            </a:r>
            <a:endParaRPr sz="975" b="0">
              <a:solidFill>
                <a:srgbClr val="FFD1BF"/>
              </a:solidFill>
              <a:latin typeface="Consolas" panose="020B0609020204030204"/>
              <a:ea typeface="Consolas" panose="020B0609020204030204"/>
              <a:cs typeface="Consolas" panose="020B0609020204030204"/>
            </a:endParaRPr>
          </a:p>
        </p:txBody>
      </p:sp>
      <p:sp>
        <p:nvSpPr>
          <p:cNvPr id="18" name="code_line_8_6"/>
          <p:cNvSpPr>
            <a:spLocks noGrp="1"/>
          </p:cNvSpPr>
          <p:nvPr/>
        </p:nvSpPr>
        <p:spPr>
          <a:xfrm>
            <a:off x="6353175" y="3238500"/>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a:t>
            </a:r>
            <a:endParaRPr sz="975" b="0">
              <a:solidFill>
                <a:srgbClr val="E7E7EA"/>
              </a:solidFill>
              <a:latin typeface="Consolas" panose="020B0609020204030204"/>
              <a:ea typeface="Consolas" panose="020B0609020204030204"/>
              <a:cs typeface="Consolas" panose="020B0609020204030204"/>
            </a:endParaRPr>
          </a:p>
        </p:txBody>
      </p:sp>
      <p:sp>
        <p:nvSpPr>
          <p:cNvPr id="19" name="code_hl_8_7"/>
          <p:cNvSpPr>
            <a:spLocks noGrp="1"/>
          </p:cNvSpPr>
          <p:nvPr/>
        </p:nvSpPr>
        <p:spPr>
          <a:xfrm>
            <a:off x="6267450" y="3486150"/>
            <a:ext cx="5181600" cy="238125"/>
          </a:xfrm>
          <a:prstGeom prst="rect">
            <a:avLst/>
          </a:prstGeom>
          <a:solidFill>
            <a:srgbClr val="56362F"/>
          </a:solidFill>
          <a:ln w="0">
            <a:noFill/>
            <a:prstDash val="solid"/>
          </a:ln>
        </p:spPr>
      </p:sp>
      <p:sp>
        <p:nvSpPr>
          <p:cNvPr id="20" name="code_line_8_7"/>
          <p:cNvSpPr>
            <a:spLocks noGrp="1"/>
          </p:cNvSpPr>
          <p:nvPr/>
        </p:nvSpPr>
        <p:spPr>
          <a:xfrm>
            <a:off x="6353175" y="3476625"/>
            <a:ext cx="5048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node-&gt;right = new RBTreeNode(</a:t>
            </a:r>
            <a:endParaRPr sz="975" b="0">
              <a:solidFill>
                <a:srgbClr val="FFD1BF"/>
              </a:solidFill>
              <a:latin typeface="Consolas" panose="020B0609020204030204"/>
              <a:ea typeface="Consolas" panose="020B0609020204030204"/>
              <a:cs typeface="Consolas" panose="020B0609020204030204"/>
            </a:endParaRPr>
          </a:p>
        </p:txBody>
      </p:sp>
      <p:sp>
        <p:nvSpPr>
          <p:cNvPr id="21" name="code_hl_8_8"/>
          <p:cNvSpPr>
            <a:spLocks noGrp="1"/>
          </p:cNvSpPr>
          <p:nvPr/>
        </p:nvSpPr>
        <p:spPr>
          <a:xfrm>
            <a:off x="6267450" y="3724275"/>
            <a:ext cx="5181600" cy="238125"/>
          </a:xfrm>
          <a:prstGeom prst="rect">
            <a:avLst/>
          </a:prstGeom>
          <a:solidFill>
            <a:srgbClr val="56362F"/>
          </a:solidFill>
          <a:ln w="0">
            <a:noFill/>
            <a:prstDash val="solid"/>
          </a:ln>
        </p:spPr>
      </p:sp>
      <p:sp>
        <p:nvSpPr>
          <p:cNvPr id="22" name="code_line_8_8"/>
          <p:cNvSpPr>
            <a:spLocks noGrp="1"/>
          </p:cNvSpPr>
          <p:nvPr/>
        </p:nvSpPr>
        <p:spPr>
          <a:xfrm>
            <a:off x="6353175" y="3714750"/>
            <a:ext cx="5048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key, node, tree, RED);</a:t>
            </a:r>
            <a:endParaRPr sz="975" b="0">
              <a:solidFill>
                <a:srgbClr val="FFD1BF"/>
              </a:solidFill>
              <a:latin typeface="Consolas" panose="020B0609020204030204"/>
              <a:ea typeface="Consolas" panose="020B0609020204030204"/>
              <a:cs typeface="Consolas" panose="020B0609020204030204"/>
            </a:endParaRPr>
          </a:p>
        </p:txBody>
      </p:sp>
      <p:sp>
        <p:nvSpPr>
          <p:cNvPr id="23" name="code_hl_8_9"/>
          <p:cNvSpPr>
            <a:spLocks noGrp="1"/>
          </p:cNvSpPr>
          <p:nvPr/>
        </p:nvSpPr>
        <p:spPr>
          <a:xfrm>
            <a:off x="6267450" y="3962400"/>
            <a:ext cx="5181600" cy="238125"/>
          </a:xfrm>
          <a:prstGeom prst="rect">
            <a:avLst/>
          </a:prstGeom>
          <a:solidFill>
            <a:srgbClr val="56362F"/>
          </a:solidFill>
          <a:ln w="0">
            <a:noFill/>
            <a:prstDash val="solid"/>
          </a:ln>
        </p:spPr>
      </p:sp>
      <p:sp>
        <p:nvSpPr>
          <p:cNvPr id="24" name="code_line_8_9"/>
          <p:cNvSpPr>
            <a:spLocks noGrp="1"/>
          </p:cNvSpPr>
          <p:nvPr/>
        </p:nvSpPr>
        <p:spPr>
          <a:xfrm>
            <a:off x="6353175" y="3952875"/>
            <a:ext cx="504825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adjustInsert(node-&gt;right);</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8_10"/>
          <p:cNvSpPr>
            <a:spLocks noGrp="1"/>
          </p:cNvSpPr>
          <p:nvPr/>
        </p:nvSpPr>
        <p:spPr>
          <a:xfrm>
            <a:off x="6353175" y="4191000"/>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a:t>
            </a:r>
            <a:endParaRPr sz="975" b="0">
              <a:solidFill>
                <a:srgbClr val="E7E7EA"/>
              </a:solidFill>
              <a:latin typeface="Consolas" panose="020B0609020204030204"/>
              <a:ea typeface="Consolas" panose="020B0609020204030204"/>
              <a:cs typeface="Consolas" panose="020B0609020204030204"/>
            </a:endParaRPr>
          </a:p>
        </p:txBody>
      </p:sp>
      <p:sp>
        <p:nvSpPr>
          <p:cNvPr id="26" name="code_line_8_11"/>
          <p:cNvSpPr>
            <a:spLocks noGrp="1"/>
          </p:cNvSpPr>
          <p:nvPr/>
        </p:nvSpPr>
        <p:spPr>
          <a:xfrm>
            <a:off x="6353175" y="4429125"/>
            <a:ext cx="504825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9"/>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9"/>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新节点为什么先染红：先选择更小、更局部的错误</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9"/>
          <p:cNvSpPr>
            <a:spLocks noGrp="1"/>
          </p:cNvSpPr>
          <p:nvPr/>
        </p:nvSpPr>
        <p:spPr>
          <a:xfrm>
            <a:off x="400050" y="1352550"/>
            <a:ext cx="11391900" cy="19050"/>
          </a:xfrm>
          <a:prstGeom prst="rect">
            <a:avLst/>
          </a:prstGeom>
          <a:solidFill>
            <a:srgbClr val="17181C"/>
          </a:solidFill>
          <a:ln w="0">
            <a:noFill/>
            <a:prstDash val="solid"/>
          </a:ln>
        </p:spPr>
      </p:sp>
      <p:sp>
        <p:nvSpPr>
          <p:cNvPr id="5" name="footer_9"/>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09</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9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如果新节点直接染黑，会发生什么？</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9_42"/>
          <p:cNvSpPr>
            <a:spLocks noGrp="1"/>
          </p:cNvSpPr>
          <p:nvPr/>
        </p:nvSpPr>
        <p:spPr>
          <a:xfrm>
            <a:off x="400050" y="2305050"/>
            <a:ext cx="66675" cy="3486150"/>
          </a:xfrm>
          <a:prstGeom prst="rect">
            <a:avLst/>
          </a:prstGeom>
          <a:solidFill>
            <a:srgbClr val="DE3840"/>
          </a:solidFill>
          <a:ln w="0">
            <a:noFill/>
            <a:prstDash val="solid"/>
          </a:ln>
        </p:spPr>
      </p:sp>
      <p:sp>
        <p:nvSpPr>
          <p:cNvPr id="8" name="reason_body_9_42"/>
          <p:cNvSpPr>
            <a:spLocks noGrp="1"/>
          </p:cNvSpPr>
          <p:nvPr/>
        </p:nvSpPr>
        <p:spPr>
          <a:xfrm>
            <a:off x="628650" y="2419350"/>
            <a:ext cx="5429250" cy="3333750"/>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新节点只出现在一条根到叶子的路径上。把它染黑，相当于这条路径凭空多了一个黑节点，黑高差立刻扩散到更大的子树。</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把它染红则不会改变任何路径的黑节点数量。唯一可能出现的新错误，是 parent 也为红，形成局部的红父红子。</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红黑树在这里做了一个很重要的选择：不追求“插入瞬间完全正确”，而是主动制造一个位置明确、只涉及 parent / grand / uncle 的局部冲突。</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red_insert_edge_g_p"/>
          <p:cNvSpPr>
            <a:spLocks noGrp="1"/>
          </p:cNvSpPr>
          <p:nvPr/>
        </p:nvSpPr>
        <p:spPr>
          <a:xfrm rot="7421404">
            <a:off x="7466410" y="2962275"/>
            <a:ext cx="1545429" cy="28575"/>
          </a:xfrm>
          <a:prstGeom prst="rect">
            <a:avLst/>
          </a:prstGeom>
          <a:solidFill>
            <a:srgbClr val="B9BDC5"/>
          </a:solidFill>
          <a:ln w="0">
            <a:noFill/>
            <a:prstDash val="solid"/>
          </a:ln>
        </p:spPr>
      </p:sp>
      <p:sp>
        <p:nvSpPr>
          <p:cNvPr id="10" name="red_insert_edge_g_u"/>
          <p:cNvSpPr>
            <a:spLocks noGrp="1"/>
          </p:cNvSpPr>
          <p:nvPr/>
        </p:nvSpPr>
        <p:spPr>
          <a:xfrm rot="3378596">
            <a:off x="8323660" y="2962275"/>
            <a:ext cx="1545429" cy="28575"/>
          </a:xfrm>
          <a:prstGeom prst="rect">
            <a:avLst/>
          </a:prstGeom>
          <a:solidFill>
            <a:srgbClr val="B9BDC5"/>
          </a:solidFill>
          <a:ln w="0">
            <a:noFill/>
            <a:prstDash val="solid"/>
          </a:ln>
        </p:spPr>
      </p:sp>
      <p:sp>
        <p:nvSpPr>
          <p:cNvPr id="11" name="red_insert_edge_p_n"/>
          <p:cNvSpPr>
            <a:spLocks noGrp="1"/>
          </p:cNvSpPr>
          <p:nvPr/>
        </p:nvSpPr>
        <p:spPr>
          <a:xfrm rot="6894286">
            <a:off x="6765829" y="4271963"/>
            <a:ext cx="1470217" cy="28575"/>
          </a:xfrm>
          <a:prstGeom prst="rect">
            <a:avLst/>
          </a:prstGeom>
          <a:solidFill>
            <a:srgbClr val="B9BDC5"/>
          </a:solidFill>
          <a:ln w="0">
            <a:noFill/>
            <a:prstDash val="solid"/>
          </a:ln>
        </p:spPr>
      </p:sp>
      <p:sp>
        <p:nvSpPr>
          <p:cNvPr id="12" name="red_insert_g"/>
          <p:cNvSpPr>
            <a:spLocks noGrp="1"/>
          </p:cNvSpPr>
          <p:nvPr/>
        </p:nvSpPr>
        <p:spPr>
          <a:xfrm>
            <a:off x="8429625" y="2095500"/>
            <a:ext cx="476250" cy="476250"/>
          </a:xfrm>
          <a:prstGeom prst="ellipse">
            <a:avLst/>
          </a:prstGeom>
          <a:solidFill>
            <a:srgbClr val="22242A"/>
          </a:solidFill>
          <a:ln w="9525">
            <a:solidFill>
              <a:srgbClr val="FFFFFF"/>
            </a:solidFill>
            <a:prstDash val="solid"/>
          </a:ln>
        </p:spPr>
      </p:sp>
      <p:sp>
        <p:nvSpPr>
          <p:cNvPr id="13" name="red_insert_g_label"/>
          <p:cNvSpPr>
            <a:spLocks noGrp="1"/>
          </p:cNvSpPr>
          <p:nvPr/>
        </p:nvSpPr>
        <p:spPr>
          <a:xfrm>
            <a:off x="8467725" y="2209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red_insert_p"/>
          <p:cNvSpPr>
            <a:spLocks noGrp="1"/>
          </p:cNvSpPr>
          <p:nvPr/>
        </p:nvSpPr>
        <p:spPr>
          <a:xfrm>
            <a:off x="7572375" y="3381375"/>
            <a:ext cx="476250" cy="476250"/>
          </a:xfrm>
          <a:prstGeom prst="ellipse">
            <a:avLst/>
          </a:prstGeom>
          <a:solidFill>
            <a:srgbClr val="DE3840"/>
          </a:solidFill>
          <a:ln w="9525">
            <a:solidFill>
              <a:srgbClr val="FFFFFF"/>
            </a:solidFill>
            <a:prstDash val="solid"/>
          </a:ln>
        </p:spPr>
      </p:sp>
      <p:sp>
        <p:nvSpPr>
          <p:cNvPr id="15" name="red_insert_p_label"/>
          <p:cNvSpPr>
            <a:spLocks noGrp="1"/>
          </p:cNvSpPr>
          <p:nvPr/>
        </p:nvSpPr>
        <p:spPr>
          <a:xfrm>
            <a:off x="7610475" y="3495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red_insert_u"/>
          <p:cNvSpPr>
            <a:spLocks noGrp="1"/>
          </p:cNvSpPr>
          <p:nvPr/>
        </p:nvSpPr>
        <p:spPr>
          <a:xfrm>
            <a:off x="9286875" y="3381375"/>
            <a:ext cx="476250" cy="476250"/>
          </a:xfrm>
          <a:prstGeom prst="ellipse">
            <a:avLst/>
          </a:prstGeom>
          <a:solidFill>
            <a:srgbClr val="22242A"/>
          </a:solidFill>
          <a:ln w="9525">
            <a:solidFill>
              <a:srgbClr val="FFFFFF"/>
            </a:solidFill>
            <a:prstDash val="solid"/>
          </a:ln>
        </p:spPr>
      </p:sp>
      <p:sp>
        <p:nvSpPr>
          <p:cNvPr id="17" name="red_insert_u_label"/>
          <p:cNvSpPr>
            <a:spLocks noGrp="1"/>
          </p:cNvSpPr>
          <p:nvPr/>
        </p:nvSpPr>
        <p:spPr>
          <a:xfrm>
            <a:off x="9324975" y="3495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U</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red_insert_n"/>
          <p:cNvSpPr>
            <a:spLocks noGrp="1"/>
          </p:cNvSpPr>
          <p:nvPr/>
        </p:nvSpPr>
        <p:spPr>
          <a:xfrm>
            <a:off x="6953250" y="4714875"/>
            <a:ext cx="476250" cy="476250"/>
          </a:xfrm>
          <a:prstGeom prst="ellipse">
            <a:avLst/>
          </a:prstGeom>
          <a:solidFill>
            <a:srgbClr val="DE3840"/>
          </a:solidFill>
          <a:ln w="9525">
            <a:solidFill>
              <a:srgbClr val="FFFFFF"/>
            </a:solidFill>
            <a:prstDash val="solid"/>
          </a:ln>
        </p:spPr>
      </p:sp>
      <p:sp>
        <p:nvSpPr>
          <p:cNvPr id="19" name="red_insert_n_label"/>
          <p:cNvSpPr>
            <a:spLocks noGrp="1"/>
          </p:cNvSpPr>
          <p:nvPr/>
        </p:nvSpPr>
        <p:spPr>
          <a:xfrm>
            <a:off x="6991350" y="4829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 name="red_conflict"/>
          <p:cNvSpPr>
            <a:spLocks noGrp="1"/>
          </p:cNvSpPr>
          <p:nvPr/>
        </p:nvSpPr>
        <p:spPr>
          <a:xfrm>
            <a:off x="6572250" y="5381625"/>
            <a:ext cx="4095750" cy="333375"/>
          </a:xfrm>
          <a:prstGeom prst="rect">
            <a:avLst/>
          </a:prstGeom>
          <a:noFill/>
          <a:ln w="0">
            <a:noFill/>
            <a:prstDash val="solid"/>
          </a:ln>
        </p:spPr>
        <p:txBody>
          <a:bodyPr lIns="0" tIns="0" rIns="0" bIns="0" anchor="t"/>
          <a:lstStyle/>
          <a:p>
            <a:pPr algn="ctr">
              <a:defRPr sz="1500" b="1">
                <a:solidFill>
                  <a:srgbClr val="DE3840"/>
                </a:solidFill>
                <a:latin typeface="微软雅黑" panose="020B0503020204020204" charset="-122"/>
                <a:ea typeface="微软雅黑" panose="020B0503020204020204" charset="-122"/>
                <a:cs typeface="微软雅黑" panose="020B0503020204020204" charset="-122"/>
              </a:defRPr>
            </a:pPr>
            <a:r>
              <a:rPr sz="1500" b="1">
                <a:solidFill>
                  <a:srgbClr val="DE3840"/>
                </a:solidFill>
                <a:latin typeface="微软雅黑" panose="020B0503020204020204" charset="-122"/>
                <a:ea typeface="微软雅黑" panose="020B0503020204020204" charset="-122"/>
                <a:cs typeface="微软雅黑" panose="020B0503020204020204" charset="-122"/>
              </a:rPr>
              <a:t>只新增这一处红红冲突</a:t>
            </a:r>
            <a:endParaRPr sz="15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21" name="takeaway_9"/>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DE3840"/>
                </a:solidFill>
                <a:latin typeface="微软雅黑" panose="020B0503020204020204" charset="-122"/>
                <a:ea typeface="微软雅黑" panose="020B0503020204020204" charset="-122"/>
                <a:cs typeface="微软雅黑" panose="020B0503020204020204" charset="-122"/>
              </a:defRPr>
            </a:pPr>
            <a:r>
              <a:rPr sz="1575" b="1">
                <a:solidFill>
                  <a:srgbClr val="DE3840"/>
                </a:solidFill>
                <a:latin typeface="微软雅黑" panose="020B0503020204020204" charset="-122"/>
                <a:ea typeface="微软雅黑" panose="020B0503020204020204" charset="-122"/>
                <a:cs typeface="微软雅黑" panose="020B0503020204020204" charset="-122"/>
              </a:rPr>
              <a:t>不是避免所有错误，而是把错误压缩到最容易修的一小块。</a:t>
            </a:r>
            <a:endParaRPr sz="1575" b="1">
              <a:solidFill>
                <a:srgbClr val="DE3840"/>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0"/>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0"/>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adjustInsert 的 node 会向上移动，它不是永远指向新节点</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0"/>
          <p:cNvSpPr>
            <a:spLocks noGrp="1"/>
          </p:cNvSpPr>
          <p:nvPr/>
        </p:nvSpPr>
        <p:spPr>
          <a:xfrm>
            <a:off x="400050" y="1352550"/>
            <a:ext cx="11391900" cy="19050"/>
          </a:xfrm>
          <a:prstGeom prst="rect">
            <a:avLst/>
          </a:prstGeom>
          <a:solidFill>
            <a:srgbClr val="17181C"/>
          </a:solidFill>
          <a:ln w="0">
            <a:noFill/>
            <a:prstDash val="solid"/>
          </a:ln>
        </p:spPr>
      </p:sp>
      <p:sp>
        <p:nvSpPr>
          <p:cNvPr id="5" name="footer_10"/>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10</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10_42"/>
          <p:cNvSpPr>
            <a:spLocks noGrp="1"/>
          </p:cNvSpPr>
          <p:nvPr/>
        </p:nvSpPr>
        <p:spPr>
          <a:xfrm>
            <a:off x="400050" y="1695450"/>
            <a:ext cx="55245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为什么函数里还要再写 RBTreeNode* node？</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10_42"/>
          <p:cNvSpPr>
            <a:spLocks noGrp="1"/>
          </p:cNvSpPr>
          <p:nvPr/>
        </p:nvSpPr>
        <p:spPr>
          <a:xfrm>
            <a:off x="400050" y="2305050"/>
            <a:ext cx="66675" cy="3629025"/>
          </a:xfrm>
          <a:prstGeom prst="rect">
            <a:avLst/>
          </a:prstGeom>
          <a:solidFill>
            <a:srgbClr val="DE3840"/>
          </a:solidFill>
          <a:ln w="0">
            <a:noFill/>
            <a:prstDash val="solid"/>
          </a:ln>
        </p:spPr>
      </p:sp>
      <p:sp>
        <p:nvSpPr>
          <p:cNvPr id="8" name="reason_body_10_42"/>
          <p:cNvSpPr>
            <a:spLocks noGrp="1"/>
          </p:cNvSpPr>
          <p:nvPr/>
        </p:nvSpPr>
        <p:spPr>
          <a:xfrm>
            <a:off x="628650" y="2419350"/>
            <a:ext cx="52387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insertNode 只是进入函数时的起点。叔叔为红时，parent 和 uncle 一起染黑，grand 染红。当前层的红红冲突虽然消失了，但 grand 可能又和更上面的红色父亲冲突。</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所以修复对象已经从“刚插入的节点”变成了 grand。代码写 node = grand; continue;，就是把问题沿祖先链继续向上交付。</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如果始终盯着 insertNode，下一轮判断的 parent、grand、uncle 都会来自错误的层级。</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10_665"/>
          <p:cNvSpPr>
            <a:spLocks noGrp="1"/>
          </p:cNvSpPr>
          <p:nvPr/>
        </p:nvSpPr>
        <p:spPr>
          <a:xfrm>
            <a:off x="6334125" y="1714500"/>
            <a:ext cx="5095875" cy="3714750"/>
          </a:xfrm>
          <a:prstGeom prst="rect">
            <a:avLst/>
          </a:prstGeom>
          <a:solidFill>
            <a:srgbClr val="202126"/>
          </a:solidFill>
          <a:ln w="0">
            <a:noFill/>
            <a:prstDash val="solid"/>
          </a:ln>
        </p:spPr>
      </p:sp>
      <p:sp>
        <p:nvSpPr>
          <p:cNvPr id="10" name="code_hl_10_0"/>
          <p:cNvSpPr>
            <a:spLocks noGrp="1"/>
          </p:cNvSpPr>
          <p:nvPr/>
        </p:nvSpPr>
        <p:spPr>
          <a:xfrm>
            <a:off x="6410325" y="1819275"/>
            <a:ext cx="4943475" cy="238125"/>
          </a:xfrm>
          <a:prstGeom prst="rect">
            <a:avLst/>
          </a:prstGeom>
          <a:solidFill>
            <a:srgbClr val="56362F"/>
          </a:solidFill>
          <a:ln w="0">
            <a:noFill/>
            <a:prstDash val="solid"/>
          </a:ln>
        </p:spPr>
      </p:sp>
      <p:sp>
        <p:nvSpPr>
          <p:cNvPr id="11" name="code_line_10_0"/>
          <p:cNvSpPr>
            <a:spLocks noGrp="1"/>
          </p:cNvSpPr>
          <p:nvPr/>
        </p:nvSpPr>
        <p:spPr>
          <a:xfrm>
            <a:off x="6496050" y="180975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node = insertNode;</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10_1"/>
          <p:cNvSpPr>
            <a:spLocks noGrp="1"/>
          </p:cNvSpPr>
          <p:nvPr/>
        </p:nvSpPr>
        <p:spPr>
          <a:xfrm>
            <a:off x="6496050" y="2047875"/>
            <a:ext cx="4810125" cy="238125"/>
          </a:xfrm>
          <a:prstGeom prst="rect">
            <a:avLst/>
          </a:prstGeom>
          <a:noFill/>
          <a:ln w="0">
            <a:noFill/>
            <a:prstDash val="solid"/>
          </a:ln>
        </p:spPr>
        <p:txBody>
          <a:bodyPr lIns="0" tIns="0" rIns="0" bIns="0" anchor="t"/>
          <a:lstStyle/>
          <a:p/>
        </p:txBody>
      </p:sp>
      <p:sp>
        <p:nvSpPr>
          <p:cNvPr id="13" name="code_hl_10_2"/>
          <p:cNvSpPr>
            <a:spLocks noGrp="1"/>
          </p:cNvSpPr>
          <p:nvPr/>
        </p:nvSpPr>
        <p:spPr>
          <a:xfrm>
            <a:off x="6410325" y="2295525"/>
            <a:ext cx="4943475" cy="238125"/>
          </a:xfrm>
          <a:prstGeom prst="rect">
            <a:avLst/>
          </a:prstGeom>
          <a:solidFill>
            <a:srgbClr val="56362F"/>
          </a:solidFill>
          <a:ln w="0">
            <a:noFill/>
            <a:prstDash val="solid"/>
          </a:ln>
        </p:spPr>
      </p:sp>
      <p:sp>
        <p:nvSpPr>
          <p:cNvPr id="14" name="code_line_10_2"/>
          <p:cNvSpPr>
            <a:spLocks noGrp="1"/>
          </p:cNvSpPr>
          <p:nvPr/>
        </p:nvSpPr>
        <p:spPr>
          <a:xfrm>
            <a:off x="6496050" y="22860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while (true)</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10_3"/>
          <p:cNvSpPr>
            <a:spLocks noGrp="1"/>
          </p:cNvSpPr>
          <p:nvPr/>
        </p:nvSpPr>
        <p:spPr>
          <a:xfrm>
            <a:off x="6496050" y="252412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6" name="code_line_10_4"/>
          <p:cNvSpPr>
            <a:spLocks noGrp="1"/>
          </p:cNvSpPr>
          <p:nvPr/>
        </p:nvSpPr>
        <p:spPr>
          <a:xfrm>
            <a:off x="6496050" y="27622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if (node-&gt;parent == NULL) ...</a:t>
            </a:r>
            <a:endParaRPr sz="975" b="0">
              <a:solidFill>
                <a:srgbClr val="E7E7EA"/>
              </a:solidFill>
              <a:latin typeface="Consolas" panose="020B0609020204030204"/>
              <a:ea typeface="Consolas" panose="020B0609020204030204"/>
              <a:cs typeface="Consolas" panose="020B0609020204030204"/>
            </a:endParaRPr>
          </a:p>
        </p:txBody>
      </p:sp>
      <p:sp>
        <p:nvSpPr>
          <p:cNvPr id="17" name="code_line_10_5"/>
          <p:cNvSpPr>
            <a:spLocks noGrp="1"/>
          </p:cNvSpPr>
          <p:nvPr/>
        </p:nvSpPr>
        <p:spPr>
          <a:xfrm>
            <a:off x="6496050" y="300037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else if (node-&gt;parent-&gt;color == BLACK) ...</a:t>
            </a:r>
            <a:endParaRPr sz="975" b="0">
              <a:solidFill>
                <a:srgbClr val="E7E7EA"/>
              </a:solidFill>
              <a:latin typeface="Consolas" panose="020B0609020204030204"/>
              <a:ea typeface="Consolas" panose="020B0609020204030204"/>
              <a:cs typeface="Consolas" panose="020B0609020204030204"/>
            </a:endParaRPr>
          </a:p>
        </p:txBody>
      </p:sp>
      <p:sp>
        <p:nvSpPr>
          <p:cNvPr id="18" name="code_line_10_6"/>
          <p:cNvSpPr>
            <a:spLocks noGrp="1"/>
          </p:cNvSpPr>
          <p:nvPr/>
        </p:nvSpPr>
        <p:spPr>
          <a:xfrm>
            <a:off x="6496050" y="323850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else</a:t>
            </a:r>
            <a:endParaRPr sz="975" b="0">
              <a:solidFill>
                <a:srgbClr val="E7E7EA"/>
              </a:solidFill>
              <a:latin typeface="Consolas" panose="020B0609020204030204"/>
              <a:ea typeface="Consolas" panose="020B0609020204030204"/>
              <a:cs typeface="Consolas" panose="020B0609020204030204"/>
            </a:endParaRPr>
          </a:p>
        </p:txBody>
      </p:sp>
      <p:sp>
        <p:nvSpPr>
          <p:cNvPr id="19" name="code_line_10_7"/>
          <p:cNvSpPr>
            <a:spLocks noGrp="1"/>
          </p:cNvSpPr>
          <p:nvPr/>
        </p:nvSpPr>
        <p:spPr>
          <a:xfrm>
            <a:off x="6496050" y="347662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a:t>
            </a:r>
            <a:endParaRPr sz="975" b="0">
              <a:solidFill>
                <a:srgbClr val="E7E7EA"/>
              </a:solidFill>
              <a:latin typeface="Consolas" panose="020B0609020204030204"/>
              <a:ea typeface="Consolas" panose="020B0609020204030204"/>
              <a:cs typeface="Consolas" panose="020B0609020204030204"/>
            </a:endParaRPr>
          </a:p>
        </p:txBody>
      </p:sp>
      <p:sp>
        <p:nvSpPr>
          <p:cNvPr id="20" name="code_line_10_8"/>
          <p:cNvSpPr>
            <a:spLocks noGrp="1"/>
          </p:cNvSpPr>
          <p:nvPr/>
        </p:nvSpPr>
        <p:spPr>
          <a:xfrm>
            <a:off x="6496050" y="37147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 处理 uncle 与旋转</a:t>
            </a:r>
            <a:endParaRPr sz="975" b="0">
              <a:solidFill>
                <a:srgbClr val="E7E7EA"/>
              </a:solidFill>
              <a:latin typeface="Consolas" panose="020B0609020204030204"/>
              <a:ea typeface="Consolas" panose="020B0609020204030204"/>
              <a:cs typeface="Consolas" panose="020B0609020204030204"/>
            </a:endParaRPr>
          </a:p>
        </p:txBody>
      </p:sp>
      <p:sp>
        <p:nvSpPr>
          <p:cNvPr id="21" name="code_hl_10_9"/>
          <p:cNvSpPr>
            <a:spLocks noGrp="1"/>
          </p:cNvSpPr>
          <p:nvPr/>
        </p:nvSpPr>
        <p:spPr>
          <a:xfrm>
            <a:off x="6410325" y="3962400"/>
            <a:ext cx="4943475" cy="238125"/>
          </a:xfrm>
          <a:prstGeom prst="rect">
            <a:avLst/>
          </a:prstGeom>
          <a:solidFill>
            <a:srgbClr val="56362F"/>
          </a:solidFill>
          <a:ln w="0">
            <a:noFill/>
            <a:prstDash val="solid"/>
          </a:ln>
        </p:spPr>
      </p:sp>
      <p:sp>
        <p:nvSpPr>
          <p:cNvPr id="22" name="code_line_10_9"/>
          <p:cNvSpPr>
            <a:spLocks noGrp="1"/>
          </p:cNvSpPr>
          <p:nvPr/>
        </p:nvSpPr>
        <p:spPr>
          <a:xfrm>
            <a:off x="6496050" y="395287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 = grand;</a:t>
            </a:r>
            <a:endParaRPr sz="975" b="0">
              <a:solidFill>
                <a:srgbClr val="FFD1BF"/>
              </a:solidFill>
              <a:latin typeface="Consolas" panose="020B0609020204030204"/>
              <a:ea typeface="Consolas" panose="020B0609020204030204"/>
              <a:cs typeface="Consolas" panose="020B0609020204030204"/>
            </a:endParaRPr>
          </a:p>
        </p:txBody>
      </p:sp>
      <p:sp>
        <p:nvSpPr>
          <p:cNvPr id="23" name="code_hl_10_10"/>
          <p:cNvSpPr>
            <a:spLocks noGrp="1"/>
          </p:cNvSpPr>
          <p:nvPr/>
        </p:nvSpPr>
        <p:spPr>
          <a:xfrm>
            <a:off x="6410325" y="4200525"/>
            <a:ext cx="4943475" cy="238125"/>
          </a:xfrm>
          <a:prstGeom prst="rect">
            <a:avLst/>
          </a:prstGeom>
          <a:solidFill>
            <a:srgbClr val="56362F"/>
          </a:solidFill>
          <a:ln w="0">
            <a:noFill/>
            <a:prstDash val="solid"/>
          </a:ln>
        </p:spPr>
      </p:sp>
      <p:sp>
        <p:nvSpPr>
          <p:cNvPr id="24" name="code_line_10_10"/>
          <p:cNvSpPr>
            <a:spLocks noGrp="1"/>
          </p:cNvSpPr>
          <p:nvPr/>
        </p:nvSpPr>
        <p:spPr>
          <a:xfrm>
            <a:off x="6496050" y="41910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continue;</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10_11"/>
          <p:cNvSpPr>
            <a:spLocks noGrp="1"/>
          </p:cNvSpPr>
          <p:nvPr/>
        </p:nvSpPr>
        <p:spPr>
          <a:xfrm>
            <a:off x="6496050" y="442912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a:t>
            </a:r>
            <a:endParaRPr sz="975" b="0">
              <a:solidFill>
                <a:srgbClr val="E7E7EA"/>
              </a:solidFill>
              <a:latin typeface="Consolas" panose="020B0609020204030204"/>
              <a:ea typeface="Consolas" panose="020B0609020204030204"/>
              <a:cs typeface="Consolas" panose="020B0609020204030204"/>
            </a:endParaRPr>
          </a:p>
        </p:txBody>
      </p:sp>
      <p:sp>
        <p:nvSpPr>
          <p:cNvPr id="26" name="code_line_10_12"/>
          <p:cNvSpPr>
            <a:spLocks noGrp="1"/>
          </p:cNvSpPr>
          <p:nvPr/>
        </p:nvSpPr>
        <p:spPr>
          <a:xfrm>
            <a:off x="6496050" y="46672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7" name="文本框 26"/>
          <p:cNvSpPr txBox="1"/>
          <p:nvPr/>
        </p:nvSpPr>
        <p:spPr>
          <a:xfrm>
            <a:off x="767080" y="4364990"/>
            <a:ext cx="5073015" cy="2461260"/>
          </a:xfrm>
          <a:prstGeom prst="rect">
            <a:avLst/>
          </a:prstGeom>
          <a:noFill/>
        </p:spPr>
        <p:txBody>
          <a:bodyPr wrap="square" rtlCol="0">
            <a:spAutoFit/>
          </a:bodyPr>
          <a:p>
            <a:r>
              <a:rPr lang="en-US" altLang="zh-CN" sz="1400"/>
              <a:t>think:</a:t>
            </a:r>
            <a:r>
              <a:rPr lang="zh-CN" altLang="en-US" sz="1400"/>
              <a:t>当出现红红冲突的时候，只要父亲染黑即可。判断</a:t>
            </a:r>
            <a:r>
              <a:rPr lang="en-US" altLang="zh-CN" sz="1400"/>
              <a:t>uncle</a:t>
            </a:r>
            <a:r>
              <a:rPr lang="zh-CN" altLang="en-US" sz="1400"/>
              <a:t>的条件，如果</a:t>
            </a:r>
            <a:r>
              <a:rPr lang="en-US" altLang="zh-CN" sz="1400"/>
              <a:t>uncle</a:t>
            </a:r>
            <a:r>
              <a:rPr lang="zh-CN" altLang="en-US" sz="1400"/>
              <a:t>也是红那就一起染黑，但是祖父一定要染红然后向上传导，因为祖父也属于某个分支，这里就能发现往上收敛很容易解决一些问题。</a:t>
            </a:r>
            <a:endParaRPr lang="zh-CN" altLang="en-US" sz="1400"/>
          </a:p>
          <a:p>
            <a:r>
              <a:rPr lang="zh-CN" altLang="en-US" sz="1400"/>
              <a:t>如果父亲红但是</a:t>
            </a:r>
            <a:r>
              <a:rPr lang="en-US" altLang="zh-CN" sz="1400"/>
              <a:t>uncle</a:t>
            </a:r>
            <a:r>
              <a:rPr lang="zh-CN" altLang="en-US" sz="1400"/>
              <a:t>黑，这时必须要进行旋转，因为物理结构上已经彻底歪了，仅仅依靠染色完全不能解决问题，甚至会往下扩散冲突而不是收敛。</a:t>
            </a:r>
            <a:endParaRPr lang="zh-CN" altLang="en-US" sz="1400"/>
          </a:p>
          <a:p>
            <a:r>
              <a:rPr lang="zh-CN" altLang="en-US" sz="1400"/>
              <a:t>和</a:t>
            </a:r>
            <a:r>
              <a:rPr lang="en-US" altLang="zh-CN" sz="1400"/>
              <a:t>remove</a:t>
            </a:r>
            <a:r>
              <a:rPr lang="zh-CN" altLang="en-US" sz="1400"/>
              <a:t>修复的先染色后旋转不同，这里是先旋转然后染色，因为插入节点的值不确定，我们无法得知他会去到哪个位置，插入时结构在剧烈变动，不走到最后一步，写代码时根本无法用固定的变量去指代那个需要变黑的节点。</a:t>
            </a:r>
            <a:endParaRPr lang="zh-CN" altLang="en-US" sz="14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1"/>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1"/>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叔叔为红：为什么 parent 和 uncle 必须一起染黑</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1"/>
          <p:cNvSpPr>
            <a:spLocks noGrp="1"/>
          </p:cNvSpPr>
          <p:nvPr/>
        </p:nvSpPr>
        <p:spPr>
          <a:xfrm>
            <a:off x="400050" y="1352550"/>
            <a:ext cx="11391900" cy="19050"/>
          </a:xfrm>
          <a:prstGeom prst="rect">
            <a:avLst/>
          </a:prstGeom>
          <a:solidFill>
            <a:srgbClr val="17181C"/>
          </a:solidFill>
          <a:ln w="0">
            <a:noFill/>
            <a:prstDash val="solid"/>
          </a:ln>
        </p:spPr>
      </p:sp>
      <p:sp>
        <p:nvSpPr>
          <p:cNvPr id="5" name="footer_11"/>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11</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1"/>
          <p:cNvSpPr>
            <a:spLocks noGrp="1"/>
          </p:cNvSpPr>
          <p:nvPr/>
        </p:nvSpPr>
        <p:spPr>
          <a:xfrm>
            <a:off x="400050" y="1695450"/>
            <a:ext cx="5095875" cy="3905250"/>
          </a:xfrm>
          <a:prstGeom prst="rect">
            <a:avLst/>
          </a:prstGeom>
          <a:solidFill>
            <a:srgbClr val="F2F3F5"/>
          </a:solidFill>
          <a:ln w="0">
            <a:noFill/>
            <a:prstDash val="solid"/>
          </a:ln>
        </p:spPr>
      </p:sp>
      <p:sp>
        <p:nvSpPr>
          <p:cNvPr id="7" name="after_panel_11"/>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1"/>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处理前：parent 与 uncle 都是红色</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1"/>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处理后：两边同时加黑，grand 用红色抵消</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1_edge_g_p"/>
          <p:cNvSpPr>
            <a:spLocks noGrp="1"/>
          </p:cNvSpPr>
          <p:nvPr/>
        </p:nvSpPr>
        <p:spPr>
          <a:xfrm rot="7591731">
            <a:off x="1628761" y="3343275"/>
            <a:ext cx="1600228" cy="28575"/>
          </a:xfrm>
          <a:prstGeom prst="rect">
            <a:avLst/>
          </a:prstGeom>
          <a:solidFill>
            <a:srgbClr val="B9BDC5"/>
          </a:solidFill>
          <a:ln w="0">
            <a:noFill/>
            <a:prstDash val="solid"/>
          </a:ln>
        </p:spPr>
      </p:sp>
      <p:sp>
        <p:nvSpPr>
          <p:cNvPr id="11" name="before_11_edge_g_u"/>
          <p:cNvSpPr>
            <a:spLocks noGrp="1"/>
          </p:cNvSpPr>
          <p:nvPr/>
        </p:nvSpPr>
        <p:spPr>
          <a:xfrm rot="3208269">
            <a:off x="2581261" y="3343275"/>
            <a:ext cx="1600228" cy="28575"/>
          </a:xfrm>
          <a:prstGeom prst="rect">
            <a:avLst/>
          </a:prstGeom>
          <a:solidFill>
            <a:srgbClr val="B9BDC5"/>
          </a:solidFill>
          <a:ln w="0">
            <a:noFill/>
            <a:prstDash val="solid"/>
          </a:ln>
        </p:spPr>
      </p:sp>
      <p:sp>
        <p:nvSpPr>
          <p:cNvPr id="12" name="before_11_edge_p_n"/>
          <p:cNvSpPr>
            <a:spLocks noGrp="1"/>
          </p:cNvSpPr>
          <p:nvPr/>
        </p:nvSpPr>
        <p:spPr>
          <a:xfrm rot="7053169">
            <a:off x="1049125" y="4533900"/>
            <a:ext cx="1235499" cy="28575"/>
          </a:xfrm>
          <a:prstGeom prst="rect">
            <a:avLst/>
          </a:prstGeom>
          <a:solidFill>
            <a:srgbClr val="B9BDC5"/>
          </a:solidFill>
          <a:ln w="0">
            <a:noFill/>
            <a:prstDash val="solid"/>
          </a:ln>
        </p:spPr>
      </p:sp>
      <p:sp>
        <p:nvSpPr>
          <p:cNvPr id="13" name="before_11_g"/>
          <p:cNvSpPr>
            <a:spLocks noGrp="1"/>
          </p:cNvSpPr>
          <p:nvPr/>
        </p:nvSpPr>
        <p:spPr>
          <a:xfrm>
            <a:off x="2667000" y="2476500"/>
            <a:ext cx="476250" cy="476250"/>
          </a:xfrm>
          <a:prstGeom prst="ellipse">
            <a:avLst/>
          </a:prstGeom>
          <a:solidFill>
            <a:srgbClr val="22242A"/>
          </a:solidFill>
          <a:ln w="9525">
            <a:solidFill>
              <a:srgbClr val="FFFFFF"/>
            </a:solidFill>
            <a:prstDash val="solid"/>
          </a:ln>
        </p:spPr>
      </p:sp>
      <p:sp>
        <p:nvSpPr>
          <p:cNvPr id="14" name="before_11_g_label"/>
          <p:cNvSpPr>
            <a:spLocks noGrp="1"/>
          </p:cNvSpPr>
          <p:nvPr/>
        </p:nvSpPr>
        <p:spPr>
          <a:xfrm>
            <a:off x="2705100" y="2590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before_11_p"/>
          <p:cNvSpPr>
            <a:spLocks noGrp="1"/>
          </p:cNvSpPr>
          <p:nvPr/>
        </p:nvSpPr>
        <p:spPr>
          <a:xfrm>
            <a:off x="1714500" y="3762375"/>
            <a:ext cx="476250" cy="476250"/>
          </a:xfrm>
          <a:prstGeom prst="ellipse">
            <a:avLst/>
          </a:prstGeom>
          <a:solidFill>
            <a:srgbClr val="DE3840"/>
          </a:solidFill>
          <a:ln w="9525">
            <a:solidFill>
              <a:srgbClr val="FFFFFF"/>
            </a:solidFill>
            <a:prstDash val="solid"/>
          </a:ln>
        </p:spPr>
      </p:sp>
      <p:sp>
        <p:nvSpPr>
          <p:cNvPr id="16" name="before_11_p_label"/>
          <p:cNvSpPr>
            <a:spLocks noGrp="1"/>
          </p:cNvSpPr>
          <p:nvPr/>
        </p:nvSpPr>
        <p:spPr>
          <a:xfrm>
            <a:off x="17526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before_11_u"/>
          <p:cNvSpPr>
            <a:spLocks noGrp="1"/>
          </p:cNvSpPr>
          <p:nvPr/>
        </p:nvSpPr>
        <p:spPr>
          <a:xfrm>
            <a:off x="3619500" y="3762375"/>
            <a:ext cx="476250" cy="476250"/>
          </a:xfrm>
          <a:prstGeom prst="ellipse">
            <a:avLst/>
          </a:prstGeom>
          <a:solidFill>
            <a:srgbClr val="DE3840"/>
          </a:solidFill>
          <a:ln w="9525">
            <a:solidFill>
              <a:srgbClr val="FFFFFF"/>
            </a:solidFill>
            <a:prstDash val="solid"/>
          </a:ln>
        </p:spPr>
      </p:sp>
      <p:sp>
        <p:nvSpPr>
          <p:cNvPr id="18" name="before_11_u_label"/>
          <p:cNvSpPr>
            <a:spLocks noGrp="1"/>
          </p:cNvSpPr>
          <p:nvPr/>
        </p:nvSpPr>
        <p:spPr>
          <a:xfrm>
            <a:off x="36576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U</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11_n"/>
          <p:cNvSpPr>
            <a:spLocks noGrp="1"/>
          </p:cNvSpPr>
          <p:nvPr/>
        </p:nvSpPr>
        <p:spPr>
          <a:xfrm>
            <a:off x="1143000" y="4857750"/>
            <a:ext cx="476250" cy="476250"/>
          </a:xfrm>
          <a:prstGeom prst="ellipse">
            <a:avLst/>
          </a:prstGeom>
          <a:solidFill>
            <a:srgbClr val="DE3840"/>
          </a:solidFill>
          <a:ln w="9525">
            <a:solidFill>
              <a:srgbClr val="FFFFFF"/>
            </a:solidFill>
            <a:prstDash val="solid"/>
          </a:ln>
        </p:spPr>
      </p:sp>
      <p:sp>
        <p:nvSpPr>
          <p:cNvPr id="20" name="before_11_n_label"/>
          <p:cNvSpPr>
            <a:spLocks noGrp="1"/>
          </p:cNvSpPr>
          <p:nvPr/>
        </p:nvSpPr>
        <p:spPr>
          <a:xfrm>
            <a:off x="118110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after_11_edge_g_p"/>
          <p:cNvSpPr>
            <a:spLocks noGrp="1"/>
          </p:cNvSpPr>
          <p:nvPr/>
        </p:nvSpPr>
        <p:spPr>
          <a:xfrm rot="7591731">
            <a:off x="7915261" y="3343275"/>
            <a:ext cx="1600228" cy="28575"/>
          </a:xfrm>
          <a:prstGeom prst="rect">
            <a:avLst/>
          </a:prstGeom>
          <a:solidFill>
            <a:srgbClr val="B9BDC5"/>
          </a:solidFill>
          <a:ln w="0">
            <a:noFill/>
            <a:prstDash val="solid"/>
          </a:ln>
        </p:spPr>
      </p:sp>
      <p:sp>
        <p:nvSpPr>
          <p:cNvPr id="22" name="after_11_edge_g_u"/>
          <p:cNvSpPr>
            <a:spLocks noGrp="1"/>
          </p:cNvSpPr>
          <p:nvPr/>
        </p:nvSpPr>
        <p:spPr>
          <a:xfrm rot="3208269">
            <a:off x="8867761" y="3343275"/>
            <a:ext cx="1600228" cy="28575"/>
          </a:xfrm>
          <a:prstGeom prst="rect">
            <a:avLst/>
          </a:prstGeom>
          <a:solidFill>
            <a:srgbClr val="B9BDC5"/>
          </a:solidFill>
          <a:ln w="0">
            <a:noFill/>
            <a:prstDash val="solid"/>
          </a:ln>
        </p:spPr>
      </p:sp>
      <p:sp>
        <p:nvSpPr>
          <p:cNvPr id="23" name="after_11_edge_p_n"/>
          <p:cNvSpPr>
            <a:spLocks noGrp="1"/>
          </p:cNvSpPr>
          <p:nvPr/>
        </p:nvSpPr>
        <p:spPr>
          <a:xfrm rot="7053169">
            <a:off x="7335625" y="4533900"/>
            <a:ext cx="1235499" cy="28575"/>
          </a:xfrm>
          <a:prstGeom prst="rect">
            <a:avLst/>
          </a:prstGeom>
          <a:solidFill>
            <a:srgbClr val="B9BDC5"/>
          </a:solidFill>
          <a:ln w="0">
            <a:noFill/>
            <a:prstDash val="solid"/>
          </a:ln>
        </p:spPr>
      </p:sp>
      <p:sp>
        <p:nvSpPr>
          <p:cNvPr id="24" name="after_11_g"/>
          <p:cNvSpPr>
            <a:spLocks noGrp="1"/>
          </p:cNvSpPr>
          <p:nvPr/>
        </p:nvSpPr>
        <p:spPr>
          <a:xfrm>
            <a:off x="8953500" y="2476500"/>
            <a:ext cx="476250" cy="476250"/>
          </a:xfrm>
          <a:prstGeom prst="ellipse">
            <a:avLst/>
          </a:prstGeom>
          <a:solidFill>
            <a:srgbClr val="DE3840"/>
          </a:solidFill>
          <a:ln w="9525">
            <a:solidFill>
              <a:srgbClr val="FFFFFF"/>
            </a:solidFill>
            <a:prstDash val="solid"/>
          </a:ln>
        </p:spPr>
      </p:sp>
      <p:sp>
        <p:nvSpPr>
          <p:cNvPr id="25" name="after_11_g_label"/>
          <p:cNvSpPr>
            <a:spLocks noGrp="1"/>
          </p:cNvSpPr>
          <p:nvPr/>
        </p:nvSpPr>
        <p:spPr>
          <a:xfrm>
            <a:off x="8991600" y="2590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after_11_p"/>
          <p:cNvSpPr>
            <a:spLocks noGrp="1"/>
          </p:cNvSpPr>
          <p:nvPr/>
        </p:nvSpPr>
        <p:spPr>
          <a:xfrm>
            <a:off x="8001000" y="3762375"/>
            <a:ext cx="476250" cy="476250"/>
          </a:xfrm>
          <a:prstGeom prst="ellipse">
            <a:avLst/>
          </a:prstGeom>
          <a:solidFill>
            <a:srgbClr val="22242A"/>
          </a:solidFill>
          <a:ln w="9525">
            <a:solidFill>
              <a:srgbClr val="FFFFFF"/>
            </a:solidFill>
            <a:prstDash val="solid"/>
          </a:ln>
        </p:spPr>
      </p:sp>
      <p:sp>
        <p:nvSpPr>
          <p:cNvPr id="27" name="after_11_p_label"/>
          <p:cNvSpPr>
            <a:spLocks noGrp="1"/>
          </p:cNvSpPr>
          <p:nvPr/>
        </p:nvSpPr>
        <p:spPr>
          <a:xfrm>
            <a:off x="80391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8" name="after_11_u"/>
          <p:cNvSpPr>
            <a:spLocks noGrp="1"/>
          </p:cNvSpPr>
          <p:nvPr/>
        </p:nvSpPr>
        <p:spPr>
          <a:xfrm>
            <a:off x="9906000" y="3762375"/>
            <a:ext cx="476250" cy="476250"/>
          </a:xfrm>
          <a:prstGeom prst="ellipse">
            <a:avLst/>
          </a:prstGeom>
          <a:solidFill>
            <a:srgbClr val="22242A"/>
          </a:solidFill>
          <a:ln w="9525">
            <a:solidFill>
              <a:srgbClr val="FFFFFF"/>
            </a:solidFill>
            <a:prstDash val="solid"/>
          </a:ln>
        </p:spPr>
      </p:sp>
      <p:sp>
        <p:nvSpPr>
          <p:cNvPr id="29" name="after_11_u_label"/>
          <p:cNvSpPr>
            <a:spLocks noGrp="1"/>
          </p:cNvSpPr>
          <p:nvPr/>
        </p:nvSpPr>
        <p:spPr>
          <a:xfrm>
            <a:off x="99441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U</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after_11_n"/>
          <p:cNvSpPr>
            <a:spLocks noGrp="1"/>
          </p:cNvSpPr>
          <p:nvPr/>
        </p:nvSpPr>
        <p:spPr>
          <a:xfrm>
            <a:off x="7429500" y="4857750"/>
            <a:ext cx="476250" cy="476250"/>
          </a:xfrm>
          <a:prstGeom prst="ellipse">
            <a:avLst/>
          </a:prstGeom>
          <a:solidFill>
            <a:srgbClr val="DE3840"/>
          </a:solidFill>
          <a:ln w="9525">
            <a:solidFill>
              <a:srgbClr val="FFFFFF"/>
            </a:solidFill>
            <a:prstDash val="solid"/>
          </a:ln>
        </p:spPr>
      </p:sp>
      <p:sp>
        <p:nvSpPr>
          <p:cNvPr id="31" name="after_11_n_label"/>
          <p:cNvSpPr>
            <a:spLocks noGrp="1"/>
          </p:cNvSpPr>
          <p:nvPr/>
        </p:nvSpPr>
        <p:spPr>
          <a:xfrm>
            <a:off x="746760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2" name="transition_11_shaft"/>
          <p:cNvSpPr>
            <a:spLocks noGrp="1"/>
          </p:cNvSpPr>
          <p:nvPr/>
        </p:nvSpPr>
        <p:spPr>
          <a:xfrm>
            <a:off x="5810250" y="3600450"/>
            <a:ext cx="571500" cy="38100"/>
          </a:xfrm>
          <a:prstGeom prst="rect">
            <a:avLst/>
          </a:prstGeom>
          <a:solidFill>
            <a:srgbClr val="DE3840"/>
          </a:solidFill>
          <a:ln w="0">
            <a:noFill/>
            <a:prstDash val="solid"/>
          </a:ln>
        </p:spPr>
      </p:sp>
      <p:sp>
        <p:nvSpPr>
          <p:cNvPr id="33" name="transition_11_head_1"/>
          <p:cNvSpPr>
            <a:spLocks noGrp="1"/>
          </p:cNvSpPr>
          <p:nvPr/>
        </p:nvSpPr>
        <p:spPr>
          <a:xfrm rot="8856000">
            <a:off x="6276347" y="3631073"/>
            <a:ext cx="114300" cy="38100"/>
          </a:xfrm>
          <a:prstGeom prst="rect">
            <a:avLst/>
          </a:prstGeom>
          <a:solidFill>
            <a:srgbClr val="DE3840"/>
          </a:solidFill>
          <a:ln w="0">
            <a:noFill/>
            <a:prstDash val="solid"/>
          </a:ln>
        </p:spPr>
      </p:sp>
      <p:sp>
        <p:nvSpPr>
          <p:cNvPr id="34" name="transition_11_head_2"/>
          <p:cNvSpPr>
            <a:spLocks noGrp="1"/>
          </p:cNvSpPr>
          <p:nvPr/>
        </p:nvSpPr>
        <p:spPr>
          <a:xfrm rot="-8856000">
            <a:off x="6276347" y="3569827"/>
            <a:ext cx="114300" cy="38100"/>
          </a:xfrm>
          <a:prstGeom prst="rect">
            <a:avLst/>
          </a:prstGeom>
          <a:solidFill>
            <a:srgbClr val="DE3840"/>
          </a:solidFill>
          <a:ln w="0">
            <a:noFill/>
            <a:prstDash val="solid"/>
          </a:ln>
        </p:spPr>
      </p:sp>
      <p:sp>
        <p:nvSpPr>
          <p:cNvPr id="35" name="transition_caption_11"/>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只染 parent 会让左边黑高增加、右边不变。parent 与 uncle 必须成对变化；grand 再染红，抵消这一层新增的黑色。</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2"/>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2"/>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折线形态：先旋 parent，是为了把问题变成直线</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2"/>
          <p:cNvSpPr>
            <a:spLocks noGrp="1"/>
          </p:cNvSpPr>
          <p:nvPr/>
        </p:nvSpPr>
        <p:spPr>
          <a:xfrm>
            <a:off x="400050" y="1352550"/>
            <a:ext cx="11391900" cy="19050"/>
          </a:xfrm>
          <a:prstGeom prst="rect">
            <a:avLst/>
          </a:prstGeom>
          <a:solidFill>
            <a:srgbClr val="17181C"/>
          </a:solidFill>
          <a:ln w="0">
            <a:noFill/>
            <a:prstDash val="solid"/>
          </a:ln>
        </p:spPr>
      </p:sp>
      <p:sp>
        <p:nvSpPr>
          <p:cNvPr id="5" name="footer_12"/>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12</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2"/>
          <p:cNvSpPr>
            <a:spLocks noGrp="1"/>
          </p:cNvSpPr>
          <p:nvPr/>
        </p:nvSpPr>
        <p:spPr>
          <a:xfrm>
            <a:off x="400050" y="1695450"/>
            <a:ext cx="5095875" cy="3905250"/>
          </a:xfrm>
          <a:prstGeom prst="rect">
            <a:avLst/>
          </a:prstGeom>
          <a:solidFill>
            <a:srgbClr val="F2F3F5"/>
          </a:solidFill>
          <a:ln w="0">
            <a:noFill/>
            <a:prstDash val="solid"/>
          </a:ln>
        </p:spPr>
      </p:sp>
      <p:sp>
        <p:nvSpPr>
          <p:cNvPr id="7" name="after_panel_12"/>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2"/>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RL：node 在 parent 的左边</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2"/>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围绕 parent 右旋以后，变成 RR 直线</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2_edge_g_p"/>
          <p:cNvSpPr>
            <a:spLocks noGrp="1"/>
          </p:cNvSpPr>
          <p:nvPr/>
        </p:nvSpPr>
        <p:spPr>
          <a:xfrm rot="2919133">
            <a:off x="2397879" y="3248025"/>
            <a:ext cx="1585991" cy="28575"/>
          </a:xfrm>
          <a:prstGeom prst="rect">
            <a:avLst/>
          </a:prstGeom>
          <a:solidFill>
            <a:srgbClr val="B9BDC5"/>
          </a:solidFill>
          <a:ln w="0">
            <a:noFill/>
            <a:prstDash val="solid"/>
          </a:ln>
        </p:spPr>
      </p:sp>
      <p:sp>
        <p:nvSpPr>
          <p:cNvPr id="11" name="before_12_edge_p_n"/>
          <p:cNvSpPr>
            <a:spLocks noGrp="1"/>
          </p:cNvSpPr>
          <p:nvPr/>
        </p:nvSpPr>
        <p:spPr>
          <a:xfrm rot="6993903">
            <a:off x="2790044" y="4414838"/>
            <a:ext cx="1277913" cy="28575"/>
          </a:xfrm>
          <a:prstGeom prst="rect">
            <a:avLst/>
          </a:prstGeom>
          <a:solidFill>
            <a:srgbClr val="B9BDC5"/>
          </a:solidFill>
          <a:ln w="0">
            <a:noFill/>
            <a:prstDash val="solid"/>
          </a:ln>
        </p:spPr>
      </p:sp>
      <p:sp>
        <p:nvSpPr>
          <p:cNvPr id="12" name="before_12_g"/>
          <p:cNvSpPr>
            <a:spLocks noGrp="1"/>
          </p:cNvSpPr>
          <p:nvPr/>
        </p:nvSpPr>
        <p:spPr>
          <a:xfrm>
            <a:off x="2428875" y="2428875"/>
            <a:ext cx="476250" cy="476250"/>
          </a:xfrm>
          <a:prstGeom prst="ellipse">
            <a:avLst/>
          </a:prstGeom>
          <a:solidFill>
            <a:srgbClr val="22242A"/>
          </a:solidFill>
          <a:ln w="9525">
            <a:solidFill>
              <a:srgbClr val="FFFFFF"/>
            </a:solidFill>
            <a:prstDash val="solid"/>
          </a:ln>
        </p:spPr>
      </p:sp>
      <p:sp>
        <p:nvSpPr>
          <p:cNvPr id="13" name="before_12_g_label"/>
          <p:cNvSpPr>
            <a:spLocks noGrp="1"/>
          </p:cNvSpPr>
          <p:nvPr/>
        </p:nvSpPr>
        <p:spPr>
          <a:xfrm>
            <a:off x="2466975" y="2543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before_12_p"/>
          <p:cNvSpPr>
            <a:spLocks noGrp="1"/>
          </p:cNvSpPr>
          <p:nvPr/>
        </p:nvSpPr>
        <p:spPr>
          <a:xfrm>
            <a:off x="3476625" y="3619500"/>
            <a:ext cx="476250" cy="476250"/>
          </a:xfrm>
          <a:prstGeom prst="ellipse">
            <a:avLst/>
          </a:prstGeom>
          <a:solidFill>
            <a:srgbClr val="DE3840"/>
          </a:solidFill>
          <a:ln w="9525">
            <a:solidFill>
              <a:srgbClr val="FFFFFF"/>
            </a:solidFill>
            <a:prstDash val="solid"/>
          </a:ln>
        </p:spPr>
      </p:sp>
      <p:sp>
        <p:nvSpPr>
          <p:cNvPr id="15" name="before_12_p_label"/>
          <p:cNvSpPr>
            <a:spLocks noGrp="1"/>
          </p:cNvSpPr>
          <p:nvPr/>
        </p:nvSpPr>
        <p:spPr>
          <a:xfrm>
            <a:off x="3514725" y="3733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12_n"/>
          <p:cNvSpPr>
            <a:spLocks noGrp="1"/>
          </p:cNvSpPr>
          <p:nvPr/>
        </p:nvSpPr>
        <p:spPr>
          <a:xfrm>
            <a:off x="2905125" y="4762500"/>
            <a:ext cx="476250" cy="476250"/>
          </a:xfrm>
          <a:prstGeom prst="ellipse">
            <a:avLst/>
          </a:prstGeom>
          <a:solidFill>
            <a:srgbClr val="DE3840"/>
          </a:solidFill>
          <a:ln w="9525">
            <a:solidFill>
              <a:srgbClr val="FFFFFF"/>
            </a:solidFill>
            <a:prstDash val="solid"/>
          </a:ln>
        </p:spPr>
      </p:sp>
      <p:sp>
        <p:nvSpPr>
          <p:cNvPr id="17" name="before_12_n_label"/>
          <p:cNvSpPr>
            <a:spLocks noGrp="1"/>
          </p:cNvSpPr>
          <p:nvPr/>
        </p:nvSpPr>
        <p:spPr>
          <a:xfrm>
            <a:off x="2943225" y="4876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after_12_edge_g_n"/>
          <p:cNvSpPr>
            <a:spLocks noGrp="1"/>
          </p:cNvSpPr>
          <p:nvPr/>
        </p:nvSpPr>
        <p:spPr>
          <a:xfrm rot="2919133">
            <a:off x="8589129" y="3248025"/>
            <a:ext cx="1585991" cy="28575"/>
          </a:xfrm>
          <a:prstGeom prst="rect">
            <a:avLst/>
          </a:prstGeom>
          <a:solidFill>
            <a:srgbClr val="B9BDC5"/>
          </a:solidFill>
          <a:ln w="0">
            <a:noFill/>
            <a:prstDash val="solid"/>
          </a:ln>
        </p:spPr>
      </p:sp>
      <p:sp>
        <p:nvSpPr>
          <p:cNvPr id="19" name="after_12_edge_n_p"/>
          <p:cNvSpPr>
            <a:spLocks noGrp="1"/>
          </p:cNvSpPr>
          <p:nvPr/>
        </p:nvSpPr>
        <p:spPr>
          <a:xfrm rot="3806097">
            <a:off x="9552794" y="4414838"/>
            <a:ext cx="1277913" cy="28575"/>
          </a:xfrm>
          <a:prstGeom prst="rect">
            <a:avLst/>
          </a:prstGeom>
          <a:solidFill>
            <a:srgbClr val="B9BDC5"/>
          </a:solidFill>
          <a:ln w="0">
            <a:noFill/>
            <a:prstDash val="solid"/>
          </a:ln>
        </p:spPr>
      </p:sp>
      <p:sp>
        <p:nvSpPr>
          <p:cNvPr id="20" name="after_12_g"/>
          <p:cNvSpPr>
            <a:spLocks noGrp="1"/>
          </p:cNvSpPr>
          <p:nvPr/>
        </p:nvSpPr>
        <p:spPr>
          <a:xfrm>
            <a:off x="8620125" y="2428875"/>
            <a:ext cx="476250" cy="476250"/>
          </a:xfrm>
          <a:prstGeom prst="ellipse">
            <a:avLst/>
          </a:prstGeom>
          <a:solidFill>
            <a:srgbClr val="22242A"/>
          </a:solidFill>
          <a:ln w="9525">
            <a:solidFill>
              <a:srgbClr val="FFFFFF"/>
            </a:solidFill>
            <a:prstDash val="solid"/>
          </a:ln>
        </p:spPr>
      </p:sp>
      <p:sp>
        <p:nvSpPr>
          <p:cNvPr id="21" name="after_12_g_label"/>
          <p:cNvSpPr>
            <a:spLocks noGrp="1"/>
          </p:cNvSpPr>
          <p:nvPr/>
        </p:nvSpPr>
        <p:spPr>
          <a:xfrm>
            <a:off x="8658225" y="2543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after_12_n"/>
          <p:cNvSpPr>
            <a:spLocks noGrp="1"/>
          </p:cNvSpPr>
          <p:nvPr/>
        </p:nvSpPr>
        <p:spPr>
          <a:xfrm>
            <a:off x="9667875" y="3619500"/>
            <a:ext cx="476250" cy="476250"/>
          </a:xfrm>
          <a:prstGeom prst="ellipse">
            <a:avLst/>
          </a:prstGeom>
          <a:solidFill>
            <a:srgbClr val="DE3840"/>
          </a:solidFill>
          <a:ln w="9525">
            <a:solidFill>
              <a:srgbClr val="FFFFFF"/>
            </a:solidFill>
            <a:prstDash val="solid"/>
          </a:ln>
        </p:spPr>
      </p:sp>
      <p:sp>
        <p:nvSpPr>
          <p:cNvPr id="23" name="after_12_n_label"/>
          <p:cNvSpPr>
            <a:spLocks noGrp="1"/>
          </p:cNvSpPr>
          <p:nvPr/>
        </p:nvSpPr>
        <p:spPr>
          <a:xfrm>
            <a:off x="9705975" y="3733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after_12_p"/>
          <p:cNvSpPr>
            <a:spLocks noGrp="1"/>
          </p:cNvSpPr>
          <p:nvPr/>
        </p:nvSpPr>
        <p:spPr>
          <a:xfrm>
            <a:off x="10239375" y="4762500"/>
            <a:ext cx="476250" cy="476250"/>
          </a:xfrm>
          <a:prstGeom prst="ellipse">
            <a:avLst/>
          </a:prstGeom>
          <a:solidFill>
            <a:srgbClr val="DE3840"/>
          </a:solidFill>
          <a:ln w="9525">
            <a:solidFill>
              <a:srgbClr val="FFFFFF"/>
            </a:solidFill>
            <a:prstDash val="solid"/>
          </a:ln>
        </p:spPr>
      </p:sp>
      <p:sp>
        <p:nvSpPr>
          <p:cNvPr id="25" name="after_12_p_label"/>
          <p:cNvSpPr>
            <a:spLocks noGrp="1"/>
          </p:cNvSpPr>
          <p:nvPr/>
        </p:nvSpPr>
        <p:spPr>
          <a:xfrm>
            <a:off x="10277475" y="4876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transition_12_shaft"/>
          <p:cNvSpPr>
            <a:spLocks noGrp="1"/>
          </p:cNvSpPr>
          <p:nvPr/>
        </p:nvSpPr>
        <p:spPr>
          <a:xfrm>
            <a:off x="5810250" y="3600450"/>
            <a:ext cx="571500" cy="38100"/>
          </a:xfrm>
          <a:prstGeom prst="rect">
            <a:avLst/>
          </a:prstGeom>
          <a:solidFill>
            <a:srgbClr val="DE3840"/>
          </a:solidFill>
          <a:ln w="0">
            <a:noFill/>
            <a:prstDash val="solid"/>
          </a:ln>
        </p:spPr>
      </p:sp>
      <p:sp>
        <p:nvSpPr>
          <p:cNvPr id="27" name="transition_12_head_1"/>
          <p:cNvSpPr>
            <a:spLocks noGrp="1"/>
          </p:cNvSpPr>
          <p:nvPr/>
        </p:nvSpPr>
        <p:spPr>
          <a:xfrm rot="8856000">
            <a:off x="6276347" y="3631073"/>
            <a:ext cx="114300" cy="38100"/>
          </a:xfrm>
          <a:prstGeom prst="rect">
            <a:avLst/>
          </a:prstGeom>
          <a:solidFill>
            <a:srgbClr val="DE3840"/>
          </a:solidFill>
          <a:ln w="0">
            <a:noFill/>
            <a:prstDash val="solid"/>
          </a:ln>
        </p:spPr>
      </p:sp>
      <p:sp>
        <p:nvSpPr>
          <p:cNvPr id="28" name="transition_12_head_2"/>
          <p:cNvSpPr>
            <a:spLocks noGrp="1"/>
          </p:cNvSpPr>
          <p:nvPr/>
        </p:nvSpPr>
        <p:spPr>
          <a:xfrm rot="-8856000">
            <a:off x="6276347" y="3569827"/>
            <a:ext cx="114300" cy="38100"/>
          </a:xfrm>
          <a:prstGeom prst="rect">
            <a:avLst/>
          </a:prstGeom>
          <a:solidFill>
            <a:srgbClr val="DE3840"/>
          </a:solidFill>
          <a:ln w="0">
            <a:noFill/>
            <a:prstDash val="solid"/>
          </a:ln>
        </p:spPr>
      </p:sp>
      <p:sp>
        <p:nvSpPr>
          <p:cNvPr id="29" name="transition_caption_12"/>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折线不能直接围绕 grand 做最终旋转。先把中间节点 N 转到 P 上面，下一页才可以用一次 grand 左旋收尾。</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3"/>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3"/>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第一次旋转以后，为什么不能继续相信旧的 parent 和 grand</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3"/>
          <p:cNvSpPr>
            <a:spLocks noGrp="1"/>
          </p:cNvSpPr>
          <p:nvPr/>
        </p:nvSpPr>
        <p:spPr>
          <a:xfrm>
            <a:off x="400050" y="1352550"/>
            <a:ext cx="11391900" cy="19050"/>
          </a:xfrm>
          <a:prstGeom prst="rect">
            <a:avLst/>
          </a:prstGeom>
          <a:solidFill>
            <a:srgbClr val="17181C"/>
          </a:solidFill>
          <a:ln w="0">
            <a:noFill/>
            <a:prstDash val="solid"/>
          </a:ln>
        </p:spPr>
      </p:sp>
      <p:sp>
        <p:nvSpPr>
          <p:cNvPr id="5" name="footer_13"/>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13</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13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变量名不会跟着树形自动改身份</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13_42"/>
          <p:cNvSpPr>
            <a:spLocks noGrp="1"/>
          </p:cNvSpPr>
          <p:nvPr/>
        </p:nvSpPr>
        <p:spPr>
          <a:xfrm>
            <a:off x="400050" y="2305050"/>
            <a:ext cx="66675" cy="3629025"/>
          </a:xfrm>
          <a:prstGeom prst="rect">
            <a:avLst/>
          </a:prstGeom>
          <a:solidFill>
            <a:srgbClr val="DE3840"/>
          </a:solidFill>
          <a:ln w="0">
            <a:noFill/>
            <a:prstDash val="solid"/>
          </a:ln>
        </p:spPr>
      </p:sp>
      <p:sp>
        <p:nvSpPr>
          <p:cNvPr id="8" name="reason_body_13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旋转前，局部顺序是 grand → parent → node。围绕 parent 旋转以后，原来的 node 被转到上面，原来的 parent 反而沉到下面。</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这时 C++ 变量 parent 仍然保存旧地址，它只是名字叫 parent，已经不一定是当前 node 的真正父亲。</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所以代码重新读取 parent = node-&gt;parent；grand = node-&gt;parent-&gt;parent。这里的出发点不是“多写两句更保险”，而是旋转已经改变关系，后续判断必须以仍然可信的 node 为锚点重新观察结构。</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13_665"/>
          <p:cNvSpPr>
            <a:spLocks noGrp="1"/>
          </p:cNvSpPr>
          <p:nvPr/>
        </p:nvSpPr>
        <p:spPr>
          <a:xfrm>
            <a:off x="6334125" y="1809750"/>
            <a:ext cx="5095875" cy="3143250"/>
          </a:xfrm>
          <a:prstGeom prst="rect">
            <a:avLst/>
          </a:prstGeom>
          <a:solidFill>
            <a:srgbClr val="202126"/>
          </a:solidFill>
          <a:ln w="0">
            <a:noFill/>
            <a:prstDash val="solid"/>
          </a:ln>
        </p:spPr>
      </p:sp>
      <p:sp>
        <p:nvSpPr>
          <p:cNvPr id="10" name="code_hl_13_0"/>
          <p:cNvSpPr>
            <a:spLocks noGrp="1"/>
          </p:cNvSpPr>
          <p:nvPr/>
        </p:nvSpPr>
        <p:spPr>
          <a:xfrm>
            <a:off x="6410325" y="1914525"/>
            <a:ext cx="4943475" cy="238125"/>
          </a:xfrm>
          <a:prstGeom prst="rect">
            <a:avLst/>
          </a:prstGeom>
          <a:solidFill>
            <a:srgbClr val="56362F"/>
          </a:solidFill>
          <a:ln w="0">
            <a:noFill/>
            <a:prstDash val="solid"/>
          </a:ln>
        </p:spPr>
      </p:sp>
      <p:sp>
        <p:nvSpPr>
          <p:cNvPr id="11" name="code_line_13_0"/>
          <p:cNvSpPr>
            <a:spLocks noGrp="1"/>
          </p:cNvSpPr>
          <p:nvPr/>
        </p:nvSpPr>
        <p:spPr>
          <a:xfrm>
            <a:off x="6496050" y="19050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parent-&gt;rightRotate();</a:t>
            </a:r>
            <a:endParaRPr sz="975" b="0">
              <a:solidFill>
                <a:srgbClr val="FFD1BF"/>
              </a:solidFill>
              <a:latin typeface="Consolas" panose="020B0609020204030204"/>
              <a:ea typeface="Consolas" panose="020B0609020204030204"/>
              <a:cs typeface="Consolas" panose="020B0609020204030204"/>
            </a:endParaRPr>
          </a:p>
        </p:txBody>
      </p:sp>
      <p:sp>
        <p:nvSpPr>
          <p:cNvPr id="12" name="code_hl_13_1"/>
          <p:cNvSpPr>
            <a:spLocks noGrp="1"/>
          </p:cNvSpPr>
          <p:nvPr/>
        </p:nvSpPr>
        <p:spPr>
          <a:xfrm>
            <a:off x="6410325" y="2152650"/>
            <a:ext cx="4943475" cy="238125"/>
          </a:xfrm>
          <a:prstGeom prst="rect">
            <a:avLst/>
          </a:prstGeom>
          <a:solidFill>
            <a:srgbClr val="56362F"/>
          </a:solidFill>
          <a:ln w="0">
            <a:noFill/>
            <a:prstDash val="solid"/>
          </a:ln>
        </p:spPr>
      </p:sp>
      <p:sp>
        <p:nvSpPr>
          <p:cNvPr id="13" name="code_line_13_1"/>
          <p:cNvSpPr>
            <a:spLocks noGrp="1"/>
          </p:cNvSpPr>
          <p:nvPr/>
        </p:nvSpPr>
        <p:spPr>
          <a:xfrm>
            <a:off x="6496050" y="214312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node = node-&gt;right;</a:t>
            </a:r>
            <a:endParaRPr sz="975" b="0">
              <a:solidFill>
                <a:srgbClr val="FFD1BF"/>
              </a:solidFill>
              <a:latin typeface="Consolas" panose="020B0609020204030204"/>
              <a:ea typeface="Consolas" panose="020B0609020204030204"/>
              <a:cs typeface="Consolas" panose="020B0609020204030204"/>
            </a:endParaRPr>
          </a:p>
        </p:txBody>
      </p:sp>
      <p:sp>
        <p:nvSpPr>
          <p:cNvPr id="14" name="code_line_13_2"/>
          <p:cNvSpPr>
            <a:spLocks noGrp="1"/>
          </p:cNvSpPr>
          <p:nvPr/>
        </p:nvSpPr>
        <p:spPr>
          <a:xfrm>
            <a:off x="6496050" y="2381250"/>
            <a:ext cx="4810125" cy="238125"/>
          </a:xfrm>
          <a:prstGeom prst="rect">
            <a:avLst/>
          </a:prstGeom>
          <a:noFill/>
          <a:ln w="0">
            <a:noFill/>
            <a:prstDash val="solid"/>
          </a:ln>
        </p:spPr>
        <p:txBody>
          <a:bodyPr lIns="0" tIns="0" rIns="0" bIns="0" anchor="t"/>
          <a:lstStyle/>
          <a:p/>
        </p:txBody>
      </p:sp>
      <p:sp>
        <p:nvSpPr>
          <p:cNvPr id="15" name="code_line_13_3"/>
          <p:cNvSpPr>
            <a:spLocks noGrp="1"/>
          </p:cNvSpPr>
          <p:nvPr/>
        </p:nvSpPr>
        <p:spPr>
          <a:xfrm>
            <a:off x="6496050" y="261937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旧 parent / grand 已经过期</a:t>
            </a:r>
            <a:endParaRPr sz="975" b="0">
              <a:solidFill>
                <a:srgbClr val="E7E7EA"/>
              </a:solidFill>
              <a:latin typeface="Consolas" panose="020B0609020204030204"/>
              <a:ea typeface="Consolas" panose="020B0609020204030204"/>
              <a:cs typeface="Consolas" panose="020B0609020204030204"/>
            </a:endParaRPr>
          </a:p>
        </p:txBody>
      </p:sp>
      <p:sp>
        <p:nvSpPr>
          <p:cNvPr id="16" name="code_hl_13_4"/>
          <p:cNvSpPr>
            <a:spLocks noGrp="1"/>
          </p:cNvSpPr>
          <p:nvPr/>
        </p:nvSpPr>
        <p:spPr>
          <a:xfrm>
            <a:off x="6410325" y="2867025"/>
            <a:ext cx="4943475" cy="238125"/>
          </a:xfrm>
          <a:prstGeom prst="rect">
            <a:avLst/>
          </a:prstGeom>
          <a:solidFill>
            <a:srgbClr val="56362F"/>
          </a:solidFill>
          <a:ln w="0">
            <a:noFill/>
            <a:prstDash val="solid"/>
          </a:ln>
        </p:spPr>
      </p:sp>
      <p:sp>
        <p:nvSpPr>
          <p:cNvPr id="17" name="code_line_13_4"/>
          <p:cNvSpPr>
            <a:spLocks noGrp="1"/>
          </p:cNvSpPr>
          <p:nvPr/>
        </p:nvSpPr>
        <p:spPr>
          <a:xfrm>
            <a:off x="6496050" y="28575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parent = node-&gt;parent;</a:t>
            </a:r>
            <a:endParaRPr sz="975" b="0">
              <a:solidFill>
                <a:srgbClr val="FFD1BF"/>
              </a:solidFill>
              <a:latin typeface="Consolas" panose="020B0609020204030204"/>
              <a:ea typeface="Consolas" panose="020B0609020204030204"/>
              <a:cs typeface="Consolas" panose="020B0609020204030204"/>
            </a:endParaRPr>
          </a:p>
        </p:txBody>
      </p:sp>
      <p:sp>
        <p:nvSpPr>
          <p:cNvPr id="18" name="code_hl_13_5"/>
          <p:cNvSpPr>
            <a:spLocks noGrp="1"/>
          </p:cNvSpPr>
          <p:nvPr/>
        </p:nvSpPr>
        <p:spPr>
          <a:xfrm>
            <a:off x="6410325" y="3105150"/>
            <a:ext cx="4943475" cy="238125"/>
          </a:xfrm>
          <a:prstGeom prst="rect">
            <a:avLst/>
          </a:prstGeom>
          <a:solidFill>
            <a:srgbClr val="56362F"/>
          </a:solidFill>
          <a:ln w="0">
            <a:noFill/>
            <a:prstDash val="solid"/>
          </a:ln>
        </p:spPr>
      </p:sp>
      <p:sp>
        <p:nvSpPr>
          <p:cNvPr id="19" name="code_line_13_5"/>
          <p:cNvSpPr>
            <a:spLocks noGrp="1"/>
          </p:cNvSpPr>
          <p:nvPr/>
        </p:nvSpPr>
        <p:spPr>
          <a:xfrm>
            <a:off x="6496050" y="309562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grand = node-&gt;parent-&gt;parent;</a:t>
            </a:r>
            <a:endParaRPr sz="975" b="0">
              <a:solidFill>
                <a:srgbClr val="FFD1BF"/>
              </a:solidFill>
              <a:latin typeface="Consolas" panose="020B0609020204030204"/>
              <a:ea typeface="Consolas" panose="020B0609020204030204"/>
              <a:cs typeface="Consolas" panose="020B0609020204030204"/>
            </a:endParaRPr>
          </a:p>
        </p:txBody>
      </p:sp>
      <p:sp>
        <p:nvSpPr>
          <p:cNvPr id="20" name="code_line_13_6"/>
          <p:cNvSpPr>
            <a:spLocks noGrp="1"/>
          </p:cNvSpPr>
          <p:nvPr/>
        </p:nvSpPr>
        <p:spPr>
          <a:xfrm>
            <a:off x="6496050" y="3333750"/>
            <a:ext cx="4810125" cy="238125"/>
          </a:xfrm>
          <a:prstGeom prst="rect">
            <a:avLst/>
          </a:prstGeom>
          <a:noFill/>
          <a:ln w="0">
            <a:noFill/>
            <a:prstDash val="solid"/>
          </a:ln>
        </p:spPr>
        <p:txBody>
          <a:bodyPr lIns="0" tIns="0" rIns="0" bIns="0" anchor="t"/>
          <a:lstStyle/>
          <a:p/>
        </p:txBody>
      </p:sp>
      <p:sp>
        <p:nvSpPr>
          <p:cNvPr id="21" name="code_line_13_7"/>
          <p:cNvSpPr>
            <a:spLocks noGrp="1"/>
          </p:cNvSpPr>
          <p:nvPr/>
        </p:nvSpPr>
        <p:spPr>
          <a:xfrm>
            <a:off x="6496050" y="357187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if (node == parent-&gt;left)</a:t>
            </a:r>
            <a:endParaRPr sz="975" b="0">
              <a:solidFill>
                <a:srgbClr val="E7E7EA"/>
              </a:solidFill>
              <a:latin typeface="Consolas" panose="020B0609020204030204"/>
              <a:ea typeface="Consolas" panose="020B0609020204030204"/>
              <a:cs typeface="Consolas" panose="020B0609020204030204"/>
            </a:endParaRPr>
          </a:p>
        </p:txBody>
      </p:sp>
      <p:sp>
        <p:nvSpPr>
          <p:cNvPr id="22" name="code_line_13_8"/>
          <p:cNvSpPr>
            <a:spLocks noGrp="1"/>
          </p:cNvSpPr>
          <p:nvPr/>
        </p:nvSpPr>
        <p:spPr>
          <a:xfrm>
            <a:off x="6496050" y="381000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grand-&gt;rightRotate();</a:t>
            </a:r>
            <a:endParaRPr sz="975" b="0">
              <a:solidFill>
                <a:srgbClr val="E7E7EA"/>
              </a:solidFill>
              <a:latin typeface="Consolas" panose="020B0609020204030204"/>
              <a:ea typeface="Consolas" panose="020B0609020204030204"/>
              <a:cs typeface="Consolas" panose="020B0609020204030204"/>
            </a:endParaRPr>
          </a:p>
        </p:txBody>
      </p:sp>
      <p:sp>
        <p:nvSpPr>
          <p:cNvPr id="23" name="code_line_13_9"/>
          <p:cNvSpPr>
            <a:spLocks noGrp="1"/>
          </p:cNvSpPr>
          <p:nvPr/>
        </p:nvSpPr>
        <p:spPr>
          <a:xfrm>
            <a:off x="6496050" y="404812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else</a:t>
            </a:r>
            <a:endParaRPr sz="975" b="0">
              <a:solidFill>
                <a:srgbClr val="E7E7EA"/>
              </a:solidFill>
              <a:latin typeface="Consolas" panose="020B0609020204030204"/>
              <a:ea typeface="Consolas" panose="020B0609020204030204"/>
              <a:cs typeface="Consolas" panose="020B0609020204030204"/>
            </a:endParaRPr>
          </a:p>
        </p:txBody>
      </p:sp>
      <p:sp>
        <p:nvSpPr>
          <p:cNvPr id="24" name="code_line_13_10"/>
          <p:cNvSpPr>
            <a:spLocks noGrp="1"/>
          </p:cNvSpPr>
          <p:nvPr/>
        </p:nvSpPr>
        <p:spPr>
          <a:xfrm>
            <a:off x="6496050" y="42862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grand-&gt;leftRotate();</a:t>
            </a:r>
            <a:endParaRPr sz="975" b="0">
              <a:solidFill>
                <a:srgbClr val="E7E7EA"/>
              </a:solidFill>
              <a:latin typeface="Consolas" panose="020B0609020204030204"/>
              <a:ea typeface="Consolas" panose="020B0609020204030204"/>
              <a:cs typeface="Consolas" panose="020B0609020204030204"/>
            </a:endParaRPr>
          </a:p>
        </p:txBody>
      </p:sp>
      <p:sp>
        <p:nvSpPr>
          <p:cNvPr id="25" name="takeaway_13"/>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DE3840"/>
                </a:solidFill>
                <a:latin typeface="微软雅黑" panose="020B0503020204020204" charset="-122"/>
                <a:ea typeface="微软雅黑" panose="020B0503020204020204" charset="-122"/>
                <a:cs typeface="微软雅黑" panose="020B0503020204020204" charset="-122"/>
              </a:defRPr>
            </a:pPr>
            <a:r>
              <a:rPr sz="1575" b="1">
                <a:solidFill>
                  <a:srgbClr val="DE3840"/>
                </a:solidFill>
                <a:latin typeface="微软雅黑" panose="020B0503020204020204" charset="-122"/>
                <a:ea typeface="微软雅黑" panose="020B0503020204020204" charset="-122"/>
                <a:cs typeface="微软雅黑" panose="020B0503020204020204" charset="-122"/>
              </a:rPr>
              <a:t>旋转之后先重新认亲，再继续改指针。</a:t>
            </a:r>
            <a:endParaRPr sz="1575" b="1">
              <a:solidFill>
                <a:srgbClr val="DE3840"/>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4"/>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04 · 插入</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4"/>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直线形态：围绕 grand 旋转，再让 parent 与 grand 换色</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4"/>
          <p:cNvSpPr>
            <a:spLocks noGrp="1"/>
          </p:cNvSpPr>
          <p:nvPr/>
        </p:nvSpPr>
        <p:spPr>
          <a:xfrm>
            <a:off x="400050" y="1352550"/>
            <a:ext cx="11391900" cy="19050"/>
          </a:xfrm>
          <a:prstGeom prst="rect">
            <a:avLst/>
          </a:prstGeom>
          <a:solidFill>
            <a:srgbClr val="17181C"/>
          </a:solidFill>
          <a:ln w="0">
            <a:noFill/>
            <a:prstDash val="solid"/>
          </a:ln>
        </p:spPr>
      </p:sp>
      <p:sp>
        <p:nvSpPr>
          <p:cNvPr id="5" name="footer_14"/>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14</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4"/>
          <p:cNvSpPr>
            <a:spLocks noGrp="1"/>
          </p:cNvSpPr>
          <p:nvPr/>
        </p:nvSpPr>
        <p:spPr>
          <a:xfrm>
            <a:off x="400050" y="1695450"/>
            <a:ext cx="5095875" cy="3905250"/>
          </a:xfrm>
          <a:prstGeom prst="rect">
            <a:avLst/>
          </a:prstGeom>
          <a:solidFill>
            <a:srgbClr val="F2F3F5"/>
          </a:solidFill>
          <a:ln w="0">
            <a:noFill/>
            <a:prstDash val="solid"/>
          </a:ln>
        </p:spPr>
      </p:sp>
      <p:sp>
        <p:nvSpPr>
          <p:cNvPr id="7" name="after_panel_14"/>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4"/>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RR 直线：红红冲突仍在</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4"/>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grand 左旋：P 上升，G 与 N 分居两侧</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4_edge_g_p"/>
          <p:cNvSpPr>
            <a:spLocks noGrp="1"/>
          </p:cNvSpPr>
          <p:nvPr/>
        </p:nvSpPr>
        <p:spPr>
          <a:xfrm rot="3127501">
            <a:off x="2019175" y="3200400"/>
            <a:ext cx="1629026" cy="28575"/>
          </a:xfrm>
          <a:prstGeom prst="rect">
            <a:avLst/>
          </a:prstGeom>
          <a:solidFill>
            <a:srgbClr val="B9BDC5"/>
          </a:solidFill>
          <a:ln w="0">
            <a:noFill/>
            <a:prstDash val="solid"/>
          </a:ln>
        </p:spPr>
      </p:sp>
      <p:sp>
        <p:nvSpPr>
          <p:cNvPr id="11" name="before_14_edge_p_n"/>
          <p:cNvSpPr>
            <a:spLocks noGrp="1"/>
          </p:cNvSpPr>
          <p:nvPr/>
        </p:nvSpPr>
        <p:spPr>
          <a:xfrm rot="3254767">
            <a:off x="3028811" y="4438650"/>
            <a:ext cx="1467128" cy="28575"/>
          </a:xfrm>
          <a:prstGeom prst="rect">
            <a:avLst/>
          </a:prstGeom>
          <a:solidFill>
            <a:srgbClr val="B9BDC5"/>
          </a:solidFill>
          <a:ln w="0">
            <a:noFill/>
            <a:prstDash val="solid"/>
          </a:ln>
        </p:spPr>
      </p:sp>
      <p:sp>
        <p:nvSpPr>
          <p:cNvPr id="12" name="before_14_g"/>
          <p:cNvSpPr>
            <a:spLocks noGrp="1"/>
          </p:cNvSpPr>
          <p:nvPr/>
        </p:nvSpPr>
        <p:spPr>
          <a:xfrm>
            <a:off x="2095500" y="2333625"/>
            <a:ext cx="476250" cy="476250"/>
          </a:xfrm>
          <a:prstGeom prst="ellipse">
            <a:avLst/>
          </a:prstGeom>
          <a:solidFill>
            <a:srgbClr val="22242A"/>
          </a:solidFill>
          <a:ln w="9525">
            <a:solidFill>
              <a:srgbClr val="FFFFFF"/>
            </a:solidFill>
            <a:prstDash val="solid"/>
          </a:ln>
        </p:spPr>
      </p:sp>
      <p:sp>
        <p:nvSpPr>
          <p:cNvPr id="13" name="before_14_g_label"/>
          <p:cNvSpPr>
            <a:spLocks noGrp="1"/>
          </p:cNvSpPr>
          <p:nvPr/>
        </p:nvSpPr>
        <p:spPr>
          <a:xfrm>
            <a:off x="2133600" y="2447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before_14_p"/>
          <p:cNvSpPr>
            <a:spLocks noGrp="1"/>
          </p:cNvSpPr>
          <p:nvPr/>
        </p:nvSpPr>
        <p:spPr>
          <a:xfrm>
            <a:off x="3095625" y="3619500"/>
            <a:ext cx="476250" cy="476250"/>
          </a:xfrm>
          <a:prstGeom prst="ellipse">
            <a:avLst/>
          </a:prstGeom>
          <a:solidFill>
            <a:srgbClr val="DE3840"/>
          </a:solidFill>
          <a:ln w="9525">
            <a:solidFill>
              <a:srgbClr val="FFFFFF"/>
            </a:solidFill>
            <a:prstDash val="solid"/>
          </a:ln>
        </p:spPr>
      </p:sp>
      <p:sp>
        <p:nvSpPr>
          <p:cNvPr id="15" name="before_14_p_label"/>
          <p:cNvSpPr>
            <a:spLocks noGrp="1"/>
          </p:cNvSpPr>
          <p:nvPr/>
        </p:nvSpPr>
        <p:spPr>
          <a:xfrm>
            <a:off x="3133725" y="3733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14_n"/>
          <p:cNvSpPr>
            <a:spLocks noGrp="1"/>
          </p:cNvSpPr>
          <p:nvPr/>
        </p:nvSpPr>
        <p:spPr>
          <a:xfrm>
            <a:off x="3952875" y="4810125"/>
            <a:ext cx="476250" cy="476250"/>
          </a:xfrm>
          <a:prstGeom prst="ellipse">
            <a:avLst/>
          </a:prstGeom>
          <a:solidFill>
            <a:srgbClr val="DE3840"/>
          </a:solidFill>
          <a:ln w="9525">
            <a:solidFill>
              <a:srgbClr val="FFFFFF"/>
            </a:solidFill>
            <a:prstDash val="solid"/>
          </a:ln>
        </p:spPr>
      </p:sp>
      <p:sp>
        <p:nvSpPr>
          <p:cNvPr id="17" name="before_14_n_label"/>
          <p:cNvSpPr>
            <a:spLocks noGrp="1"/>
          </p:cNvSpPr>
          <p:nvPr/>
        </p:nvSpPr>
        <p:spPr>
          <a:xfrm>
            <a:off x="3990975" y="49244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after_14_edge_p_g"/>
          <p:cNvSpPr>
            <a:spLocks noGrp="1"/>
          </p:cNvSpPr>
          <p:nvPr/>
        </p:nvSpPr>
        <p:spPr>
          <a:xfrm rot="7521748">
            <a:off x="7810187" y="3581400"/>
            <a:ext cx="1810377" cy="28575"/>
          </a:xfrm>
          <a:prstGeom prst="rect">
            <a:avLst/>
          </a:prstGeom>
          <a:solidFill>
            <a:srgbClr val="B9BDC5"/>
          </a:solidFill>
          <a:ln w="0">
            <a:noFill/>
            <a:prstDash val="solid"/>
          </a:ln>
        </p:spPr>
      </p:sp>
      <p:sp>
        <p:nvSpPr>
          <p:cNvPr id="19" name="after_14_edge_p_n"/>
          <p:cNvSpPr>
            <a:spLocks noGrp="1"/>
          </p:cNvSpPr>
          <p:nvPr/>
        </p:nvSpPr>
        <p:spPr>
          <a:xfrm rot="3278252">
            <a:off x="8857937" y="3581400"/>
            <a:ext cx="1810377" cy="28575"/>
          </a:xfrm>
          <a:prstGeom prst="rect">
            <a:avLst/>
          </a:prstGeom>
          <a:solidFill>
            <a:srgbClr val="B9BDC5"/>
          </a:solidFill>
          <a:ln w="0">
            <a:noFill/>
            <a:prstDash val="solid"/>
          </a:ln>
        </p:spPr>
      </p:sp>
      <p:sp>
        <p:nvSpPr>
          <p:cNvPr id="20" name="after_14_p"/>
          <p:cNvSpPr>
            <a:spLocks noGrp="1"/>
          </p:cNvSpPr>
          <p:nvPr/>
        </p:nvSpPr>
        <p:spPr>
          <a:xfrm>
            <a:off x="9001125" y="2619375"/>
            <a:ext cx="476250" cy="476250"/>
          </a:xfrm>
          <a:prstGeom prst="ellipse">
            <a:avLst/>
          </a:prstGeom>
          <a:solidFill>
            <a:srgbClr val="22242A"/>
          </a:solidFill>
          <a:ln w="9525">
            <a:solidFill>
              <a:srgbClr val="FFFFFF"/>
            </a:solidFill>
            <a:prstDash val="solid"/>
          </a:ln>
        </p:spPr>
      </p:sp>
      <p:sp>
        <p:nvSpPr>
          <p:cNvPr id="21" name="after_14_p_label"/>
          <p:cNvSpPr>
            <a:spLocks noGrp="1"/>
          </p:cNvSpPr>
          <p:nvPr/>
        </p:nvSpPr>
        <p:spPr>
          <a:xfrm>
            <a:off x="9039225" y="2733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after_14_g"/>
          <p:cNvSpPr>
            <a:spLocks noGrp="1"/>
          </p:cNvSpPr>
          <p:nvPr/>
        </p:nvSpPr>
        <p:spPr>
          <a:xfrm>
            <a:off x="7953375" y="4095750"/>
            <a:ext cx="476250" cy="476250"/>
          </a:xfrm>
          <a:prstGeom prst="ellipse">
            <a:avLst/>
          </a:prstGeom>
          <a:solidFill>
            <a:srgbClr val="DE3840"/>
          </a:solidFill>
          <a:ln w="9525">
            <a:solidFill>
              <a:srgbClr val="FFFFFF"/>
            </a:solidFill>
            <a:prstDash val="solid"/>
          </a:ln>
        </p:spPr>
      </p:sp>
      <p:sp>
        <p:nvSpPr>
          <p:cNvPr id="23" name="after_14_g_label"/>
          <p:cNvSpPr>
            <a:spLocks noGrp="1"/>
          </p:cNvSpPr>
          <p:nvPr/>
        </p:nvSpPr>
        <p:spPr>
          <a:xfrm>
            <a:off x="7991475" y="4210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G</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after_14_n"/>
          <p:cNvSpPr>
            <a:spLocks noGrp="1"/>
          </p:cNvSpPr>
          <p:nvPr/>
        </p:nvSpPr>
        <p:spPr>
          <a:xfrm>
            <a:off x="10048875" y="4095750"/>
            <a:ext cx="476250" cy="476250"/>
          </a:xfrm>
          <a:prstGeom prst="ellipse">
            <a:avLst/>
          </a:prstGeom>
          <a:solidFill>
            <a:srgbClr val="DE3840"/>
          </a:solidFill>
          <a:ln w="9525">
            <a:solidFill>
              <a:srgbClr val="FFFFFF"/>
            </a:solidFill>
            <a:prstDash val="solid"/>
          </a:ln>
        </p:spPr>
      </p:sp>
      <p:sp>
        <p:nvSpPr>
          <p:cNvPr id="25" name="after_14_n_label"/>
          <p:cNvSpPr>
            <a:spLocks noGrp="1"/>
          </p:cNvSpPr>
          <p:nvPr/>
        </p:nvSpPr>
        <p:spPr>
          <a:xfrm>
            <a:off x="10086975" y="4210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transition_14_shaft"/>
          <p:cNvSpPr>
            <a:spLocks noGrp="1"/>
          </p:cNvSpPr>
          <p:nvPr/>
        </p:nvSpPr>
        <p:spPr>
          <a:xfrm>
            <a:off x="5810250" y="3600450"/>
            <a:ext cx="571500" cy="38100"/>
          </a:xfrm>
          <a:prstGeom prst="rect">
            <a:avLst/>
          </a:prstGeom>
          <a:solidFill>
            <a:srgbClr val="DE3840"/>
          </a:solidFill>
          <a:ln w="0">
            <a:noFill/>
            <a:prstDash val="solid"/>
          </a:ln>
        </p:spPr>
      </p:sp>
      <p:sp>
        <p:nvSpPr>
          <p:cNvPr id="27" name="transition_14_head_1"/>
          <p:cNvSpPr>
            <a:spLocks noGrp="1"/>
          </p:cNvSpPr>
          <p:nvPr/>
        </p:nvSpPr>
        <p:spPr>
          <a:xfrm rot="8856000">
            <a:off x="6276347" y="3631073"/>
            <a:ext cx="114300" cy="38100"/>
          </a:xfrm>
          <a:prstGeom prst="rect">
            <a:avLst/>
          </a:prstGeom>
          <a:solidFill>
            <a:srgbClr val="DE3840"/>
          </a:solidFill>
          <a:ln w="0">
            <a:noFill/>
            <a:prstDash val="solid"/>
          </a:ln>
        </p:spPr>
      </p:sp>
      <p:sp>
        <p:nvSpPr>
          <p:cNvPr id="28" name="transition_14_head_2"/>
          <p:cNvSpPr>
            <a:spLocks noGrp="1"/>
          </p:cNvSpPr>
          <p:nvPr/>
        </p:nvSpPr>
        <p:spPr>
          <a:xfrm rot="-8856000">
            <a:off x="6276347" y="3569827"/>
            <a:ext cx="114300" cy="38100"/>
          </a:xfrm>
          <a:prstGeom prst="rect">
            <a:avLst/>
          </a:prstGeom>
          <a:solidFill>
            <a:srgbClr val="DE3840"/>
          </a:solidFill>
          <a:ln w="0">
            <a:noFill/>
            <a:prstDash val="solid"/>
          </a:ln>
        </p:spPr>
      </p:sp>
      <p:sp>
        <p:nvSpPr>
          <p:cNvPr id="29" name="transition_caption_14"/>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结构旋转解决“谁在中间”，颜色交换解决红红冲突。P 染黑、G 染红以后，局部根到两侧的黑高仍然相等。</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5"/>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05 · 旋转</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5"/>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leftRotate 第一步：先接住中间子树，绝对不能先覆盖 root-&gt;left</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5"/>
          <p:cNvSpPr>
            <a:spLocks noGrp="1"/>
          </p:cNvSpPr>
          <p:nvPr/>
        </p:nvSpPr>
        <p:spPr>
          <a:xfrm>
            <a:off x="400050" y="1352550"/>
            <a:ext cx="11391900" cy="19050"/>
          </a:xfrm>
          <a:prstGeom prst="rect">
            <a:avLst/>
          </a:prstGeom>
          <a:solidFill>
            <a:srgbClr val="17181C"/>
          </a:solidFill>
          <a:ln w="0">
            <a:noFill/>
            <a:prstDash val="solid"/>
          </a:ln>
        </p:spPr>
      </p:sp>
      <p:sp>
        <p:nvSpPr>
          <p:cNvPr id="5" name="footer_15"/>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15</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5"/>
          <p:cNvSpPr>
            <a:spLocks noGrp="1"/>
          </p:cNvSpPr>
          <p:nvPr/>
        </p:nvSpPr>
        <p:spPr>
          <a:xfrm>
            <a:off x="400050" y="1695450"/>
            <a:ext cx="5095875" cy="3905250"/>
          </a:xfrm>
          <a:prstGeom prst="rect">
            <a:avLst/>
          </a:prstGeom>
          <a:solidFill>
            <a:srgbClr val="F2F3F5"/>
          </a:solidFill>
          <a:ln w="0">
            <a:noFill/>
            <a:prstDash val="solid"/>
          </a:ln>
        </p:spPr>
      </p:sp>
      <p:sp>
        <p:nvSpPr>
          <p:cNvPr id="7" name="after_panel_15"/>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5"/>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旋转前：Y 的左子树 β 位于 X 与 Y 之间</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5"/>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旋转后：β 只能改挂到 X 的右边</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5_edge_x_y"/>
          <p:cNvSpPr>
            <a:spLocks noGrp="1"/>
          </p:cNvSpPr>
          <p:nvPr/>
        </p:nvSpPr>
        <p:spPr>
          <a:xfrm rot="2105749">
            <a:off x="1947346" y="3319463"/>
            <a:ext cx="2153682" cy="28575"/>
          </a:xfrm>
          <a:prstGeom prst="rect">
            <a:avLst/>
          </a:prstGeom>
          <a:solidFill>
            <a:srgbClr val="B9BDC5"/>
          </a:solidFill>
          <a:ln w="0">
            <a:noFill/>
            <a:prstDash val="solid"/>
          </a:ln>
        </p:spPr>
      </p:sp>
      <p:sp>
        <p:nvSpPr>
          <p:cNvPr id="11" name="before_15_edge_y_b"/>
          <p:cNvSpPr>
            <a:spLocks noGrp="1"/>
          </p:cNvSpPr>
          <p:nvPr/>
        </p:nvSpPr>
        <p:spPr>
          <a:xfrm rot="7215386">
            <a:off x="2910247" y="4510088"/>
            <a:ext cx="1323255" cy="28575"/>
          </a:xfrm>
          <a:prstGeom prst="rect">
            <a:avLst/>
          </a:prstGeom>
          <a:solidFill>
            <a:srgbClr val="B9BDC5"/>
          </a:solidFill>
          <a:ln w="0">
            <a:noFill/>
            <a:prstDash val="solid"/>
          </a:ln>
        </p:spPr>
      </p:sp>
      <p:sp>
        <p:nvSpPr>
          <p:cNvPr id="12" name="before_15_edge_y_g"/>
          <p:cNvSpPr>
            <a:spLocks noGrp="1"/>
          </p:cNvSpPr>
          <p:nvPr/>
        </p:nvSpPr>
        <p:spPr>
          <a:xfrm rot="3479677">
            <a:off x="3588497" y="4510088"/>
            <a:ext cx="1347880" cy="28575"/>
          </a:xfrm>
          <a:prstGeom prst="rect">
            <a:avLst/>
          </a:prstGeom>
          <a:solidFill>
            <a:srgbClr val="B9BDC5"/>
          </a:solidFill>
          <a:ln w="0">
            <a:noFill/>
            <a:prstDash val="solid"/>
          </a:ln>
        </p:spPr>
      </p:sp>
      <p:sp>
        <p:nvSpPr>
          <p:cNvPr id="13" name="before_15_x"/>
          <p:cNvSpPr>
            <a:spLocks noGrp="1"/>
          </p:cNvSpPr>
          <p:nvPr/>
        </p:nvSpPr>
        <p:spPr>
          <a:xfrm>
            <a:off x="1905000" y="2476500"/>
            <a:ext cx="476250" cy="476250"/>
          </a:xfrm>
          <a:prstGeom prst="ellipse">
            <a:avLst/>
          </a:prstGeom>
          <a:solidFill>
            <a:srgbClr val="22242A"/>
          </a:solidFill>
          <a:ln w="9525">
            <a:solidFill>
              <a:srgbClr val="FFFFFF"/>
            </a:solidFill>
            <a:prstDash val="solid"/>
          </a:ln>
        </p:spPr>
      </p:sp>
      <p:sp>
        <p:nvSpPr>
          <p:cNvPr id="14" name="before_15_x_label"/>
          <p:cNvSpPr>
            <a:spLocks noGrp="1"/>
          </p:cNvSpPr>
          <p:nvPr/>
        </p:nvSpPr>
        <p:spPr>
          <a:xfrm>
            <a:off x="1943100" y="2590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X</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before_15_y"/>
          <p:cNvSpPr>
            <a:spLocks noGrp="1"/>
          </p:cNvSpPr>
          <p:nvPr/>
        </p:nvSpPr>
        <p:spPr>
          <a:xfrm>
            <a:off x="3667125" y="3714750"/>
            <a:ext cx="476250" cy="476250"/>
          </a:xfrm>
          <a:prstGeom prst="ellipse">
            <a:avLst/>
          </a:prstGeom>
          <a:solidFill>
            <a:srgbClr val="DE3840"/>
          </a:solidFill>
          <a:ln w="9525">
            <a:solidFill>
              <a:srgbClr val="FFFFFF"/>
            </a:solidFill>
            <a:prstDash val="solid"/>
          </a:ln>
        </p:spPr>
      </p:sp>
      <p:sp>
        <p:nvSpPr>
          <p:cNvPr id="16" name="before_15_y_label"/>
          <p:cNvSpPr>
            <a:spLocks noGrp="1"/>
          </p:cNvSpPr>
          <p:nvPr/>
        </p:nvSpPr>
        <p:spPr>
          <a:xfrm>
            <a:off x="3705225" y="3829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Y</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before_15_b"/>
          <p:cNvSpPr>
            <a:spLocks noGrp="1"/>
          </p:cNvSpPr>
          <p:nvPr/>
        </p:nvSpPr>
        <p:spPr>
          <a:xfrm>
            <a:off x="3000375" y="4857750"/>
            <a:ext cx="476250" cy="476250"/>
          </a:xfrm>
          <a:prstGeom prst="ellipse">
            <a:avLst/>
          </a:prstGeom>
          <a:solidFill>
            <a:srgbClr val="22242A"/>
          </a:solidFill>
          <a:ln w="9525">
            <a:solidFill>
              <a:srgbClr val="FFFFFF"/>
            </a:solidFill>
            <a:prstDash val="solid"/>
          </a:ln>
        </p:spPr>
      </p:sp>
      <p:sp>
        <p:nvSpPr>
          <p:cNvPr id="18" name="before_15_b_label"/>
          <p:cNvSpPr>
            <a:spLocks noGrp="1"/>
          </p:cNvSpPr>
          <p:nvPr/>
        </p:nvSpPr>
        <p:spPr>
          <a:xfrm>
            <a:off x="3038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β</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15_g"/>
          <p:cNvSpPr>
            <a:spLocks noGrp="1"/>
          </p:cNvSpPr>
          <p:nvPr/>
        </p:nvSpPr>
        <p:spPr>
          <a:xfrm>
            <a:off x="4381500" y="4857750"/>
            <a:ext cx="476250" cy="476250"/>
          </a:xfrm>
          <a:prstGeom prst="ellipse">
            <a:avLst/>
          </a:prstGeom>
          <a:solidFill>
            <a:srgbClr val="22242A"/>
          </a:solidFill>
          <a:ln w="9525">
            <a:solidFill>
              <a:srgbClr val="FFFFFF"/>
            </a:solidFill>
            <a:prstDash val="solid"/>
          </a:ln>
        </p:spPr>
      </p:sp>
      <p:sp>
        <p:nvSpPr>
          <p:cNvPr id="20" name="before_15_g_label"/>
          <p:cNvSpPr>
            <a:spLocks noGrp="1"/>
          </p:cNvSpPr>
          <p:nvPr/>
        </p:nvSpPr>
        <p:spPr>
          <a:xfrm>
            <a:off x="441960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γ</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after_15_edge_y_x"/>
          <p:cNvSpPr>
            <a:spLocks noGrp="1"/>
          </p:cNvSpPr>
          <p:nvPr/>
        </p:nvSpPr>
        <p:spPr>
          <a:xfrm rot="8160305">
            <a:off x="7684025" y="3367088"/>
            <a:ext cx="1919825" cy="28575"/>
          </a:xfrm>
          <a:prstGeom prst="rect">
            <a:avLst/>
          </a:prstGeom>
          <a:solidFill>
            <a:srgbClr val="B9BDC5"/>
          </a:solidFill>
          <a:ln w="0">
            <a:noFill/>
            <a:prstDash val="solid"/>
          </a:ln>
        </p:spPr>
      </p:sp>
      <p:sp>
        <p:nvSpPr>
          <p:cNvPr id="22" name="after_15_edge_y_g"/>
          <p:cNvSpPr>
            <a:spLocks noGrp="1"/>
          </p:cNvSpPr>
          <p:nvPr/>
        </p:nvSpPr>
        <p:spPr>
          <a:xfrm rot="2639695">
            <a:off x="9065150" y="3367088"/>
            <a:ext cx="1919825" cy="28575"/>
          </a:xfrm>
          <a:prstGeom prst="rect">
            <a:avLst/>
          </a:prstGeom>
          <a:solidFill>
            <a:srgbClr val="B9BDC5"/>
          </a:solidFill>
          <a:ln w="0">
            <a:noFill/>
            <a:prstDash val="solid"/>
          </a:ln>
        </p:spPr>
      </p:sp>
      <p:sp>
        <p:nvSpPr>
          <p:cNvPr id="23" name="after_15_edge_x_b"/>
          <p:cNvSpPr>
            <a:spLocks noGrp="1"/>
          </p:cNvSpPr>
          <p:nvPr/>
        </p:nvSpPr>
        <p:spPr>
          <a:xfrm rot="3565246">
            <a:off x="7654436" y="4557713"/>
            <a:ext cx="1217003" cy="28575"/>
          </a:xfrm>
          <a:prstGeom prst="rect">
            <a:avLst/>
          </a:prstGeom>
          <a:solidFill>
            <a:srgbClr val="B9BDC5"/>
          </a:solidFill>
          <a:ln w="0">
            <a:noFill/>
            <a:prstDash val="solid"/>
          </a:ln>
        </p:spPr>
      </p:sp>
      <p:sp>
        <p:nvSpPr>
          <p:cNvPr id="24" name="after_15_y"/>
          <p:cNvSpPr>
            <a:spLocks noGrp="1"/>
          </p:cNvSpPr>
          <p:nvPr/>
        </p:nvSpPr>
        <p:spPr>
          <a:xfrm>
            <a:off x="9096375" y="2476500"/>
            <a:ext cx="476250" cy="476250"/>
          </a:xfrm>
          <a:prstGeom prst="ellipse">
            <a:avLst/>
          </a:prstGeom>
          <a:solidFill>
            <a:srgbClr val="DE3840"/>
          </a:solidFill>
          <a:ln w="9525">
            <a:solidFill>
              <a:srgbClr val="FFFFFF"/>
            </a:solidFill>
            <a:prstDash val="solid"/>
          </a:ln>
        </p:spPr>
      </p:sp>
      <p:sp>
        <p:nvSpPr>
          <p:cNvPr id="25" name="after_15_y_label"/>
          <p:cNvSpPr>
            <a:spLocks noGrp="1"/>
          </p:cNvSpPr>
          <p:nvPr/>
        </p:nvSpPr>
        <p:spPr>
          <a:xfrm>
            <a:off x="9134475" y="2590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Y</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after_15_x"/>
          <p:cNvSpPr>
            <a:spLocks noGrp="1"/>
          </p:cNvSpPr>
          <p:nvPr/>
        </p:nvSpPr>
        <p:spPr>
          <a:xfrm>
            <a:off x="7715250" y="3810000"/>
            <a:ext cx="476250" cy="476250"/>
          </a:xfrm>
          <a:prstGeom prst="ellipse">
            <a:avLst/>
          </a:prstGeom>
          <a:solidFill>
            <a:srgbClr val="22242A"/>
          </a:solidFill>
          <a:ln w="9525">
            <a:solidFill>
              <a:srgbClr val="FFFFFF"/>
            </a:solidFill>
            <a:prstDash val="solid"/>
          </a:ln>
        </p:spPr>
      </p:sp>
      <p:sp>
        <p:nvSpPr>
          <p:cNvPr id="27" name="after_15_x_label"/>
          <p:cNvSpPr>
            <a:spLocks noGrp="1"/>
          </p:cNvSpPr>
          <p:nvPr/>
        </p:nvSpPr>
        <p:spPr>
          <a:xfrm>
            <a:off x="7753350" y="3924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X</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8" name="after_15_g"/>
          <p:cNvSpPr>
            <a:spLocks noGrp="1"/>
          </p:cNvSpPr>
          <p:nvPr/>
        </p:nvSpPr>
        <p:spPr>
          <a:xfrm>
            <a:off x="10477500" y="3810000"/>
            <a:ext cx="476250" cy="476250"/>
          </a:xfrm>
          <a:prstGeom prst="ellipse">
            <a:avLst/>
          </a:prstGeom>
          <a:solidFill>
            <a:srgbClr val="22242A"/>
          </a:solidFill>
          <a:ln w="9525">
            <a:solidFill>
              <a:srgbClr val="FFFFFF"/>
            </a:solidFill>
            <a:prstDash val="solid"/>
          </a:ln>
        </p:spPr>
      </p:sp>
      <p:sp>
        <p:nvSpPr>
          <p:cNvPr id="29" name="after_15_g_label"/>
          <p:cNvSpPr>
            <a:spLocks noGrp="1"/>
          </p:cNvSpPr>
          <p:nvPr/>
        </p:nvSpPr>
        <p:spPr>
          <a:xfrm>
            <a:off x="10515600" y="3924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γ</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after_15_b"/>
          <p:cNvSpPr>
            <a:spLocks noGrp="1"/>
          </p:cNvSpPr>
          <p:nvPr/>
        </p:nvSpPr>
        <p:spPr>
          <a:xfrm>
            <a:off x="8334375" y="4857750"/>
            <a:ext cx="476250" cy="476250"/>
          </a:xfrm>
          <a:prstGeom prst="ellipse">
            <a:avLst/>
          </a:prstGeom>
          <a:solidFill>
            <a:srgbClr val="22242A"/>
          </a:solidFill>
          <a:ln w="9525">
            <a:solidFill>
              <a:srgbClr val="FFFFFF"/>
            </a:solidFill>
            <a:prstDash val="solid"/>
          </a:ln>
        </p:spPr>
      </p:sp>
      <p:sp>
        <p:nvSpPr>
          <p:cNvPr id="31" name="after_15_b_label"/>
          <p:cNvSpPr>
            <a:spLocks noGrp="1"/>
          </p:cNvSpPr>
          <p:nvPr/>
        </p:nvSpPr>
        <p:spPr>
          <a:xfrm>
            <a:off x="8372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β</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2" name="transition_15_shaft"/>
          <p:cNvSpPr>
            <a:spLocks noGrp="1"/>
          </p:cNvSpPr>
          <p:nvPr/>
        </p:nvSpPr>
        <p:spPr>
          <a:xfrm>
            <a:off x="5810250" y="3600450"/>
            <a:ext cx="571500" cy="38100"/>
          </a:xfrm>
          <a:prstGeom prst="rect">
            <a:avLst/>
          </a:prstGeom>
          <a:solidFill>
            <a:srgbClr val="DE3840"/>
          </a:solidFill>
          <a:ln w="0">
            <a:noFill/>
            <a:prstDash val="solid"/>
          </a:ln>
        </p:spPr>
      </p:sp>
      <p:sp>
        <p:nvSpPr>
          <p:cNvPr id="33" name="transition_15_head_1"/>
          <p:cNvSpPr>
            <a:spLocks noGrp="1"/>
          </p:cNvSpPr>
          <p:nvPr/>
        </p:nvSpPr>
        <p:spPr>
          <a:xfrm rot="8856000">
            <a:off x="6276347" y="3631073"/>
            <a:ext cx="114300" cy="38100"/>
          </a:xfrm>
          <a:prstGeom prst="rect">
            <a:avLst/>
          </a:prstGeom>
          <a:solidFill>
            <a:srgbClr val="DE3840"/>
          </a:solidFill>
          <a:ln w="0">
            <a:noFill/>
            <a:prstDash val="solid"/>
          </a:ln>
        </p:spPr>
      </p:sp>
      <p:sp>
        <p:nvSpPr>
          <p:cNvPr id="34" name="transition_15_head_2"/>
          <p:cNvSpPr>
            <a:spLocks noGrp="1"/>
          </p:cNvSpPr>
          <p:nvPr/>
        </p:nvSpPr>
        <p:spPr>
          <a:xfrm rot="-8856000">
            <a:off x="6276347" y="3569827"/>
            <a:ext cx="114300" cy="38100"/>
          </a:xfrm>
          <a:prstGeom prst="rect">
            <a:avLst/>
          </a:prstGeom>
          <a:solidFill>
            <a:srgbClr val="DE3840"/>
          </a:solidFill>
          <a:ln w="0">
            <a:noFill/>
            <a:prstDash val="solid"/>
          </a:ln>
        </p:spPr>
      </p:sp>
      <p:sp>
        <p:nvSpPr>
          <p:cNvPr id="35" name="transition_caption_15"/>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先执行 this-&gt;right = root-&gt;left，再执行 root-&gt;left = this。顺序反过来，β 的入口会被覆盖，整棵中间子树就找不回来了。</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6"/>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05 · 旋转</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6"/>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leftRotate 还没结束：局部内部正确，不代表外部仍然连得上</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6"/>
          <p:cNvSpPr>
            <a:spLocks noGrp="1"/>
          </p:cNvSpPr>
          <p:nvPr/>
        </p:nvSpPr>
        <p:spPr>
          <a:xfrm>
            <a:off x="400050" y="1352550"/>
            <a:ext cx="11391900" cy="19050"/>
          </a:xfrm>
          <a:prstGeom prst="rect">
            <a:avLst/>
          </a:prstGeom>
          <a:solidFill>
            <a:srgbClr val="17181C"/>
          </a:solidFill>
          <a:ln w="0">
            <a:noFill/>
            <a:prstDash val="solid"/>
          </a:ln>
        </p:spPr>
      </p:sp>
      <p:sp>
        <p:nvSpPr>
          <p:cNvPr id="5" name="footer_16"/>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16</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16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旋转至少要补三座桥</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16_42"/>
          <p:cNvSpPr>
            <a:spLocks noGrp="1"/>
          </p:cNvSpPr>
          <p:nvPr/>
        </p:nvSpPr>
        <p:spPr>
          <a:xfrm>
            <a:off x="400050" y="2305050"/>
            <a:ext cx="66675" cy="3724275"/>
          </a:xfrm>
          <a:prstGeom prst="rect">
            <a:avLst/>
          </a:prstGeom>
          <a:solidFill>
            <a:srgbClr val="DE3840"/>
          </a:solidFill>
          <a:ln w="0">
            <a:noFill/>
            <a:prstDash val="solid"/>
          </a:ln>
        </p:spPr>
      </p:sp>
      <p:sp>
        <p:nvSpPr>
          <p:cNvPr id="8" name="reason_body_16_42"/>
          <p:cNvSpPr>
            <a:spLocks noGrp="1"/>
          </p:cNvSpPr>
          <p:nvPr/>
        </p:nvSpPr>
        <p:spPr>
          <a:xfrm>
            <a:off x="628650" y="2419350"/>
            <a:ext cx="5429250" cy="357187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第一座桥是中间子树 β：它从 Y 的左边改挂到 X 的右边，β-&gt;parent 也要改成 X。</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第二座桥是外部父亲：旋转前外部指向 X，旋转后必须改为指向 Y。否则局部内部看起来正确，但从整棵树的 root 向下根本走不到新局部根。</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第三座桥是 X 与 Y 的 parent：Y 继承 X 原来的 parent，X 的 parent 改成 Y。</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最后，如果 Y 已经没有 parent，说明它同时成了总根，还必须写 tree-&gt;root = Y。</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16_665"/>
          <p:cNvSpPr>
            <a:spLocks noGrp="1"/>
          </p:cNvSpPr>
          <p:nvPr/>
        </p:nvSpPr>
        <p:spPr>
          <a:xfrm>
            <a:off x="6334125" y="1714500"/>
            <a:ext cx="5095875" cy="3667125"/>
          </a:xfrm>
          <a:prstGeom prst="rect">
            <a:avLst/>
          </a:prstGeom>
          <a:solidFill>
            <a:srgbClr val="202126"/>
          </a:solidFill>
          <a:ln w="0">
            <a:noFill/>
            <a:prstDash val="solid"/>
          </a:ln>
        </p:spPr>
      </p:sp>
      <p:sp>
        <p:nvSpPr>
          <p:cNvPr id="10" name="code_hl_16_0"/>
          <p:cNvSpPr>
            <a:spLocks noGrp="1"/>
          </p:cNvSpPr>
          <p:nvPr/>
        </p:nvSpPr>
        <p:spPr>
          <a:xfrm>
            <a:off x="6410325" y="1819275"/>
            <a:ext cx="4943475" cy="238125"/>
          </a:xfrm>
          <a:prstGeom prst="rect">
            <a:avLst/>
          </a:prstGeom>
          <a:solidFill>
            <a:srgbClr val="56362F"/>
          </a:solidFill>
          <a:ln w="0">
            <a:noFill/>
            <a:prstDash val="solid"/>
          </a:ln>
        </p:spPr>
      </p:sp>
      <p:sp>
        <p:nvSpPr>
          <p:cNvPr id="11" name="code_line_16_0"/>
          <p:cNvSpPr>
            <a:spLocks noGrp="1"/>
          </p:cNvSpPr>
          <p:nvPr/>
        </p:nvSpPr>
        <p:spPr>
          <a:xfrm>
            <a:off x="6496050" y="180975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root-&gt;parent = this-&gt;parent;</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16_1"/>
          <p:cNvSpPr>
            <a:spLocks noGrp="1"/>
          </p:cNvSpPr>
          <p:nvPr/>
        </p:nvSpPr>
        <p:spPr>
          <a:xfrm>
            <a:off x="6496050" y="2047875"/>
            <a:ext cx="4810125" cy="238125"/>
          </a:xfrm>
          <a:prstGeom prst="rect">
            <a:avLst/>
          </a:prstGeom>
          <a:noFill/>
          <a:ln w="0">
            <a:noFill/>
            <a:prstDash val="solid"/>
          </a:ln>
        </p:spPr>
        <p:txBody>
          <a:bodyPr lIns="0" tIns="0" rIns="0" bIns="0" anchor="t"/>
          <a:lstStyle/>
          <a:p/>
        </p:txBody>
      </p:sp>
      <p:sp>
        <p:nvSpPr>
          <p:cNvPr id="13" name="code_hl_16_2"/>
          <p:cNvSpPr>
            <a:spLocks noGrp="1"/>
          </p:cNvSpPr>
          <p:nvPr/>
        </p:nvSpPr>
        <p:spPr>
          <a:xfrm>
            <a:off x="6410325" y="2295525"/>
            <a:ext cx="4943475" cy="238125"/>
          </a:xfrm>
          <a:prstGeom prst="rect">
            <a:avLst/>
          </a:prstGeom>
          <a:solidFill>
            <a:srgbClr val="56362F"/>
          </a:solidFill>
          <a:ln w="0">
            <a:noFill/>
            <a:prstDash val="solid"/>
          </a:ln>
        </p:spPr>
      </p:sp>
      <p:sp>
        <p:nvSpPr>
          <p:cNvPr id="14" name="code_line_16_2"/>
          <p:cNvSpPr>
            <a:spLocks noGrp="1"/>
          </p:cNvSpPr>
          <p:nvPr/>
        </p:nvSpPr>
        <p:spPr>
          <a:xfrm>
            <a:off x="6496050" y="22860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(this-&gt;parent != NULL)</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16_3"/>
          <p:cNvSpPr>
            <a:spLocks noGrp="1"/>
          </p:cNvSpPr>
          <p:nvPr/>
        </p:nvSpPr>
        <p:spPr>
          <a:xfrm>
            <a:off x="6496050" y="2524125"/>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6" name="code_line_16_4"/>
          <p:cNvSpPr>
            <a:spLocks noGrp="1"/>
          </p:cNvSpPr>
          <p:nvPr/>
        </p:nvSpPr>
        <p:spPr>
          <a:xfrm>
            <a:off x="6496050" y="27622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if (this-&gt;parent-&gt;left == this)</a:t>
            </a:r>
            <a:endParaRPr sz="975" b="0">
              <a:solidFill>
                <a:srgbClr val="E7E7EA"/>
              </a:solidFill>
              <a:latin typeface="Consolas" panose="020B0609020204030204"/>
              <a:ea typeface="Consolas" panose="020B0609020204030204"/>
              <a:cs typeface="Consolas" panose="020B0609020204030204"/>
            </a:endParaRPr>
          </a:p>
        </p:txBody>
      </p:sp>
      <p:sp>
        <p:nvSpPr>
          <p:cNvPr id="17" name="code_hl_16_5"/>
          <p:cNvSpPr>
            <a:spLocks noGrp="1"/>
          </p:cNvSpPr>
          <p:nvPr/>
        </p:nvSpPr>
        <p:spPr>
          <a:xfrm>
            <a:off x="6410325" y="3009900"/>
            <a:ext cx="4943475" cy="238125"/>
          </a:xfrm>
          <a:prstGeom prst="rect">
            <a:avLst/>
          </a:prstGeom>
          <a:solidFill>
            <a:srgbClr val="56362F"/>
          </a:solidFill>
          <a:ln w="0">
            <a:noFill/>
            <a:prstDash val="solid"/>
          </a:ln>
        </p:spPr>
      </p:sp>
      <p:sp>
        <p:nvSpPr>
          <p:cNvPr id="18" name="code_line_16_5"/>
          <p:cNvSpPr>
            <a:spLocks noGrp="1"/>
          </p:cNvSpPr>
          <p:nvPr/>
        </p:nvSpPr>
        <p:spPr>
          <a:xfrm>
            <a:off x="6496050" y="300037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this-&gt;parent-&gt;left = root;</a:t>
            </a:r>
            <a:endParaRPr sz="975" b="0">
              <a:solidFill>
                <a:srgbClr val="FFD1BF"/>
              </a:solidFill>
              <a:latin typeface="Consolas" panose="020B0609020204030204"/>
              <a:ea typeface="Consolas" panose="020B0609020204030204"/>
              <a:cs typeface="Consolas" panose="020B0609020204030204"/>
            </a:endParaRPr>
          </a:p>
        </p:txBody>
      </p:sp>
      <p:sp>
        <p:nvSpPr>
          <p:cNvPr id="19" name="code_line_16_6"/>
          <p:cNvSpPr>
            <a:spLocks noGrp="1"/>
          </p:cNvSpPr>
          <p:nvPr/>
        </p:nvSpPr>
        <p:spPr>
          <a:xfrm>
            <a:off x="6496050" y="323850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else</a:t>
            </a:r>
            <a:endParaRPr sz="975" b="0">
              <a:solidFill>
                <a:srgbClr val="E7E7EA"/>
              </a:solidFill>
              <a:latin typeface="Consolas" panose="020B0609020204030204"/>
              <a:ea typeface="Consolas" panose="020B0609020204030204"/>
              <a:cs typeface="Consolas" panose="020B0609020204030204"/>
            </a:endParaRPr>
          </a:p>
        </p:txBody>
      </p:sp>
      <p:sp>
        <p:nvSpPr>
          <p:cNvPr id="20" name="code_hl_16_7"/>
          <p:cNvSpPr>
            <a:spLocks noGrp="1"/>
          </p:cNvSpPr>
          <p:nvPr/>
        </p:nvSpPr>
        <p:spPr>
          <a:xfrm>
            <a:off x="6410325" y="3486150"/>
            <a:ext cx="4943475" cy="238125"/>
          </a:xfrm>
          <a:prstGeom prst="rect">
            <a:avLst/>
          </a:prstGeom>
          <a:solidFill>
            <a:srgbClr val="56362F"/>
          </a:solidFill>
          <a:ln w="0">
            <a:noFill/>
            <a:prstDash val="solid"/>
          </a:ln>
        </p:spPr>
      </p:sp>
      <p:sp>
        <p:nvSpPr>
          <p:cNvPr id="21" name="code_line_16_7"/>
          <p:cNvSpPr>
            <a:spLocks noGrp="1"/>
          </p:cNvSpPr>
          <p:nvPr/>
        </p:nvSpPr>
        <p:spPr>
          <a:xfrm>
            <a:off x="6496050" y="347662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this-&gt;parent-&gt;right = root;</a:t>
            </a:r>
            <a:endParaRPr sz="975" b="0">
              <a:solidFill>
                <a:srgbClr val="FFD1BF"/>
              </a:solidFill>
              <a:latin typeface="Consolas" panose="020B0609020204030204"/>
              <a:ea typeface="Consolas" panose="020B0609020204030204"/>
              <a:cs typeface="Consolas" panose="020B0609020204030204"/>
            </a:endParaRPr>
          </a:p>
        </p:txBody>
      </p:sp>
      <p:sp>
        <p:nvSpPr>
          <p:cNvPr id="22" name="code_line_16_8"/>
          <p:cNvSpPr>
            <a:spLocks noGrp="1"/>
          </p:cNvSpPr>
          <p:nvPr/>
        </p:nvSpPr>
        <p:spPr>
          <a:xfrm>
            <a:off x="6496050" y="3714750"/>
            <a:ext cx="48101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3" name="code_line_16_9"/>
          <p:cNvSpPr>
            <a:spLocks noGrp="1"/>
          </p:cNvSpPr>
          <p:nvPr/>
        </p:nvSpPr>
        <p:spPr>
          <a:xfrm>
            <a:off x="6496050" y="3952875"/>
            <a:ext cx="4810125" cy="238125"/>
          </a:xfrm>
          <a:prstGeom prst="rect">
            <a:avLst/>
          </a:prstGeom>
          <a:noFill/>
          <a:ln w="0">
            <a:noFill/>
            <a:prstDash val="solid"/>
          </a:ln>
        </p:spPr>
        <p:txBody>
          <a:bodyPr lIns="0" tIns="0" rIns="0" bIns="0" anchor="t"/>
          <a:lstStyle/>
          <a:p/>
        </p:txBody>
      </p:sp>
      <p:sp>
        <p:nvSpPr>
          <p:cNvPr id="24" name="code_hl_16_10"/>
          <p:cNvSpPr>
            <a:spLocks noGrp="1"/>
          </p:cNvSpPr>
          <p:nvPr/>
        </p:nvSpPr>
        <p:spPr>
          <a:xfrm>
            <a:off x="6410325" y="4200525"/>
            <a:ext cx="4943475" cy="238125"/>
          </a:xfrm>
          <a:prstGeom prst="rect">
            <a:avLst/>
          </a:prstGeom>
          <a:solidFill>
            <a:srgbClr val="56362F"/>
          </a:solidFill>
          <a:ln w="0">
            <a:noFill/>
            <a:prstDash val="solid"/>
          </a:ln>
        </p:spPr>
      </p:sp>
      <p:sp>
        <p:nvSpPr>
          <p:cNvPr id="25" name="code_line_16_10"/>
          <p:cNvSpPr>
            <a:spLocks noGrp="1"/>
          </p:cNvSpPr>
          <p:nvPr/>
        </p:nvSpPr>
        <p:spPr>
          <a:xfrm>
            <a:off x="6496050" y="419100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this-&gt;parent = root;</a:t>
            </a:r>
            <a:endParaRPr sz="975" b="0">
              <a:solidFill>
                <a:srgbClr val="FFD1BF"/>
              </a:solidFill>
              <a:latin typeface="Consolas" panose="020B0609020204030204"/>
              <a:ea typeface="Consolas" panose="020B0609020204030204"/>
              <a:cs typeface="Consolas" panose="020B0609020204030204"/>
            </a:endParaRPr>
          </a:p>
        </p:txBody>
      </p:sp>
      <p:sp>
        <p:nvSpPr>
          <p:cNvPr id="26" name="code_hl_16_11"/>
          <p:cNvSpPr>
            <a:spLocks noGrp="1"/>
          </p:cNvSpPr>
          <p:nvPr/>
        </p:nvSpPr>
        <p:spPr>
          <a:xfrm>
            <a:off x="6410325" y="4438650"/>
            <a:ext cx="4943475" cy="238125"/>
          </a:xfrm>
          <a:prstGeom prst="rect">
            <a:avLst/>
          </a:prstGeom>
          <a:solidFill>
            <a:srgbClr val="56362F"/>
          </a:solidFill>
          <a:ln w="0">
            <a:noFill/>
            <a:prstDash val="solid"/>
          </a:ln>
        </p:spPr>
      </p:sp>
      <p:sp>
        <p:nvSpPr>
          <p:cNvPr id="27" name="code_line_16_11"/>
          <p:cNvSpPr>
            <a:spLocks noGrp="1"/>
          </p:cNvSpPr>
          <p:nvPr/>
        </p:nvSpPr>
        <p:spPr>
          <a:xfrm>
            <a:off x="6496050" y="4429125"/>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(root-&gt;parent == NULL)</a:t>
            </a:r>
            <a:endParaRPr sz="975" b="0">
              <a:solidFill>
                <a:srgbClr val="FFD1BF"/>
              </a:solidFill>
              <a:latin typeface="Consolas" panose="020B0609020204030204"/>
              <a:ea typeface="Consolas" panose="020B0609020204030204"/>
              <a:cs typeface="Consolas" panose="020B0609020204030204"/>
            </a:endParaRPr>
          </a:p>
        </p:txBody>
      </p:sp>
      <p:sp>
        <p:nvSpPr>
          <p:cNvPr id="28" name="code_hl_16_12"/>
          <p:cNvSpPr>
            <a:spLocks noGrp="1"/>
          </p:cNvSpPr>
          <p:nvPr/>
        </p:nvSpPr>
        <p:spPr>
          <a:xfrm>
            <a:off x="6410325" y="4676775"/>
            <a:ext cx="4943475" cy="238125"/>
          </a:xfrm>
          <a:prstGeom prst="rect">
            <a:avLst/>
          </a:prstGeom>
          <a:solidFill>
            <a:srgbClr val="56362F"/>
          </a:solidFill>
          <a:ln w="0">
            <a:noFill/>
            <a:prstDash val="solid"/>
          </a:ln>
        </p:spPr>
      </p:sp>
      <p:sp>
        <p:nvSpPr>
          <p:cNvPr id="29" name="code_line_16_12"/>
          <p:cNvSpPr>
            <a:spLocks noGrp="1"/>
          </p:cNvSpPr>
          <p:nvPr/>
        </p:nvSpPr>
        <p:spPr>
          <a:xfrm>
            <a:off x="6496050" y="4667250"/>
            <a:ext cx="48101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tree-&gt;root = root;</a:t>
            </a:r>
            <a:endParaRPr sz="975" b="0">
              <a:solidFill>
                <a:srgbClr val="FFD1BF"/>
              </a:solidFill>
              <a:latin typeface="Consolas" panose="020B0609020204030204"/>
              <a:ea typeface="Consolas" panose="020B0609020204030204"/>
              <a:cs typeface="Consolas" panose="020B0609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7"/>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05 · 旋转</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7"/>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rightRotate 不是另一套算法，它是 leftRotate 的严格镜像</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7"/>
          <p:cNvSpPr>
            <a:spLocks noGrp="1"/>
          </p:cNvSpPr>
          <p:nvPr/>
        </p:nvSpPr>
        <p:spPr>
          <a:xfrm>
            <a:off x="400050" y="1352550"/>
            <a:ext cx="11391900" cy="19050"/>
          </a:xfrm>
          <a:prstGeom prst="rect">
            <a:avLst/>
          </a:prstGeom>
          <a:solidFill>
            <a:srgbClr val="17181C"/>
          </a:solidFill>
          <a:ln w="0">
            <a:noFill/>
            <a:prstDash val="solid"/>
          </a:ln>
        </p:spPr>
      </p:sp>
      <p:sp>
        <p:nvSpPr>
          <p:cNvPr id="5" name="footer_17"/>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17</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7"/>
          <p:cNvSpPr>
            <a:spLocks noGrp="1"/>
          </p:cNvSpPr>
          <p:nvPr/>
        </p:nvSpPr>
        <p:spPr>
          <a:xfrm>
            <a:off x="400050" y="1695450"/>
            <a:ext cx="5095875" cy="3905250"/>
          </a:xfrm>
          <a:prstGeom prst="rect">
            <a:avLst/>
          </a:prstGeom>
          <a:solidFill>
            <a:srgbClr val="F2F3F5"/>
          </a:solidFill>
          <a:ln w="0">
            <a:noFill/>
            <a:prstDash val="solid"/>
          </a:ln>
        </p:spPr>
      </p:sp>
      <p:sp>
        <p:nvSpPr>
          <p:cNvPr id="7" name="after_panel_17"/>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7"/>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右旋前：Y 的右子树 β 位于 Y 与 X 之间</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7"/>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右旋后：β 改挂到 X 的左边</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7_edge_x_y"/>
          <p:cNvSpPr>
            <a:spLocks noGrp="1"/>
          </p:cNvSpPr>
          <p:nvPr/>
        </p:nvSpPr>
        <p:spPr>
          <a:xfrm rot="8321483">
            <a:off x="1882812" y="3295650"/>
            <a:ext cx="2092250" cy="28575"/>
          </a:xfrm>
          <a:prstGeom prst="rect">
            <a:avLst/>
          </a:prstGeom>
          <a:solidFill>
            <a:srgbClr val="B9BDC5"/>
          </a:solidFill>
          <a:ln w="0">
            <a:noFill/>
            <a:prstDash val="solid"/>
          </a:ln>
        </p:spPr>
      </p:sp>
      <p:sp>
        <p:nvSpPr>
          <p:cNvPr id="11" name="before_17_edge_y_b"/>
          <p:cNvSpPr>
            <a:spLocks noGrp="1"/>
          </p:cNvSpPr>
          <p:nvPr/>
        </p:nvSpPr>
        <p:spPr>
          <a:xfrm rot="3413319">
            <a:off x="1846444" y="4533900"/>
            <a:ext cx="1307738" cy="28575"/>
          </a:xfrm>
          <a:prstGeom prst="rect">
            <a:avLst/>
          </a:prstGeom>
          <a:solidFill>
            <a:srgbClr val="B9BDC5"/>
          </a:solidFill>
          <a:ln w="0">
            <a:noFill/>
            <a:prstDash val="solid"/>
          </a:ln>
        </p:spPr>
      </p:sp>
      <p:sp>
        <p:nvSpPr>
          <p:cNvPr id="12" name="before_17_x"/>
          <p:cNvSpPr>
            <a:spLocks noGrp="1"/>
          </p:cNvSpPr>
          <p:nvPr/>
        </p:nvSpPr>
        <p:spPr>
          <a:xfrm>
            <a:off x="3476625" y="2381250"/>
            <a:ext cx="476250" cy="476250"/>
          </a:xfrm>
          <a:prstGeom prst="ellipse">
            <a:avLst/>
          </a:prstGeom>
          <a:solidFill>
            <a:srgbClr val="22242A"/>
          </a:solidFill>
          <a:ln w="9525">
            <a:solidFill>
              <a:srgbClr val="FFFFFF"/>
            </a:solidFill>
            <a:prstDash val="solid"/>
          </a:ln>
        </p:spPr>
      </p:sp>
      <p:sp>
        <p:nvSpPr>
          <p:cNvPr id="13" name="before_17_x_label"/>
          <p:cNvSpPr>
            <a:spLocks noGrp="1"/>
          </p:cNvSpPr>
          <p:nvPr/>
        </p:nvSpPr>
        <p:spPr>
          <a:xfrm>
            <a:off x="351472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X</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before_17_y"/>
          <p:cNvSpPr>
            <a:spLocks noGrp="1"/>
          </p:cNvSpPr>
          <p:nvPr/>
        </p:nvSpPr>
        <p:spPr>
          <a:xfrm>
            <a:off x="1905000" y="3762375"/>
            <a:ext cx="476250" cy="476250"/>
          </a:xfrm>
          <a:prstGeom prst="ellipse">
            <a:avLst/>
          </a:prstGeom>
          <a:solidFill>
            <a:srgbClr val="DE3840"/>
          </a:solidFill>
          <a:ln w="9525">
            <a:solidFill>
              <a:srgbClr val="FFFFFF"/>
            </a:solidFill>
            <a:prstDash val="solid"/>
          </a:ln>
        </p:spPr>
      </p:sp>
      <p:sp>
        <p:nvSpPr>
          <p:cNvPr id="15" name="before_17_y_label"/>
          <p:cNvSpPr>
            <a:spLocks noGrp="1"/>
          </p:cNvSpPr>
          <p:nvPr/>
        </p:nvSpPr>
        <p:spPr>
          <a:xfrm>
            <a:off x="19431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Y</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17_b"/>
          <p:cNvSpPr>
            <a:spLocks noGrp="1"/>
          </p:cNvSpPr>
          <p:nvPr/>
        </p:nvSpPr>
        <p:spPr>
          <a:xfrm>
            <a:off x="2619375" y="4857750"/>
            <a:ext cx="476250" cy="476250"/>
          </a:xfrm>
          <a:prstGeom prst="ellipse">
            <a:avLst/>
          </a:prstGeom>
          <a:solidFill>
            <a:srgbClr val="22242A"/>
          </a:solidFill>
          <a:ln w="9525">
            <a:solidFill>
              <a:srgbClr val="FFFFFF"/>
            </a:solidFill>
            <a:prstDash val="solid"/>
          </a:ln>
        </p:spPr>
      </p:sp>
      <p:sp>
        <p:nvSpPr>
          <p:cNvPr id="17" name="before_17_b_label"/>
          <p:cNvSpPr>
            <a:spLocks noGrp="1"/>
          </p:cNvSpPr>
          <p:nvPr/>
        </p:nvSpPr>
        <p:spPr>
          <a:xfrm>
            <a:off x="2657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β</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after_17_edge_y_x"/>
          <p:cNvSpPr>
            <a:spLocks noGrp="1"/>
          </p:cNvSpPr>
          <p:nvPr/>
        </p:nvSpPr>
        <p:spPr>
          <a:xfrm rot="2378650">
            <a:off x="8085456" y="3295650"/>
            <a:ext cx="2164712" cy="28575"/>
          </a:xfrm>
          <a:prstGeom prst="rect">
            <a:avLst/>
          </a:prstGeom>
          <a:solidFill>
            <a:srgbClr val="B9BDC5"/>
          </a:solidFill>
          <a:ln w="0">
            <a:noFill/>
            <a:prstDash val="solid"/>
          </a:ln>
        </p:spPr>
      </p:sp>
      <p:sp>
        <p:nvSpPr>
          <p:cNvPr id="19" name="after_17_edge_x_b"/>
          <p:cNvSpPr>
            <a:spLocks noGrp="1"/>
          </p:cNvSpPr>
          <p:nvPr/>
        </p:nvSpPr>
        <p:spPr>
          <a:xfrm rot="7386681">
            <a:off x="8990194" y="4533900"/>
            <a:ext cx="1307738" cy="28575"/>
          </a:xfrm>
          <a:prstGeom prst="rect">
            <a:avLst/>
          </a:prstGeom>
          <a:solidFill>
            <a:srgbClr val="B9BDC5"/>
          </a:solidFill>
          <a:ln w="0">
            <a:noFill/>
            <a:prstDash val="solid"/>
          </a:ln>
        </p:spPr>
      </p:sp>
      <p:sp>
        <p:nvSpPr>
          <p:cNvPr id="20" name="after_17_y"/>
          <p:cNvSpPr>
            <a:spLocks noGrp="1"/>
          </p:cNvSpPr>
          <p:nvPr/>
        </p:nvSpPr>
        <p:spPr>
          <a:xfrm>
            <a:off x="8096250" y="2381250"/>
            <a:ext cx="476250" cy="476250"/>
          </a:xfrm>
          <a:prstGeom prst="ellipse">
            <a:avLst/>
          </a:prstGeom>
          <a:solidFill>
            <a:srgbClr val="DE3840"/>
          </a:solidFill>
          <a:ln w="9525">
            <a:solidFill>
              <a:srgbClr val="FFFFFF"/>
            </a:solidFill>
            <a:prstDash val="solid"/>
          </a:ln>
        </p:spPr>
      </p:sp>
      <p:sp>
        <p:nvSpPr>
          <p:cNvPr id="21" name="after_17_y_label"/>
          <p:cNvSpPr>
            <a:spLocks noGrp="1"/>
          </p:cNvSpPr>
          <p:nvPr/>
        </p:nvSpPr>
        <p:spPr>
          <a:xfrm>
            <a:off x="813435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Y</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after_17_x"/>
          <p:cNvSpPr>
            <a:spLocks noGrp="1"/>
          </p:cNvSpPr>
          <p:nvPr/>
        </p:nvSpPr>
        <p:spPr>
          <a:xfrm>
            <a:off x="9763125" y="3762375"/>
            <a:ext cx="476250" cy="476250"/>
          </a:xfrm>
          <a:prstGeom prst="ellipse">
            <a:avLst/>
          </a:prstGeom>
          <a:solidFill>
            <a:srgbClr val="22242A"/>
          </a:solidFill>
          <a:ln w="9525">
            <a:solidFill>
              <a:srgbClr val="FFFFFF"/>
            </a:solidFill>
            <a:prstDash val="solid"/>
          </a:ln>
        </p:spPr>
      </p:sp>
      <p:sp>
        <p:nvSpPr>
          <p:cNvPr id="23" name="after_17_x_label"/>
          <p:cNvSpPr>
            <a:spLocks noGrp="1"/>
          </p:cNvSpPr>
          <p:nvPr/>
        </p:nvSpPr>
        <p:spPr>
          <a:xfrm>
            <a:off x="9801225"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X</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after_17_b"/>
          <p:cNvSpPr>
            <a:spLocks noGrp="1"/>
          </p:cNvSpPr>
          <p:nvPr/>
        </p:nvSpPr>
        <p:spPr>
          <a:xfrm>
            <a:off x="9048750" y="4857750"/>
            <a:ext cx="476250" cy="476250"/>
          </a:xfrm>
          <a:prstGeom prst="ellipse">
            <a:avLst/>
          </a:prstGeom>
          <a:solidFill>
            <a:srgbClr val="22242A"/>
          </a:solidFill>
          <a:ln w="9525">
            <a:solidFill>
              <a:srgbClr val="FFFFFF"/>
            </a:solidFill>
            <a:prstDash val="solid"/>
          </a:ln>
        </p:spPr>
      </p:sp>
      <p:sp>
        <p:nvSpPr>
          <p:cNvPr id="25" name="after_17_b_label"/>
          <p:cNvSpPr>
            <a:spLocks noGrp="1"/>
          </p:cNvSpPr>
          <p:nvPr/>
        </p:nvSpPr>
        <p:spPr>
          <a:xfrm>
            <a:off x="90868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β</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6" name="transition_17_shaft"/>
          <p:cNvSpPr>
            <a:spLocks noGrp="1"/>
          </p:cNvSpPr>
          <p:nvPr/>
        </p:nvSpPr>
        <p:spPr>
          <a:xfrm>
            <a:off x="5810250" y="3600450"/>
            <a:ext cx="571500" cy="38100"/>
          </a:xfrm>
          <a:prstGeom prst="rect">
            <a:avLst/>
          </a:prstGeom>
          <a:solidFill>
            <a:srgbClr val="DE3840"/>
          </a:solidFill>
          <a:ln w="0">
            <a:noFill/>
            <a:prstDash val="solid"/>
          </a:ln>
        </p:spPr>
      </p:sp>
      <p:sp>
        <p:nvSpPr>
          <p:cNvPr id="27" name="transition_17_head_1"/>
          <p:cNvSpPr>
            <a:spLocks noGrp="1"/>
          </p:cNvSpPr>
          <p:nvPr/>
        </p:nvSpPr>
        <p:spPr>
          <a:xfrm rot="8856000">
            <a:off x="6276347" y="3631073"/>
            <a:ext cx="114300" cy="38100"/>
          </a:xfrm>
          <a:prstGeom prst="rect">
            <a:avLst/>
          </a:prstGeom>
          <a:solidFill>
            <a:srgbClr val="DE3840"/>
          </a:solidFill>
          <a:ln w="0">
            <a:noFill/>
            <a:prstDash val="solid"/>
          </a:ln>
        </p:spPr>
      </p:sp>
      <p:sp>
        <p:nvSpPr>
          <p:cNvPr id="28" name="transition_17_head_2"/>
          <p:cNvSpPr>
            <a:spLocks noGrp="1"/>
          </p:cNvSpPr>
          <p:nvPr/>
        </p:nvSpPr>
        <p:spPr>
          <a:xfrm rot="-8856000">
            <a:off x="6276347" y="3569827"/>
            <a:ext cx="114300" cy="38100"/>
          </a:xfrm>
          <a:prstGeom prst="rect">
            <a:avLst/>
          </a:prstGeom>
          <a:solidFill>
            <a:srgbClr val="DE3840"/>
          </a:solidFill>
          <a:ln w="0">
            <a:noFill/>
            <a:prstDash val="solid"/>
          </a:ln>
        </p:spPr>
      </p:sp>
      <p:sp>
        <p:nvSpPr>
          <p:cNvPr id="29" name="transition_caption_17"/>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理论上把 left 与 right 全部交换就能得到右旋，但代码很容易只换一半。因此测试必须准备左右镜像案例，专门抓中间子树方向或外部父指针写反。</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8"/>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8"/>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remove 的第一件事：分清 this 与真正要 delete 的 node</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8"/>
          <p:cNvSpPr>
            <a:spLocks noGrp="1"/>
          </p:cNvSpPr>
          <p:nvPr/>
        </p:nvSpPr>
        <p:spPr>
          <a:xfrm>
            <a:off x="400050" y="1352550"/>
            <a:ext cx="11391900" cy="19050"/>
          </a:xfrm>
          <a:prstGeom prst="rect">
            <a:avLst/>
          </a:prstGeom>
          <a:solidFill>
            <a:srgbClr val="17181C"/>
          </a:solidFill>
          <a:ln w="0">
            <a:noFill/>
            <a:prstDash val="solid"/>
          </a:ln>
        </p:spPr>
      </p:sp>
      <p:sp>
        <p:nvSpPr>
          <p:cNvPr id="5" name="footer_18"/>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18</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18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删除两个孩子的节点为什么最麻烦？</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18_42"/>
          <p:cNvSpPr>
            <a:spLocks noGrp="1"/>
          </p:cNvSpPr>
          <p:nvPr/>
        </p:nvSpPr>
        <p:spPr>
          <a:xfrm>
            <a:off x="400050" y="2305050"/>
            <a:ext cx="66675" cy="3629025"/>
          </a:xfrm>
          <a:prstGeom prst="rect">
            <a:avLst/>
          </a:prstGeom>
          <a:solidFill>
            <a:srgbClr val="DE3840"/>
          </a:solidFill>
          <a:ln w="0">
            <a:noFill/>
            <a:prstDash val="solid"/>
          </a:ln>
        </p:spPr>
      </p:sp>
      <p:sp>
        <p:nvSpPr>
          <p:cNvPr id="8" name="reason_body_18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因为它左右两边都还保存着有效子树。直接把这个节点从父亲下面摘掉，至少有一边会失去入口。</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代码没有交换完整节点，而是去右子树一路向左，找到中序后继。后继是右子树最小值，因此不可能再有左孩子；它最多只有一个右孩子。</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然后只把后继 key 复制到 this。对外看，目标 key 已经消失；对内看，真正需要从指针结构中摘掉的 node 已被降维成“至多一个孩子”。</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18_665"/>
          <p:cNvSpPr>
            <a:spLocks noGrp="1"/>
          </p:cNvSpPr>
          <p:nvPr/>
        </p:nvSpPr>
        <p:spPr>
          <a:xfrm>
            <a:off x="6334125" y="1809750"/>
            <a:ext cx="5000625" cy="2857500"/>
          </a:xfrm>
          <a:prstGeom prst="rect">
            <a:avLst/>
          </a:prstGeom>
          <a:solidFill>
            <a:srgbClr val="202126"/>
          </a:solidFill>
          <a:ln w="0">
            <a:noFill/>
            <a:prstDash val="solid"/>
          </a:ln>
        </p:spPr>
      </p:sp>
      <p:sp>
        <p:nvSpPr>
          <p:cNvPr id="10" name="code_hl_18_0"/>
          <p:cNvSpPr>
            <a:spLocks noGrp="1"/>
          </p:cNvSpPr>
          <p:nvPr/>
        </p:nvSpPr>
        <p:spPr>
          <a:xfrm>
            <a:off x="6410325" y="1914525"/>
            <a:ext cx="4848225" cy="238125"/>
          </a:xfrm>
          <a:prstGeom prst="rect">
            <a:avLst/>
          </a:prstGeom>
          <a:solidFill>
            <a:srgbClr val="56362F"/>
          </a:solidFill>
          <a:ln w="0">
            <a:noFill/>
            <a:prstDash val="solid"/>
          </a:ln>
        </p:spPr>
      </p:sp>
      <p:sp>
        <p:nvSpPr>
          <p:cNvPr id="11" name="code_line_18_0"/>
          <p:cNvSpPr>
            <a:spLocks noGrp="1"/>
          </p:cNvSpPr>
          <p:nvPr/>
        </p:nvSpPr>
        <p:spPr>
          <a:xfrm>
            <a:off x="6496050" y="190500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node = this;</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18_1"/>
          <p:cNvSpPr>
            <a:spLocks noGrp="1"/>
          </p:cNvSpPr>
          <p:nvPr/>
        </p:nvSpPr>
        <p:spPr>
          <a:xfrm>
            <a:off x="6496050" y="2143125"/>
            <a:ext cx="4714875" cy="238125"/>
          </a:xfrm>
          <a:prstGeom prst="rect">
            <a:avLst/>
          </a:prstGeom>
          <a:noFill/>
          <a:ln w="0">
            <a:noFill/>
            <a:prstDash val="solid"/>
          </a:ln>
        </p:spPr>
        <p:txBody>
          <a:bodyPr lIns="0" tIns="0" rIns="0" bIns="0" anchor="t"/>
          <a:lstStyle/>
          <a:p/>
        </p:txBody>
      </p:sp>
      <p:sp>
        <p:nvSpPr>
          <p:cNvPr id="13" name="code_hl_18_2"/>
          <p:cNvSpPr>
            <a:spLocks noGrp="1"/>
          </p:cNvSpPr>
          <p:nvPr/>
        </p:nvSpPr>
        <p:spPr>
          <a:xfrm>
            <a:off x="6410325" y="2390775"/>
            <a:ext cx="4848225" cy="238125"/>
          </a:xfrm>
          <a:prstGeom prst="rect">
            <a:avLst/>
          </a:prstGeom>
          <a:solidFill>
            <a:srgbClr val="56362F"/>
          </a:solidFill>
          <a:ln w="0">
            <a:noFill/>
            <a:prstDash val="solid"/>
          </a:ln>
        </p:spPr>
      </p:sp>
      <p:sp>
        <p:nvSpPr>
          <p:cNvPr id="14" name="code_line_18_2"/>
          <p:cNvSpPr>
            <a:spLocks noGrp="1"/>
          </p:cNvSpPr>
          <p:nvPr/>
        </p:nvSpPr>
        <p:spPr>
          <a:xfrm>
            <a:off x="6496050" y="238125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(this-&gt;left != NULL &amp;&amp; this-&gt;right != NULL)</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18_3"/>
          <p:cNvSpPr>
            <a:spLocks noGrp="1"/>
          </p:cNvSpPr>
          <p:nvPr/>
        </p:nvSpPr>
        <p:spPr>
          <a:xfrm>
            <a:off x="6496050" y="261937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16" name="code_hl_18_4"/>
          <p:cNvSpPr>
            <a:spLocks noGrp="1"/>
          </p:cNvSpPr>
          <p:nvPr/>
        </p:nvSpPr>
        <p:spPr>
          <a:xfrm>
            <a:off x="6410325" y="2867025"/>
            <a:ext cx="4848225" cy="238125"/>
          </a:xfrm>
          <a:prstGeom prst="rect">
            <a:avLst/>
          </a:prstGeom>
          <a:solidFill>
            <a:srgbClr val="56362F"/>
          </a:solidFill>
          <a:ln w="0">
            <a:noFill/>
            <a:prstDash val="solid"/>
          </a:ln>
        </p:spPr>
      </p:sp>
      <p:sp>
        <p:nvSpPr>
          <p:cNvPr id="17" name="code_line_18_4"/>
          <p:cNvSpPr>
            <a:spLocks noGrp="1"/>
          </p:cNvSpPr>
          <p:nvPr/>
        </p:nvSpPr>
        <p:spPr>
          <a:xfrm>
            <a:off x="6496050" y="285750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 = this-&gt;right;</a:t>
            </a:r>
            <a:endParaRPr sz="975" b="0">
              <a:solidFill>
                <a:srgbClr val="FFD1BF"/>
              </a:solidFill>
              <a:latin typeface="Consolas" panose="020B0609020204030204"/>
              <a:ea typeface="Consolas" panose="020B0609020204030204"/>
              <a:cs typeface="Consolas" panose="020B0609020204030204"/>
            </a:endParaRPr>
          </a:p>
        </p:txBody>
      </p:sp>
      <p:sp>
        <p:nvSpPr>
          <p:cNvPr id="18" name="code_hl_18_5"/>
          <p:cNvSpPr>
            <a:spLocks noGrp="1"/>
          </p:cNvSpPr>
          <p:nvPr/>
        </p:nvSpPr>
        <p:spPr>
          <a:xfrm>
            <a:off x="6410325" y="3105150"/>
            <a:ext cx="4848225" cy="238125"/>
          </a:xfrm>
          <a:prstGeom prst="rect">
            <a:avLst/>
          </a:prstGeom>
          <a:solidFill>
            <a:srgbClr val="56362F"/>
          </a:solidFill>
          <a:ln w="0">
            <a:noFill/>
            <a:prstDash val="solid"/>
          </a:ln>
        </p:spPr>
      </p:sp>
      <p:sp>
        <p:nvSpPr>
          <p:cNvPr id="19" name="code_line_18_5"/>
          <p:cNvSpPr>
            <a:spLocks noGrp="1"/>
          </p:cNvSpPr>
          <p:nvPr/>
        </p:nvSpPr>
        <p:spPr>
          <a:xfrm>
            <a:off x="6496050" y="3095625"/>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while (node-&gt;left != NULL)</a:t>
            </a:r>
            <a:endParaRPr sz="975" b="0">
              <a:solidFill>
                <a:srgbClr val="FFD1BF"/>
              </a:solidFill>
              <a:latin typeface="Consolas" panose="020B0609020204030204"/>
              <a:ea typeface="Consolas" panose="020B0609020204030204"/>
              <a:cs typeface="Consolas" panose="020B0609020204030204"/>
            </a:endParaRPr>
          </a:p>
        </p:txBody>
      </p:sp>
      <p:sp>
        <p:nvSpPr>
          <p:cNvPr id="20" name="code_hl_18_6"/>
          <p:cNvSpPr>
            <a:spLocks noGrp="1"/>
          </p:cNvSpPr>
          <p:nvPr/>
        </p:nvSpPr>
        <p:spPr>
          <a:xfrm>
            <a:off x="6410325" y="3343275"/>
            <a:ext cx="4848225" cy="238125"/>
          </a:xfrm>
          <a:prstGeom prst="rect">
            <a:avLst/>
          </a:prstGeom>
          <a:solidFill>
            <a:srgbClr val="56362F"/>
          </a:solidFill>
          <a:ln w="0">
            <a:noFill/>
            <a:prstDash val="solid"/>
          </a:ln>
        </p:spPr>
      </p:sp>
      <p:sp>
        <p:nvSpPr>
          <p:cNvPr id="21" name="code_line_18_6"/>
          <p:cNvSpPr>
            <a:spLocks noGrp="1"/>
          </p:cNvSpPr>
          <p:nvPr/>
        </p:nvSpPr>
        <p:spPr>
          <a:xfrm>
            <a:off x="6496050" y="333375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 = node-&gt;left;</a:t>
            </a:r>
            <a:endParaRPr sz="975" b="0">
              <a:solidFill>
                <a:srgbClr val="FFD1BF"/>
              </a:solidFill>
              <a:latin typeface="Consolas" panose="020B0609020204030204"/>
              <a:ea typeface="Consolas" panose="020B0609020204030204"/>
              <a:cs typeface="Consolas" panose="020B0609020204030204"/>
            </a:endParaRPr>
          </a:p>
        </p:txBody>
      </p:sp>
      <p:sp>
        <p:nvSpPr>
          <p:cNvPr id="22" name="code_line_18_7"/>
          <p:cNvSpPr>
            <a:spLocks noGrp="1"/>
          </p:cNvSpPr>
          <p:nvPr/>
        </p:nvSpPr>
        <p:spPr>
          <a:xfrm>
            <a:off x="6496050" y="3571875"/>
            <a:ext cx="4714875" cy="238125"/>
          </a:xfrm>
          <a:prstGeom prst="rect">
            <a:avLst/>
          </a:prstGeom>
          <a:noFill/>
          <a:ln w="0">
            <a:noFill/>
            <a:prstDash val="solid"/>
          </a:ln>
        </p:spPr>
        <p:txBody>
          <a:bodyPr lIns="0" tIns="0" rIns="0" bIns="0" anchor="t"/>
          <a:lstStyle/>
          <a:p/>
        </p:txBody>
      </p:sp>
      <p:sp>
        <p:nvSpPr>
          <p:cNvPr id="23" name="code_hl_18_8"/>
          <p:cNvSpPr>
            <a:spLocks noGrp="1"/>
          </p:cNvSpPr>
          <p:nvPr/>
        </p:nvSpPr>
        <p:spPr>
          <a:xfrm>
            <a:off x="6410325" y="3819525"/>
            <a:ext cx="4848225" cy="238125"/>
          </a:xfrm>
          <a:prstGeom prst="rect">
            <a:avLst/>
          </a:prstGeom>
          <a:solidFill>
            <a:srgbClr val="56362F"/>
          </a:solidFill>
          <a:ln w="0">
            <a:noFill/>
            <a:prstDash val="solid"/>
          </a:ln>
        </p:spPr>
      </p:sp>
      <p:sp>
        <p:nvSpPr>
          <p:cNvPr id="24" name="code_line_18_8"/>
          <p:cNvSpPr>
            <a:spLocks noGrp="1"/>
          </p:cNvSpPr>
          <p:nvPr/>
        </p:nvSpPr>
        <p:spPr>
          <a:xfrm>
            <a:off x="6496050" y="381000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this-&gt;key = node-&gt;key;</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18_9"/>
          <p:cNvSpPr>
            <a:spLocks noGrp="1"/>
          </p:cNvSpPr>
          <p:nvPr/>
        </p:nvSpPr>
        <p:spPr>
          <a:xfrm>
            <a:off x="6496050" y="404812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a:t>
            </a:r>
            <a:endParaRPr sz="975" b="0">
              <a:solidFill>
                <a:srgbClr val="E7E7EA"/>
              </a:solidFill>
              <a:latin typeface="Consolas" panose="020B0609020204030204"/>
              <a:ea typeface="Consolas" panose="020B0609020204030204"/>
              <a:cs typeface="Consolas" panose="020B0609020204030204"/>
            </a:endParaRPr>
          </a:p>
        </p:txBody>
      </p:sp>
      <p:sp>
        <p:nvSpPr>
          <p:cNvPr id="26" name="takeaway_18"/>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DE3840"/>
                </a:solidFill>
                <a:latin typeface="微软雅黑" panose="020B0503020204020204" charset="-122"/>
                <a:ea typeface="微软雅黑" panose="020B0503020204020204" charset="-122"/>
                <a:cs typeface="微软雅黑" panose="020B0503020204020204" charset="-122"/>
              </a:defRPr>
            </a:pPr>
            <a:r>
              <a:rPr sz="1575" b="1">
                <a:solidFill>
                  <a:srgbClr val="DE3840"/>
                </a:solidFill>
                <a:latin typeface="微软雅黑" panose="020B0503020204020204" charset="-122"/>
                <a:ea typeface="微软雅黑" panose="020B0503020204020204" charset="-122"/>
                <a:cs typeface="微软雅黑" panose="020B0503020204020204" charset="-122"/>
              </a:rPr>
              <a:t>this 是用户想删除的位置；node 才是最后真正释放的对象。</a:t>
            </a:r>
            <a:endParaRPr sz="1575" b="1">
              <a:solidFill>
                <a:srgbClr val="DE3840"/>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19"/>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19"/>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复制后继 key：为什么不交换两个完整节点</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19"/>
          <p:cNvSpPr>
            <a:spLocks noGrp="1"/>
          </p:cNvSpPr>
          <p:nvPr/>
        </p:nvSpPr>
        <p:spPr>
          <a:xfrm>
            <a:off x="400050" y="1352550"/>
            <a:ext cx="11391900" cy="19050"/>
          </a:xfrm>
          <a:prstGeom prst="rect">
            <a:avLst/>
          </a:prstGeom>
          <a:solidFill>
            <a:srgbClr val="17181C"/>
          </a:solidFill>
          <a:ln w="0">
            <a:noFill/>
            <a:prstDash val="solid"/>
          </a:ln>
        </p:spPr>
      </p:sp>
      <p:sp>
        <p:nvSpPr>
          <p:cNvPr id="5" name="footer_19"/>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19</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19"/>
          <p:cNvSpPr>
            <a:spLocks noGrp="1"/>
          </p:cNvSpPr>
          <p:nvPr/>
        </p:nvSpPr>
        <p:spPr>
          <a:xfrm>
            <a:off x="400050" y="1695450"/>
            <a:ext cx="5095875" cy="3905250"/>
          </a:xfrm>
          <a:prstGeom prst="rect">
            <a:avLst/>
          </a:prstGeom>
          <a:solidFill>
            <a:srgbClr val="F2F3F5"/>
          </a:solidFill>
          <a:ln w="0">
            <a:noFill/>
            <a:prstDash val="solid"/>
          </a:ln>
        </p:spPr>
      </p:sp>
      <p:sp>
        <p:nvSpPr>
          <p:cNvPr id="7" name="after_panel_19"/>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19"/>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用户要求删除 10</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19"/>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10 的 key 变成 12，原后继成为待摘除 node</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19_edge_a_b"/>
          <p:cNvSpPr>
            <a:spLocks noGrp="1"/>
          </p:cNvSpPr>
          <p:nvPr/>
        </p:nvSpPr>
        <p:spPr>
          <a:xfrm rot="7689434">
            <a:off x="1533311" y="3319463"/>
            <a:ext cx="1695878" cy="28575"/>
          </a:xfrm>
          <a:prstGeom prst="rect">
            <a:avLst/>
          </a:prstGeom>
          <a:solidFill>
            <a:srgbClr val="B9BDC5"/>
          </a:solidFill>
          <a:ln w="0">
            <a:noFill/>
            <a:prstDash val="solid"/>
          </a:ln>
        </p:spPr>
      </p:sp>
      <p:sp>
        <p:nvSpPr>
          <p:cNvPr id="11" name="before_19_edge_a_d"/>
          <p:cNvSpPr>
            <a:spLocks noGrp="1"/>
          </p:cNvSpPr>
          <p:nvPr/>
        </p:nvSpPr>
        <p:spPr>
          <a:xfrm rot="2963922">
            <a:off x="2598463" y="3319463"/>
            <a:ext cx="1756323" cy="28575"/>
          </a:xfrm>
          <a:prstGeom prst="rect">
            <a:avLst/>
          </a:prstGeom>
          <a:solidFill>
            <a:srgbClr val="B9BDC5"/>
          </a:solidFill>
          <a:ln w="0">
            <a:noFill/>
            <a:prstDash val="solid"/>
          </a:ln>
        </p:spPr>
      </p:sp>
      <p:sp>
        <p:nvSpPr>
          <p:cNvPr id="12" name="before_19_edge_d_e"/>
          <p:cNvSpPr>
            <a:spLocks noGrp="1"/>
          </p:cNvSpPr>
          <p:nvPr/>
        </p:nvSpPr>
        <p:spPr>
          <a:xfrm rot="7053169">
            <a:off x="3144625" y="4533900"/>
            <a:ext cx="1235499" cy="28575"/>
          </a:xfrm>
          <a:prstGeom prst="rect">
            <a:avLst/>
          </a:prstGeom>
          <a:solidFill>
            <a:srgbClr val="B9BDC5"/>
          </a:solidFill>
          <a:ln w="0">
            <a:noFill/>
            <a:prstDash val="solid"/>
          </a:ln>
        </p:spPr>
      </p:sp>
      <p:sp>
        <p:nvSpPr>
          <p:cNvPr id="13" name="before_19_edge_d_f"/>
          <p:cNvSpPr>
            <a:spLocks noGrp="1"/>
          </p:cNvSpPr>
          <p:nvPr/>
        </p:nvSpPr>
        <p:spPr>
          <a:xfrm rot="3631447">
            <a:off x="3728569" y="4533900"/>
            <a:ext cx="1258238" cy="28575"/>
          </a:xfrm>
          <a:prstGeom prst="rect">
            <a:avLst/>
          </a:prstGeom>
          <a:solidFill>
            <a:srgbClr val="B9BDC5"/>
          </a:solidFill>
          <a:ln w="0">
            <a:noFill/>
            <a:prstDash val="solid"/>
          </a:ln>
        </p:spPr>
      </p:sp>
      <p:sp>
        <p:nvSpPr>
          <p:cNvPr id="14" name="before_19_a"/>
          <p:cNvSpPr>
            <a:spLocks noGrp="1"/>
          </p:cNvSpPr>
          <p:nvPr/>
        </p:nvSpPr>
        <p:spPr>
          <a:xfrm>
            <a:off x="2667000" y="2428875"/>
            <a:ext cx="476250" cy="476250"/>
          </a:xfrm>
          <a:prstGeom prst="ellipse">
            <a:avLst/>
          </a:prstGeom>
          <a:solidFill>
            <a:srgbClr val="22242A"/>
          </a:solidFill>
          <a:ln w="9525">
            <a:solidFill>
              <a:srgbClr val="FFFFFF"/>
            </a:solidFill>
            <a:prstDash val="solid"/>
          </a:ln>
        </p:spPr>
      </p:sp>
      <p:sp>
        <p:nvSpPr>
          <p:cNvPr id="15" name="before_19_a_label"/>
          <p:cNvSpPr>
            <a:spLocks noGrp="1"/>
          </p:cNvSpPr>
          <p:nvPr/>
        </p:nvSpPr>
        <p:spPr>
          <a:xfrm>
            <a:off x="2705100" y="2543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10</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19_b"/>
          <p:cNvSpPr>
            <a:spLocks noGrp="1"/>
          </p:cNvSpPr>
          <p:nvPr/>
        </p:nvSpPr>
        <p:spPr>
          <a:xfrm>
            <a:off x="1619250" y="3762375"/>
            <a:ext cx="476250" cy="476250"/>
          </a:xfrm>
          <a:prstGeom prst="ellipse">
            <a:avLst/>
          </a:prstGeom>
          <a:solidFill>
            <a:srgbClr val="22242A"/>
          </a:solidFill>
          <a:ln w="9525">
            <a:solidFill>
              <a:srgbClr val="FFFFFF"/>
            </a:solidFill>
            <a:prstDash val="solid"/>
          </a:ln>
        </p:spPr>
      </p:sp>
      <p:sp>
        <p:nvSpPr>
          <p:cNvPr id="17" name="before_19_b_label"/>
          <p:cNvSpPr>
            <a:spLocks noGrp="1"/>
          </p:cNvSpPr>
          <p:nvPr/>
        </p:nvSpPr>
        <p:spPr>
          <a:xfrm>
            <a:off x="165735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before_19_d"/>
          <p:cNvSpPr>
            <a:spLocks noGrp="1"/>
          </p:cNvSpPr>
          <p:nvPr/>
        </p:nvSpPr>
        <p:spPr>
          <a:xfrm>
            <a:off x="3810000" y="3762375"/>
            <a:ext cx="476250" cy="476250"/>
          </a:xfrm>
          <a:prstGeom prst="ellipse">
            <a:avLst/>
          </a:prstGeom>
          <a:solidFill>
            <a:srgbClr val="22242A"/>
          </a:solidFill>
          <a:ln w="9525">
            <a:solidFill>
              <a:srgbClr val="FFFFFF"/>
            </a:solidFill>
            <a:prstDash val="solid"/>
          </a:ln>
        </p:spPr>
      </p:sp>
      <p:sp>
        <p:nvSpPr>
          <p:cNvPr id="19" name="before_19_d_label"/>
          <p:cNvSpPr>
            <a:spLocks noGrp="1"/>
          </p:cNvSpPr>
          <p:nvPr/>
        </p:nvSpPr>
        <p:spPr>
          <a:xfrm>
            <a:off x="38481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 name="before_19_e"/>
          <p:cNvSpPr>
            <a:spLocks noGrp="1"/>
          </p:cNvSpPr>
          <p:nvPr/>
        </p:nvSpPr>
        <p:spPr>
          <a:xfrm>
            <a:off x="3238500" y="4857750"/>
            <a:ext cx="476250" cy="476250"/>
          </a:xfrm>
          <a:prstGeom prst="ellipse">
            <a:avLst/>
          </a:prstGeom>
          <a:solidFill>
            <a:srgbClr val="DE3840"/>
          </a:solidFill>
          <a:ln w="9525">
            <a:solidFill>
              <a:srgbClr val="FFFFFF"/>
            </a:solidFill>
            <a:prstDash val="solid"/>
          </a:ln>
        </p:spPr>
      </p:sp>
      <p:sp>
        <p:nvSpPr>
          <p:cNvPr id="21" name="before_19_e_label"/>
          <p:cNvSpPr>
            <a:spLocks noGrp="1"/>
          </p:cNvSpPr>
          <p:nvPr/>
        </p:nvSpPr>
        <p:spPr>
          <a:xfrm>
            <a:off x="327660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12</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before_19_f"/>
          <p:cNvSpPr>
            <a:spLocks noGrp="1"/>
          </p:cNvSpPr>
          <p:nvPr/>
        </p:nvSpPr>
        <p:spPr>
          <a:xfrm>
            <a:off x="4429125" y="4857750"/>
            <a:ext cx="476250" cy="476250"/>
          </a:xfrm>
          <a:prstGeom prst="ellipse">
            <a:avLst/>
          </a:prstGeom>
          <a:solidFill>
            <a:srgbClr val="DE3840"/>
          </a:solidFill>
          <a:ln w="9525">
            <a:solidFill>
              <a:srgbClr val="FFFFFF"/>
            </a:solidFill>
            <a:prstDash val="solid"/>
          </a:ln>
        </p:spPr>
      </p:sp>
      <p:sp>
        <p:nvSpPr>
          <p:cNvPr id="23" name="before_19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18</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after_19_edge_a_b"/>
          <p:cNvSpPr>
            <a:spLocks noGrp="1"/>
          </p:cNvSpPr>
          <p:nvPr/>
        </p:nvSpPr>
        <p:spPr>
          <a:xfrm rot="7689434">
            <a:off x="7819811" y="3319463"/>
            <a:ext cx="1695878" cy="28575"/>
          </a:xfrm>
          <a:prstGeom prst="rect">
            <a:avLst/>
          </a:prstGeom>
          <a:solidFill>
            <a:srgbClr val="B9BDC5"/>
          </a:solidFill>
          <a:ln w="0">
            <a:noFill/>
            <a:prstDash val="solid"/>
          </a:ln>
        </p:spPr>
      </p:sp>
      <p:sp>
        <p:nvSpPr>
          <p:cNvPr id="25" name="after_19_edge_a_d"/>
          <p:cNvSpPr>
            <a:spLocks noGrp="1"/>
          </p:cNvSpPr>
          <p:nvPr/>
        </p:nvSpPr>
        <p:spPr>
          <a:xfrm rot="2963922">
            <a:off x="8884963" y="3319463"/>
            <a:ext cx="1756323" cy="28575"/>
          </a:xfrm>
          <a:prstGeom prst="rect">
            <a:avLst/>
          </a:prstGeom>
          <a:solidFill>
            <a:srgbClr val="B9BDC5"/>
          </a:solidFill>
          <a:ln w="0">
            <a:noFill/>
            <a:prstDash val="solid"/>
          </a:ln>
        </p:spPr>
      </p:sp>
      <p:sp>
        <p:nvSpPr>
          <p:cNvPr id="26" name="after_19_edge_d_e"/>
          <p:cNvSpPr>
            <a:spLocks noGrp="1"/>
          </p:cNvSpPr>
          <p:nvPr/>
        </p:nvSpPr>
        <p:spPr>
          <a:xfrm rot="7053169">
            <a:off x="9431125" y="4533900"/>
            <a:ext cx="1235499" cy="28575"/>
          </a:xfrm>
          <a:prstGeom prst="rect">
            <a:avLst/>
          </a:prstGeom>
          <a:solidFill>
            <a:srgbClr val="B9BDC5"/>
          </a:solidFill>
          <a:ln w="0">
            <a:noFill/>
            <a:prstDash val="solid"/>
          </a:ln>
        </p:spPr>
      </p:sp>
      <p:sp>
        <p:nvSpPr>
          <p:cNvPr id="27" name="after_19_edge_d_f"/>
          <p:cNvSpPr>
            <a:spLocks noGrp="1"/>
          </p:cNvSpPr>
          <p:nvPr/>
        </p:nvSpPr>
        <p:spPr>
          <a:xfrm rot="3631447">
            <a:off x="10015069" y="4533900"/>
            <a:ext cx="1258238" cy="28575"/>
          </a:xfrm>
          <a:prstGeom prst="rect">
            <a:avLst/>
          </a:prstGeom>
          <a:solidFill>
            <a:srgbClr val="B9BDC5"/>
          </a:solidFill>
          <a:ln w="0">
            <a:noFill/>
            <a:prstDash val="solid"/>
          </a:ln>
        </p:spPr>
      </p:sp>
      <p:sp>
        <p:nvSpPr>
          <p:cNvPr id="28" name="after_19_a"/>
          <p:cNvSpPr>
            <a:spLocks noGrp="1"/>
          </p:cNvSpPr>
          <p:nvPr/>
        </p:nvSpPr>
        <p:spPr>
          <a:xfrm>
            <a:off x="8953500" y="2428875"/>
            <a:ext cx="476250" cy="476250"/>
          </a:xfrm>
          <a:prstGeom prst="ellipse">
            <a:avLst/>
          </a:prstGeom>
          <a:solidFill>
            <a:srgbClr val="22242A"/>
          </a:solidFill>
          <a:ln w="9525">
            <a:solidFill>
              <a:srgbClr val="FFFFFF"/>
            </a:solidFill>
            <a:prstDash val="solid"/>
          </a:ln>
        </p:spPr>
      </p:sp>
      <p:sp>
        <p:nvSpPr>
          <p:cNvPr id="29" name="after_19_a_label"/>
          <p:cNvSpPr>
            <a:spLocks noGrp="1"/>
          </p:cNvSpPr>
          <p:nvPr/>
        </p:nvSpPr>
        <p:spPr>
          <a:xfrm>
            <a:off x="8991600" y="2543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12</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after_19_b"/>
          <p:cNvSpPr>
            <a:spLocks noGrp="1"/>
          </p:cNvSpPr>
          <p:nvPr/>
        </p:nvSpPr>
        <p:spPr>
          <a:xfrm>
            <a:off x="7905750" y="3762375"/>
            <a:ext cx="476250" cy="476250"/>
          </a:xfrm>
          <a:prstGeom prst="ellipse">
            <a:avLst/>
          </a:prstGeom>
          <a:solidFill>
            <a:srgbClr val="22242A"/>
          </a:solidFill>
          <a:ln w="9525">
            <a:solidFill>
              <a:srgbClr val="FFFFFF"/>
            </a:solidFill>
            <a:prstDash val="solid"/>
          </a:ln>
        </p:spPr>
      </p:sp>
      <p:sp>
        <p:nvSpPr>
          <p:cNvPr id="31" name="after_19_b_label"/>
          <p:cNvSpPr>
            <a:spLocks noGrp="1"/>
          </p:cNvSpPr>
          <p:nvPr/>
        </p:nvSpPr>
        <p:spPr>
          <a:xfrm>
            <a:off x="794385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2" name="after_19_d"/>
          <p:cNvSpPr>
            <a:spLocks noGrp="1"/>
          </p:cNvSpPr>
          <p:nvPr/>
        </p:nvSpPr>
        <p:spPr>
          <a:xfrm>
            <a:off x="10096500" y="3762375"/>
            <a:ext cx="476250" cy="476250"/>
          </a:xfrm>
          <a:prstGeom prst="ellipse">
            <a:avLst/>
          </a:prstGeom>
          <a:solidFill>
            <a:srgbClr val="22242A"/>
          </a:solidFill>
          <a:ln w="9525">
            <a:solidFill>
              <a:srgbClr val="FFFFFF"/>
            </a:solidFill>
            <a:prstDash val="solid"/>
          </a:ln>
        </p:spPr>
      </p:sp>
      <p:sp>
        <p:nvSpPr>
          <p:cNvPr id="33" name="after_19_d_label"/>
          <p:cNvSpPr>
            <a:spLocks noGrp="1"/>
          </p:cNvSpPr>
          <p:nvPr/>
        </p:nvSpPr>
        <p:spPr>
          <a:xfrm>
            <a:off x="101346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15</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4" name="after_19_e_outer"/>
          <p:cNvSpPr>
            <a:spLocks noGrp="1"/>
          </p:cNvSpPr>
          <p:nvPr/>
        </p:nvSpPr>
        <p:spPr>
          <a:xfrm>
            <a:off x="9458325" y="4791075"/>
            <a:ext cx="609600" cy="609600"/>
          </a:xfrm>
          <a:prstGeom prst="ellipse">
            <a:avLst/>
          </a:prstGeom>
          <a:solidFill>
            <a:srgbClr val="FFFFFF"/>
          </a:solidFill>
          <a:ln w="28575">
            <a:solidFill>
              <a:srgbClr val="17181C"/>
            </a:solidFill>
            <a:prstDash val="solid"/>
          </a:ln>
        </p:spPr>
      </p:sp>
      <p:sp>
        <p:nvSpPr>
          <p:cNvPr id="35" name="after_19_e"/>
          <p:cNvSpPr>
            <a:spLocks noGrp="1"/>
          </p:cNvSpPr>
          <p:nvPr/>
        </p:nvSpPr>
        <p:spPr>
          <a:xfrm>
            <a:off x="9525000" y="4857750"/>
            <a:ext cx="476250" cy="476250"/>
          </a:xfrm>
          <a:prstGeom prst="ellipse">
            <a:avLst/>
          </a:prstGeom>
          <a:solidFill>
            <a:srgbClr val="DE3840"/>
          </a:solidFill>
          <a:ln w="9525">
            <a:solidFill>
              <a:srgbClr val="FFFFFF"/>
            </a:solidFill>
            <a:prstDash val="solid"/>
          </a:ln>
        </p:spPr>
      </p:sp>
      <p:sp>
        <p:nvSpPr>
          <p:cNvPr id="36" name="after_19_e_label"/>
          <p:cNvSpPr>
            <a:spLocks noGrp="1"/>
          </p:cNvSpPr>
          <p:nvPr/>
        </p:nvSpPr>
        <p:spPr>
          <a:xfrm>
            <a:off x="956310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12</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7" name="after_19_f"/>
          <p:cNvSpPr>
            <a:spLocks noGrp="1"/>
          </p:cNvSpPr>
          <p:nvPr/>
        </p:nvSpPr>
        <p:spPr>
          <a:xfrm>
            <a:off x="10715625" y="4857750"/>
            <a:ext cx="476250" cy="476250"/>
          </a:xfrm>
          <a:prstGeom prst="ellipse">
            <a:avLst/>
          </a:prstGeom>
          <a:solidFill>
            <a:srgbClr val="DE3840"/>
          </a:solidFill>
          <a:ln w="9525">
            <a:solidFill>
              <a:srgbClr val="FFFFFF"/>
            </a:solidFill>
            <a:prstDash val="solid"/>
          </a:ln>
        </p:spPr>
      </p:sp>
      <p:sp>
        <p:nvSpPr>
          <p:cNvPr id="38" name="after_19_f_label"/>
          <p:cNvSpPr>
            <a:spLocks noGrp="1"/>
          </p:cNvSpPr>
          <p:nvPr/>
        </p:nvSpPr>
        <p:spPr>
          <a:xfrm>
            <a:off x="10753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18</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transition_19_shaft"/>
          <p:cNvSpPr>
            <a:spLocks noGrp="1"/>
          </p:cNvSpPr>
          <p:nvPr/>
        </p:nvSpPr>
        <p:spPr>
          <a:xfrm>
            <a:off x="5810250" y="3600450"/>
            <a:ext cx="571500" cy="38100"/>
          </a:xfrm>
          <a:prstGeom prst="rect">
            <a:avLst/>
          </a:prstGeom>
          <a:solidFill>
            <a:srgbClr val="DE3840"/>
          </a:solidFill>
          <a:ln w="0">
            <a:noFill/>
            <a:prstDash val="solid"/>
          </a:ln>
        </p:spPr>
      </p:sp>
      <p:sp>
        <p:nvSpPr>
          <p:cNvPr id="40" name="transition_19_head_1"/>
          <p:cNvSpPr>
            <a:spLocks noGrp="1"/>
          </p:cNvSpPr>
          <p:nvPr/>
        </p:nvSpPr>
        <p:spPr>
          <a:xfrm rot="8856000">
            <a:off x="6276347" y="3631073"/>
            <a:ext cx="114300" cy="38100"/>
          </a:xfrm>
          <a:prstGeom prst="rect">
            <a:avLst/>
          </a:prstGeom>
          <a:solidFill>
            <a:srgbClr val="DE3840"/>
          </a:solidFill>
          <a:ln w="0">
            <a:noFill/>
            <a:prstDash val="solid"/>
          </a:ln>
        </p:spPr>
      </p:sp>
      <p:sp>
        <p:nvSpPr>
          <p:cNvPr id="41" name="transition_19_head_2"/>
          <p:cNvSpPr>
            <a:spLocks noGrp="1"/>
          </p:cNvSpPr>
          <p:nvPr/>
        </p:nvSpPr>
        <p:spPr>
          <a:xfrm rot="-8856000">
            <a:off x="6276347" y="3569827"/>
            <a:ext cx="114300" cy="38100"/>
          </a:xfrm>
          <a:prstGeom prst="rect">
            <a:avLst/>
          </a:prstGeom>
          <a:solidFill>
            <a:srgbClr val="DE3840"/>
          </a:solidFill>
          <a:ln w="0">
            <a:noFill/>
            <a:prstDash val="solid"/>
          </a:ln>
        </p:spPr>
      </p:sp>
      <p:sp>
        <p:nvSpPr>
          <p:cNvPr id="42" name="transition_caption_19"/>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如果交换完整节点，parent、left、right、color 和外部指向都要一起搬迁。复制 key 把结构修改限制在后继原来的小位置。</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0"/>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0"/>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child 接替 node：父亲向下的指针与孩子向上的指针必须分开修改</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0"/>
          <p:cNvSpPr>
            <a:spLocks noGrp="1"/>
          </p:cNvSpPr>
          <p:nvPr/>
        </p:nvSpPr>
        <p:spPr>
          <a:xfrm>
            <a:off x="400050" y="1352550"/>
            <a:ext cx="11391900" cy="19050"/>
          </a:xfrm>
          <a:prstGeom prst="rect">
            <a:avLst/>
          </a:prstGeom>
          <a:solidFill>
            <a:srgbClr val="17181C"/>
          </a:solidFill>
          <a:ln w="0">
            <a:noFill/>
            <a:prstDash val="solid"/>
          </a:ln>
        </p:spPr>
      </p:sp>
      <p:sp>
        <p:nvSpPr>
          <p:cNvPr id="5" name="footer_20"/>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20</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0"/>
          <p:cNvSpPr>
            <a:spLocks noGrp="1"/>
          </p:cNvSpPr>
          <p:nvPr/>
        </p:nvSpPr>
        <p:spPr>
          <a:xfrm>
            <a:off x="400050" y="1695450"/>
            <a:ext cx="5095875" cy="3905250"/>
          </a:xfrm>
          <a:prstGeom prst="rect">
            <a:avLst/>
          </a:prstGeom>
          <a:solidFill>
            <a:srgbClr val="F2F3F5"/>
          </a:solidFill>
          <a:ln w="0">
            <a:noFill/>
            <a:prstDash val="solid"/>
          </a:ln>
        </p:spPr>
      </p:sp>
      <p:sp>
        <p:nvSpPr>
          <p:cNvPr id="7" name="after_panel_20"/>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0"/>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摘除前：P 的左孩子是 node，node 还有一个 child</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0"/>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改接后：P 直接指向 C，C 的 parent 也改成 P</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0_edge_p_n"/>
          <p:cNvSpPr>
            <a:spLocks noGrp="1"/>
          </p:cNvSpPr>
          <p:nvPr/>
        </p:nvSpPr>
        <p:spPr>
          <a:xfrm rot="7393903">
            <a:off x="1579486" y="3295650"/>
            <a:ext cx="1651153" cy="28575"/>
          </a:xfrm>
          <a:prstGeom prst="rect">
            <a:avLst/>
          </a:prstGeom>
          <a:solidFill>
            <a:srgbClr val="B9BDC5"/>
          </a:solidFill>
          <a:ln w="0">
            <a:noFill/>
            <a:prstDash val="solid"/>
          </a:ln>
        </p:spPr>
      </p:sp>
      <p:sp>
        <p:nvSpPr>
          <p:cNvPr id="11" name="before_20_edge_n_c"/>
          <p:cNvSpPr>
            <a:spLocks noGrp="1"/>
          </p:cNvSpPr>
          <p:nvPr/>
        </p:nvSpPr>
        <p:spPr>
          <a:xfrm rot="3631447">
            <a:off x="1633069" y="4533900"/>
            <a:ext cx="1258238" cy="28575"/>
          </a:xfrm>
          <a:prstGeom prst="rect">
            <a:avLst/>
          </a:prstGeom>
          <a:solidFill>
            <a:srgbClr val="B9BDC5"/>
          </a:solidFill>
          <a:ln w="0">
            <a:noFill/>
            <a:prstDash val="solid"/>
          </a:ln>
        </p:spPr>
      </p:sp>
      <p:sp>
        <p:nvSpPr>
          <p:cNvPr id="12" name="before_20_p"/>
          <p:cNvSpPr>
            <a:spLocks noGrp="1"/>
          </p:cNvSpPr>
          <p:nvPr/>
        </p:nvSpPr>
        <p:spPr>
          <a:xfrm>
            <a:off x="2619375" y="2381250"/>
            <a:ext cx="476250" cy="476250"/>
          </a:xfrm>
          <a:prstGeom prst="ellipse">
            <a:avLst/>
          </a:prstGeom>
          <a:solidFill>
            <a:srgbClr val="22242A"/>
          </a:solidFill>
          <a:ln w="9525">
            <a:solidFill>
              <a:srgbClr val="FFFFFF"/>
            </a:solidFill>
            <a:prstDash val="solid"/>
          </a:ln>
        </p:spPr>
      </p:sp>
      <p:sp>
        <p:nvSpPr>
          <p:cNvPr id="13" name="before_20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before_20_n_outer"/>
          <p:cNvSpPr>
            <a:spLocks noGrp="1"/>
          </p:cNvSpPr>
          <p:nvPr/>
        </p:nvSpPr>
        <p:spPr>
          <a:xfrm>
            <a:off x="1647825" y="3695700"/>
            <a:ext cx="609600" cy="609600"/>
          </a:xfrm>
          <a:prstGeom prst="ellipse">
            <a:avLst/>
          </a:prstGeom>
          <a:solidFill>
            <a:srgbClr val="FFFFFF"/>
          </a:solidFill>
          <a:ln w="28575">
            <a:solidFill>
              <a:srgbClr val="17181C"/>
            </a:solidFill>
            <a:prstDash val="solid"/>
          </a:ln>
        </p:spPr>
      </p:sp>
      <p:sp>
        <p:nvSpPr>
          <p:cNvPr id="15" name="before_20_n"/>
          <p:cNvSpPr>
            <a:spLocks noGrp="1"/>
          </p:cNvSpPr>
          <p:nvPr/>
        </p:nvSpPr>
        <p:spPr>
          <a:xfrm>
            <a:off x="1714500" y="3762375"/>
            <a:ext cx="476250" cy="476250"/>
          </a:xfrm>
          <a:prstGeom prst="ellipse">
            <a:avLst/>
          </a:prstGeom>
          <a:solidFill>
            <a:srgbClr val="22242A"/>
          </a:solidFill>
          <a:ln w="9525">
            <a:solidFill>
              <a:srgbClr val="FFFFFF"/>
            </a:solidFill>
            <a:prstDash val="solid"/>
          </a:ln>
        </p:spPr>
      </p:sp>
      <p:sp>
        <p:nvSpPr>
          <p:cNvPr id="16" name="before_20_n_label"/>
          <p:cNvSpPr>
            <a:spLocks noGrp="1"/>
          </p:cNvSpPr>
          <p:nvPr/>
        </p:nvSpPr>
        <p:spPr>
          <a:xfrm>
            <a:off x="17526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before_20_c"/>
          <p:cNvSpPr>
            <a:spLocks noGrp="1"/>
          </p:cNvSpPr>
          <p:nvPr/>
        </p:nvSpPr>
        <p:spPr>
          <a:xfrm>
            <a:off x="2333625" y="4857750"/>
            <a:ext cx="476250" cy="476250"/>
          </a:xfrm>
          <a:prstGeom prst="ellipse">
            <a:avLst/>
          </a:prstGeom>
          <a:solidFill>
            <a:srgbClr val="DE3840"/>
          </a:solidFill>
          <a:ln w="9525">
            <a:solidFill>
              <a:srgbClr val="FFFFFF"/>
            </a:solidFill>
            <a:prstDash val="solid"/>
          </a:ln>
        </p:spPr>
      </p:sp>
      <p:sp>
        <p:nvSpPr>
          <p:cNvPr id="18" name="before_20_c_label"/>
          <p:cNvSpPr>
            <a:spLocks noGrp="1"/>
          </p:cNvSpPr>
          <p:nvPr/>
        </p:nvSpPr>
        <p:spPr>
          <a:xfrm>
            <a:off x="2371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C</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after_20_edge_p_c"/>
          <p:cNvSpPr>
            <a:spLocks noGrp="1"/>
          </p:cNvSpPr>
          <p:nvPr/>
        </p:nvSpPr>
        <p:spPr>
          <a:xfrm rot="7195891">
            <a:off x="7832435" y="3390900"/>
            <a:ext cx="1813506" cy="28575"/>
          </a:xfrm>
          <a:prstGeom prst="rect">
            <a:avLst/>
          </a:prstGeom>
          <a:solidFill>
            <a:srgbClr val="B9BDC5"/>
          </a:solidFill>
          <a:ln w="0">
            <a:noFill/>
            <a:prstDash val="solid"/>
          </a:ln>
        </p:spPr>
      </p:sp>
      <p:sp>
        <p:nvSpPr>
          <p:cNvPr id="20" name="after_20_p"/>
          <p:cNvSpPr>
            <a:spLocks noGrp="1"/>
          </p:cNvSpPr>
          <p:nvPr/>
        </p:nvSpPr>
        <p:spPr>
          <a:xfrm>
            <a:off x="8953500" y="2381250"/>
            <a:ext cx="476250" cy="476250"/>
          </a:xfrm>
          <a:prstGeom prst="ellipse">
            <a:avLst/>
          </a:prstGeom>
          <a:solidFill>
            <a:srgbClr val="22242A"/>
          </a:solidFill>
          <a:ln w="9525">
            <a:solidFill>
              <a:srgbClr val="FFFFFF"/>
            </a:solidFill>
            <a:prstDash val="solid"/>
          </a:ln>
        </p:spPr>
      </p:sp>
      <p:sp>
        <p:nvSpPr>
          <p:cNvPr id="21" name="after_20_p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after_20_c"/>
          <p:cNvSpPr>
            <a:spLocks noGrp="1"/>
          </p:cNvSpPr>
          <p:nvPr/>
        </p:nvSpPr>
        <p:spPr>
          <a:xfrm>
            <a:off x="8048625" y="3952875"/>
            <a:ext cx="476250" cy="476250"/>
          </a:xfrm>
          <a:prstGeom prst="ellipse">
            <a:avLst/>
          </a:prstGeom>
          <a:solidFill>
            <a:srgbClr val="DE3840"/>
          </a:solidFill>
          <a:ln w="9525">
            <a:solidFill>
              <a:srgbClr val="FFFFFF"/>
            </a:solidFill>
            <a:prstDash val="solid"/>
          </a:ln>
        </p:spPr>
      </p:sp>
      <p:sp>
        <p:nvSpPr>
          <p:cNvPr id="23" name="after_20_c_label"/>
          <p:cNvSpPr>
            <a:spLocks noGrp="1"/>
          </p:cNvSpPr>
          <p:nvPr/>
        </p:nvSpPr>
        <p:spPr>
          <a:xfrm>
            <a:off x="8086725" y="40671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C</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transition_20_shaft"/>
          <p:cNvSpPr>
            <a:spLocks noGrp="1"/>
          </p:cNvSpPr>
          <p:nvPr/>
        </p:nvSpPr>
        <p:spPr>
          <a:xfrm>
            <a:off x="5810250" y="3600450"/>
            <a:ext cx="571500" cy="38100"/>
          </a:xfrm>
          <a:prstGeom prst="rect">
            <a:avLst/>
          </a:prstGeom>
          <a:solidFill>
            <a:srgbClr val="DE3840"/>
          </a:solidFill>
          <a:ln w="0">
            <a:noFill/>
            <a:prstDash val="solid"/>
          </a:ln>
        </p:spPr>
      </p:sp>
      <p:sp>
        <p:nvSpPr>
          <p:cNvPr id="25" name="transition_20_head_1"/>
          <p:cNvSpPr>
            <a:spLocks noGrp="1"/>
          </p:cNvSpPr>
          <p:nvPr/>
        </p:nvSpPr>
        <p:spPr>
          <a:xfrm rot="8856000">
            <a:off x="6276347" y="3631073"/>
            <a:ext cx="114300" cy="38100"/>
          </a:xfrm>
          <a:prstGeom prst="rect">
            <a:avLst/>
          </a:prstGeom>
          <a:solidFill>
            <a:srgbClr val="DE3840"/>
          </a:solidFill>
          <a:ln w="0">
            <a:noFill/>
            <a:prstDash val="solid"/>
          </a:ln>
        </p:spPr>
      </p:sp>
      <p:sp>
        <p:nvSpPr>
          <p:cNvPr id="26" name="transition_20_head_2"/>
          <p:cNvSpPr>
            <a:spLocks noGrp="1"/>
          </p:cNvSpPr>
          <p:nvPr/>
        </p:nvSpPr>
        <p:spPr>
          <a:xfrm rot="-8856000">
            <a:off x="6276347" y="3569827"/>
            <a:ext cx="114300" cy="38100"/>
          </a:xfrm>
          <a:prstGeom prst="rect">
            <a:avLst/>
          </a:prstGeom>
          <a:solidFill>
            <a:srgbClr val="DE3840"/>
          </a:solidFill>
          <a:ln w="0">
            <a:noFill/>
            <a:prstDash val="solid"/>
          </a:ln>
        </p:spPr>
      </p:sp>
      <p:sp>
        <p:nvSpPr>
          <p:cNvPr id="27" name="transition_caption_20"/>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parent-&gt;left = child 解决向下连接；child-&gt;parent = node-&gt;parent 解决反向连接。只改其中一边，树就会出现“走下去和走回来不是同一条路”。</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1"/>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1"/>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删红节点为什么可以直接结束：它从来没有参与黑高计数</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1"/>
          <p:cNvSpPr>
            <a:spLocks noGrp="1"/>
          </p:cNvSpPr>
          <p:nvPr/>
        </p:nvSpPr>
        <p:spPr>
          <a:xfrm>
            <a:off x="400050" y="1352550"/>
            <a:ext cx="11391900" cy="19050"/>
          </a:xfrm>
          <a:prstGeom prst="rect">
            <a:avLst/>
          </a:prstGeom>
          <a:solidFill>
            <a:srgbClr val="17181C"/>
          </a:solidFill>
          <a:ln w="0">
            <a:noFill/>
            <a:prstDash val="solid"/>
          </a:ln>
        </p:spPr>
      </p:sp>
      <p:sp>
        <p:nvSpPr>
          <p:cNvPr id="5" name="footer_21"/>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21</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21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红节点消失后，哪些性质可能变化？</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21_42"/>
          <p:cNvSpPr>
            <a:spLocks noGrp="1"/>
          </p:cNvSpPr>
          <p:nvPr/>
        </p:nvSpPr>
        <p:spPr>
          <a:xfrm>
            <a:off x="400050" y="2305050"/>
            <a:ext cx="66675" cy="3629025"/>
          </a:xfrm>
          <a:prstGeom prst="rect">
            <a:avLst/>
          </a:prstGeom>
          <a:solidFill>
            <a:srgbClr val="DE3840"/>
          </a:solidFill>
          <a:ln w="0">
            <a:noFill/>
            <a:prstDash val="solid"/>
          </a:ln>
        </p:spPr>
      </p:sp>
      <p:sp>
        <p:nvSpPr>
          <p:cNvPr id="8" name="reason_body_21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二叉搜索树顺序已经由 child 接替阶段处理完；红节点本身又不计入黑高，所以任何经过它的路径，删除前后黑节点数量都不变。</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它也不可能有红孩子。因为删除开始前树是合法的，红节点若连接红孩子，早就违反红黑性质。</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因此删红节点不需要 adjustRemove。这里不是“少写一个分支”，而是从不变量出发证明没有任何颜色债务产生。</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remove_red_edge_p_a"/>
          <p:cNvSpPr>
            <a:spLocks noGrp="1"/>
          </p:cNvSpPr>
          <p:nvPr/>
        </p:nvSpPr>
        <p:spPr>
          <a:xfrm rot="7396493">
            <a:off x="7256256" y="3224213"/>
            <a:ext cx="1822862" cy="28575"/>
          </a:xfrm>
          <a:prstGeom prst="rect">
            <a:avLst/>
          </a:prstGeom>
          <a:solidFill>
            <a:srgbClr val="B9BDC5"/>
          </a:solidFill>
          <a:ln w="0">
            <a:noFill/>
            <a:prstDash val="solid"/>
          </a:ln>
        </p:spPr>
      </p:sp>
      <p:sp>
        <p:nvSpPr>
          <p:cNvPr id="10" name="remove_red_edge_p_n"/>
          <p:cNvSpPr>
            <a:spLocks noGrp="1"/>
          </p:cNvSpPr>
          <p:nvPr/>
        </p:nvSpPr>
        <p:spPr>
          <a:xfrm rot="3403507">
            <a:off x="8256381" y="3224213"/>
            <a:ext cx="1822862" cy="28575"/>
          </a:xfrm>
          <a:prstGeom prst="rect">
            <a:avLst/>
          </a:prstGeom>
          <a:solidFill>
            <a:srgbClr val="B9BDC5"/>
          </a:solidFill>
          <a:ln w="0">
            <a:noFill/>
            <a:prstDash val="solid"/>
          </a:ln>
        </p:spPr>
      </p:sp>
      <p:sp>
        <p:nvSpPr>
          <p:cNvPr id="11" name="remove_red_p"/>
          <p:cNvSpPr>
            <a:spLocks noGrp="1"/>
          </p:cNvSpPr>
          <p:nvPr/>
        </p:nvSpPr>
        <p:spPr>
          <a:xfrm>
            <a:off x="8429625" y="2238375"/>
            <a:ext cx="476250" cy="476250"/>
          </a:xfrm>
          <a:prstGeom prst="ellipse">
            <a:avLst/>
          </a:prstGeom>
          <a:solidFill>
            <a:srgbClr val="22242A"/>
          </a:solidFill>
          <a:ln w="9525">
            <a:solidFill>
              <a:srgbClr val="FFFFFF"/>
            </a:solidFill>
            <a:prstDash val="solid"/>
          </a:ln>
        </p:spPr>
      </p:sp>
      <p:sp>
        <p:nvSpPr>
          <p:cNvPr id="12" name="remove_red_p_label"/>
          <p:cNvSpPr>
            <a:spLocks noGrp="1"/>
          </p:cNvSpPr>
          <p:nvPr/>
        </p:nvSpPr>
        <p:spPr>
          <a:xfrm>
            <a:off x="8467725" y="2352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remove_red_a"/>
          <p:cNvSpPr>
            <a:spLocks noGrp="1"/>
          </p:cNvSpPr>
          <p:nvPr/>
        </p:nvSpPr>
        <p:spPr>
          <a:xfrm>
            <a:off x="7429500" y="3762375"/>
            <a:ext cx="476250" cy="476250"/>
          </a:xfrm>
          <a:prstGeom prst="ellipse">
            <a:avLst/>
          </a:prstGeom>
          <a:solidFill>
            <a:srgbClr val="22242A"/>
          </a:solidFill>
          <a:ln w="9525">
            <a:solidFill>
              <a:srgbClr val="FFFFFF"/>
            </a:solidFill>
            <a:prstDash val="solid"/>
          </a:ln>
        </p:spPr>
      </p:sp>
      <p:sp>
        <p:nvSpPr>
          <p:cNvPr id="14" name="remove_red_a_label"/>
          <p:cNvSpPr>
            <a:spLocks noGrp="1"/>
          </p:cNvSpPr>
          <p:nvPr/>
        </p:nvSpPr>
        <p:spPr>
          <a:xfrm>
            <a:off x="746760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A</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remove_red_n"/>
          <p:cNvSpPr>
            <a:spLocks noGrp="1"/>
          </p:cNvSpPr>
          <p:nvPr/>
        </p:nvSpPr>
        <p:spPr>
          <a:xfrm>
            <a:off x="9429750" y="3762375"/>
            <a:ext cx="476250" cy="476250"/>
          </a:xfrm>
          <a:prstGeom prst="ellipse">
            <a:avLst/>
          </a:prstGeom>
          <a:solidFill>
            <a:srgbClr val="DE3840"/>
          </a:solidFill>
          <a:ln w="9525">
            <a:solidFill>
              <a:srgbClr val="FFFFFF"/>
            </a:solidFill>
            <a:prstDash val="solid"/>
          </a:ln>
        </p:spPr>
      </p:sp>
      <p:sp>
        <p:nvSpPr>
          <p:cNvPr id="16" name="remove_red_n_label"/>
          <p:cNvSpPr>
            <a:spLocks noGrp="1"/>
          </p:cNvSpPr>
          <p:nvPr/>
        </p:nvSpPr>
        <p:spPr>
          <a:xfrm>
            <a:off x="9467850" y="387667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remove_red_arrow_shaft"/>
          <p:cNvSpPr>
            <a:spLocks noGrp="1"/>
          </p:cNvSpPr>
          <p:nvPr/>
        </p:nvSpPr>
        <p:spPr>
          <a:xfrm>
            <a:off x="10334625" y="3981450"/>
            <a:ext cx="714375" cy="38100"/>
          </a:xfrm>
          <a:prstGeom prst="rect">
            <a:avLst/>
          </a:prstGeom>
          <a:solidFill>
            <a:srgbClr val="DE3840"/>
          </a:solidFill>
          <a:ln w="0">
            <a:noFill/>
            <a:prstDash val="solid"/>
          </a:ln>
        </p:spPr>
      </p:sp>
      <p:sp>
        <p:nvSpPr>
          <p:cNvPr id="18" name="remove_red_arrow_head_1"/>
          <p:cNvSpPr>
            <a:spLocks noGrp="1"/>
          </p:cNvSpPr>
          <p:nvPr/>
        </p:nvSpPr>
        <p:spPr>
          <a:xfrm rot="8856000">
            <a:off x="10943597" y="4012073"/>
            <a:ext cx="114300" cy="38100"/>
          </a:xfrm>
          <a:prstGeom prst="rect">
            <a:avLst/>
          </a:prstGeom>
          <a:solidFill>
            <a:srgbClr val="DE3840"/>
          </a:solidFill>
          <a:ln w="0">
            <a:noFill/>
            <a:prstDash val="solid"/>
          </a:ln>
        </p:spPr>
      </p:sp>
      <p:sp>
        <p:nvSpPr>
          <p:cNvPr id="19" name="remove_red_arrow_head_2"/>
          <p:cNvSpPr>
            <a:spLocks noGrp="1"/>
          </p:cNvSpPr>
          <p:nvPr/>
        </p:nvSpPr>
        <p:spPr>
          <a:xfrm rot="-8856000">
            <a:off x="10943597" y="3950827"/>
            <a:ext cx="114300" cy="38100"/>
          </a:xfrm>
          <a:prstGeom prst="rect">
            <a:avLst/>
          </a:prstGeom>
          <a:solidFill>
            <a:srgbClr val="DE3840"/>
          </a:solidFill>
          <a:ln w="0">
            <a:noFill/>
            <a:prstDash val="solid"/>
          </a:ln>
        </p:spPr>
      </p:sp>
      <p:sp>
        <p:nvSpPr>
          <p:cNvPr id="20" name="remove_red_text"/>
          <p:cNvSpPr>
            <a:spLocks noGrp="1"/>
          </p:cNvSpPr>
          <p:nvPr/>
        </p:nvSpPr>
        <p:spPr>
          <a:xfrm>
            <a:off x="10001250" y="4476750"/>
            <a:ext cx="1524000" cy="285750"/>
          </a:xfrm>
          <a:prstGeom prst="rect">
            <a:avLst/>
          </a:prstGeom>
          <a:noFill/>
          <a:ln w="0">
            <a:noFill/>
            <a:prstDash val="solid"/>
          </a:ln>
        </p:spPr>
        <p:txBody>
          <a:bodyPr lIns="0" tIns="0" rIns="0" bIns="0" anchor="t"/>
          <a:lstStyle/>
          <a:p>
            <a:pPr algn="ctr">
              <a:defRPr sz="1425" b="1">
                <a:solidFill>
                  <a:srgbClr val="DE3840"/>
                </a:solidFill>
                <a:latin typeface="微软雅黑" panose="020B0503020204020204" charset="-122"/>
                <a:ea typeface="微软雅黑" panose="020B0503020204020204" charset="-122"/>
                <a:cs typeface="微软雅黑" panose="020B0503020204020204" charset="-122"/>
              </a:defRPr>
            </a:pPr>
            <a:r>
              <a:rPr sz="1425" b="1">
                <a:solidFill>
                  <a:srgbClr val="DE3840"/>
                </a:solidFill>
                <a:latin typeface="微软雅黑" panose="020B0503020204020204" charset="-122"/>
                <a:ea typeface="微软雅黑" panose="020B0503020204020204" charset="-122"/>
                <a:cs typeface="微软雅黑" panose="020B0503020204020204" charset="-122"/>
              </a:rPr>
              <a:t>直接摘除</a:t>
            </a:r>
            <a:endParaRPr sz="1425"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21" name="takeaway_21"/>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17181C"/>
                </a:solidFill>
                <a:latin typeface="微软雅黑" panose="020B0503020204020204" charset="-122"/>
                <a:ea typeface="微软雅黑" panose="020B0503020204020204" charset="-122"/>
                <a:cs typeface="微软雅黑" panose="020B0503020204020204" charset="-122"/>
              </a:defRPr>
            </a:pPr>
            <a:r>
              <a:rPr sz="1575" b="1">
                <a:solidFill>
                  <a:srgbClr val="17181C"/>
                </a:solidFill>
                <a:latin typeface="微软雅黑" panose="020B0503020204020204" charset="-122"/>
                <a:ea typeface="微软雅黑" panose="020B0503020204020204" charset="-122"/>
                <a:cs typeface="微软雅黑" panose="020B0503020204020204" charset="-122"/>
              </a:rPr>
              <a:t>删除修复只在“被摘掉的 node 是黑色”时启动。</a:t>
            </a:r>
            <a:endParaRPr sz="1575" b="1">
              <a:solidFill>
                <a:srgbClr val="17181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2"/>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2"/>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黑 node 只有一个红 child：把 child 染黑，刚好补回一个黑色</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2"/>
          <p:cNvSpPr>
            <a:spLocks noGrp="1"/>
          </p:cNvSpPr>
          <p:nvPr/>
        </p:nvSpPr>
        <p:spPr>
          <a:xfrm>
            <a:off x="400050" y="1352550"/>
            <a:ext cx="11391900" cy="19050"/>
          </a:xfrm>
          <a:prstGeom prst="rect">
            <a:avLst/>
          </a:prstGeom>
          <a:solidFill>
            <a:srgbClr val="17181C"/>
          </a:solidFill>
          <a:ln w="0">
            <a:noFill/>
            <a:prstDash val="solid"/>
          </a:ln>
        </p:spPr>
      </p:sp>
      <p:sp>
        <p:nvSpPr>
          <p:cNvPr id="5" name="footer_22"/>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22</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2"/>
          <p:cNvSpPr>
            <a:spLocks noGrp="1"/>
          </p:cNvSpPr>
          <p:nvPr/>
        </p:nvSpPr>
        <p:spPr>
          <a:xfrm>
            <a:off x="400050" y="1695450"/>
            <a:ext cx="5095875" cy="3905250"/>
          </a:xfrm>
          <a:prstGeom prst="rect">
            <a:avLst/>
          </a:prstGeom>
          <a:solidFill>
            <a:srgbClr val="F2F3F5"/>
          </a:solidFill>
          <a:ln w="0">
            <a:noFill/>
            <a:prstDash val="solid"/>
          </a:ln>
        </p:spPr>
      </p:sp>
      <p:sp>
        <p:nvSpPr>
          <p:cNvPr id="7" name="after_panel_22"/>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2"/>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删除前：路径经过黑 N，再经过红 C</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2"/>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删除后：C 接替 N，并由红变黑</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2_edge_p_n"/>
          <p:cNvSpPr>
            <a:spLocks noGrp="1"/>
          </p:cNvSpPr>
          <p:nvPr/>
        </p:nvSpPr>
        <p:spPr>
          <a:xfrm rot="7393903">
            <a:off x="1627111" y="3248025"/>
            <a:ext cx="1651153" cy="28575"/>
          </a:xfrm>
          <a:prstGeom prst="rect">
            <a:avLst/>
          </a:prstGeom>
          <a:solidFill>
            <a:srgbClr val="B9BDC5"/>
          </a:solidFill>
          <a:ln w="0">
            <a:noFill/>
            <a:prstDash val="solid"/>
          </a:ln>
        </p:spPr>
      </p:sp>
      <p:sp>
        <p:nvSpPr>
          <p:cNvPr id="11" name="before_22_edge_n_c"/>
          <p:cNvSpPr>
            <a:spLocks noGrp="1"/>
          </p:cNvSpPr>
          <p:nvPr/>
        </p:nvSpPr>
        <p:spPr>
          <a:xfrm rot="3746831">
            <a:off x="1668250" y="4486275"/>
            <a:ext cx="1235499" cy="28575"/>
          </a:xfrm>
          <a:prstGeom prst="rect">
            <a:avLst/>
          </a:prstGeom>
          <a:solidFill>
            <a:srgbClr val="B9BDC5"/>
          </a:solidFill>
          <a:ln w="0">
            <a:noFill/>
            <a:prstDash val="solid"/>
          </a:ln>
        </p:spPr>
      </p:sp>
      <p:sp>
        <p:nvSpPr>
          <p:cNvPr id="12" name="before_22_p"/>
          <p:cNvSpPr>
            <a:spLocks noGrp="1"/>
          </p:cNvSpPr>
          <p:nvPr/>
        </p:nvSpPr>
        <p:spPr>
          <a:xfrm>
            <a:off x="2667000" y="2333625"/>
            <a:ext cx="476250" cy="476250"/>
          </a:xfrm>
          <a:prstGeom prst="ellipse">
            <a:avLst/>
          </a:prstGeom>
          <a:solidFill>
            <a:srgbClr val="22242A"/>
          </a:solidFill>
          <a:ln w="9525">
            <a:solidFill>
              <a:srgbClr val="FFFFFF"/>
            </a:solidFill>
            <a:prstDash val="solid"/>
          </a:ln>
        </p:spPr>
      </p:sp>
      <p:sp>
        <p:nvSpPr>
          <p:cNvPr id="13" name="before_22_p_label"/>
          <p:cNvSpPr>
            <a:spLocks noGrp="1"/>
          </p:cNvSpPr>
          <p:nvPr/>
        </p:nvSpPr>
        <p:spPr>
          <a:xfrm>
            <a:off x="2705100" y="2447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before_22_n"/>
          <p:cNvSpPr>
            <a:spLocks noGrp="1"/>
          </p:cNvSpPr>
          <p:nvPr/>
        </p:nvSpPr>
        <p:spPr>
          <a:xfrm>
            <a:off x="1762125" y="3714750"/>
            <a:ext cx="476250" cy="476250"/>
          </a:xfrm>
          <a:prstGeom prst="ellipse">
            <a:avLst/>
          </a:prstGeom>
          <a:solidFill>
            <a:srgbClr val="22242A"/>
          </a:solidFill>
          <a:ln w="9525">
            <a:solidFill>
              <a:srgbClr val="FFFFFF"/>
            </a:solidFill>
            <a:prstDash val="solid"/>
          </a:ln>
        </p:spPr>
      </p:sp>
      <p:sp>
        <p:nvSpPr>
          <p:cNvPr id="15" name="before_22_n_label"/>
          <p:cNvSpPr>
            <a:spLocks noGrp="1"/>
          </p:cNvSpPr>
          <p:nvPr/>
        </p:nvSpPr>
        <p:spPr>
          <a:xfrm>
            <a:off x="1800225" y="3829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22_c"/>
          <p:cNvSpPr>
            <a:spLocks noGrp="1"/>
          </p:cNvSpPr>
          <p:nvPr/>
        </p:nvSpPr>
        <p:spPr>
          <a:xfrm>
            <a:off x="2333625" y="4810125"/>
            <a:ext cx="476250" cy="476250"/>
          </a:xfrm>
          <a:prstGeom prst="ellipse">
            <a:avLst/>
          </a:prstGeom>
          <a:solidFill>
            <a:srgbClr val="DE3840"/>
          </a:solidFill>
          <a:ln w="9525">
            <a:solidFill>
              <a:srgbClr val="FFFFFF"/>
            </a:solidFill>
            <a:prstDash val="solid"/>
          </a:ln>
        </p:spPr>
      </p:sp>
      <p:sp>
        <p:nvSpPr>
          <p:cNvPr id="17" name="before_22_c_label"/>
          <p:cNvSpPr>
            <a:spLocks noGrp="1"/>
          </p:cNvSpPr>
          <p:nvPr/>
        </p:nvSpPr>
        <p:spPr>
          <a:xfrm>
            <a:off x="2371725" y="49244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C</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after_22_edge_p_c"/>
          <p:cNvSpPr>
            <a:spLocks noGrp="1"/>
          </p:cNvSpPr>
          <p:nvPr/>
        </p:nvSpPr>
        <p:spPr>
          <a:xfrm rot="7241983">
            <a:off x="7852991" y="3319463"/>
            <a:ext cx="1772392" cy="28575"/>
          </a:xfrm>
          <a:prstGeom prst="rect">
            <a:avLst/>
          </a:prstGeom>
          <a:solidFill>
            <a:srgbClr val="B9BDC5"/>
          </a:solidFill>
          <a:ln w="0">
            <a:noFill/>
            <a:prstDash val="solid"/>
          </a:ln>
        </p:spPr>
      </p:sp>
      <p:sp>
        <p:nvSpPr>
          <p:cNvPr id="19" name="after_22_p"/>
          <p:cNvSpPr>
            <a:spLocks noGrp="1"/>
          </p:cNvSpPr>
          <p:nvPr/>
        </p:nvSpPr>
        <p:spPr>
          <a:xfrm>
            <a:off x="8953500" y="2333625"/>
            <a:ext cx="476250" cy="476250"/>
          </a:xfrm>
          <a:prstGeom prst="ellipse">
            <a:avLst/>
          </a:prstGeom>
          <a:solidFill>
            <a:srgbClr val="22242A"/>
          </a:solidFill>
          <a:ln w="9525">
            <a:solidFill>
              <a:srgbClr val="FFFFFF"/>
            </a:solidFill>
            <a:prstDash val="solid"/>
          </a:ln>
        </p:spPr>
      </p:sp>
      <p:sp>
        <p:nvSpPr>
          <p:cNvPr id="20" name="after_22_p_label"/>
          <p:cNvSpPr>
            <a:spLocks noGrp="1"/>
          </p:cNvSpPr>
          <p:nvPr/>
        </p:nvSpPr>
        <p:spPr>
          <a:xfrm>
            <a:off x="8991600" y="2447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after_22_c"/>
          <p:cNvSpPr>
            <a:spLocks noGrp="1"/>
          </p:cNvSpPr>
          <p:nvPr/>
        </p:nvSpPr>
        <p:spPr>
          <a:xfrm>
            <a:off x="8048625" y="3857625"/>
            <a:ext cx="476250" cy="476250"/>
          </a:xfrm>
          <a:prstGeom prst="ellipse">
            <a:avLst/>
          </a:prstGeom>
          <a:solidFill>
            <a:srgbClr val="22242A"/>
          </a:solidFill>
          <a:ln w="9525">
            <a:solidFill>
              <a:srgbClr val="FFFFFF"/>
            </a:solidFill>
            <a:prstDash val="solid"/>
          </a:ln>
        </p:spPr>
      </p:sp>
      <p:sp>
        <p:nvSpPr>
          <p:cNvPr id="22" name="after_22_c_label"/>
          <p:cNvSpPr>
            <a:spLocks noGrp="1"/>
          </p:cNvSpPr>
          <p:nvPr/>
        </p:nvSpPr>
        <p:spPr>
          <a:xfrm>
            <a:off x="8086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C</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transition_22_shaft"/>
          <p:cNvSpPr>
            <a:spLocks noGrp="1"/>
          </p:cNvSpPr>
          <p:nvPr/>
        </p:nvSpPr>
        <p:spPr>
          <a:xfrm>
            <a:off x="5810250" y="3600450"/>
            <a:ext cx="571500" cy="38100"/>
          </a:xfrm>
          <a:prstGeom prst="rect">
            <a:avLst/>
          </a:prstGeom>
          <a:solidFill>
            <a:srgbClr val="DE3840"/>
          </a:solidFill>
          <a:ln w="0">
            <a:noFill/>
            <a:prstDash val="solid"/>
          </a:ln>
        </p:spPr>
      </p:sp>
      <p:sp>
        <p:nvSpPr>
          <p:cNvPr id="24" name="transition_22_head_1"/>
          <p:cNvSpPr>
            <a:spLocks noGrp="1"/>
          </p:cNvSpPr>
          <p:nvPr/>
        </p:nvSpPr>
        <p:spPr>
          <a:xfrm rot="8856000">
            <a:off x="6276347" y="3631073"/>
            <a:ext cx="114300" cy="38100"/>
          </a:xfrm>
          <a:prstGeom prst="rect">
            <a:avLst/>
          </a:prstGeom>
          <a:solidFill>
            <a:srgbClr val="DE3840"/>
          </a:solidFill>
          <a:ln w="0">
            <a:noFill/>
            <a:prstDash val="solid"/>
          </a:ln>
        </p:spPr>
      </p:sp>
      <p:sp>
        <p:nvSpPr>
          <p:cNvPr id="25" name="transition_22_head_2"/>
          <p:cNvSpPr>
            <a:spLocks noGrp="1"/>
          </p:cNvSpPr>
          <p:nvPr/>
        </p:nvSpPr>
        <p:spPr>
          <a:xfrm rot="-8856000">
            <a:off x="6276347" y="3569827"/>
            <a:ext cx="114300" cy="38100"/>
          </a:xfrm>
          <a:prstGeom prst="rect">
            <a:avLst/>
          </a:prstGeom>
          <a:solidFill>
            <a:srgbClr val="DE3840"/>
          </a:solidFill>
          <a:ln w="0">
            <a:noFill/>
            <a:prstDash val="solid"/>
          </a:ln>
        </p:spPr>
      </p:sp>
      <p:sp>
        <p:nvSpPr>
          <p:cNvPr id="26" name="transition_caption_22"/>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原路径中的黑色 N 消失了，但红色 C 接替位置后染黑，正好重新贡献一个黑节点。修复在当前槽位就能结束。</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3"/>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3"/>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黑 node 没有红 child：为什么要创建 DOUBLE_BLACK 临时节点</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3"/>
          <p:cNvSpPr>
            <a:spLocks noGrp="1"/>
          </p:cNvSpPr>
          <p:nvPr/>
        </p:nvSpPr>
        <p:spPr>
          <a:xfrm>
            <a:off x="400050" y="1352550"/>
            <a:ext cx="11391900" cy="19050"/>
          </a:xfrm>
          <a:prstGeom prst="rect">
            <a:avLst/>
          </a:prstGeom>
          <a:solidFill>
            <a:srgbClr val="17181C"/>
          </a:solidFill>
          <a:ln w="0">
            <a:noFill/>
            <a:prstDash val="solid"/>
          </a:ln>
        </p:spPr>
      </p:sp>
      <p:sp>
        <p:nvSpPr>
          <p:cNvPr id="5" name="footer_23"/>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23</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23_42"/>
          <p:cNvSpPr>
            <a:spLocks noGrp="1"/>
          </p:cNvSpPr>
          <p:nvPr/>
        </p:nvSpPr>
        <p:spPr>
          <a:xfrm>
            <a:off x="400050" y="1695450"/>
            <a:ext cx="5810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“这里少了一个黑色”怎样交给函数处理？</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23_42"/>
          <p:cNvSpPr>
            <a:spLocks noGrp="1"/>
          </p:cNvSpPr>
          <p:nvPr/>
        </p:nvSpPr>
        <p:spPr>
          <a:xfrm>
            <a:off x="400050" y="2305050"/>
            <a:ext cx="66675" cy="3629025"/>
          </a:xfrm>
          <a:prstGeom prst="rect">
            <a:avLst/>
          </a:prstGeom>
          <a:solidFill>
            <a:srgbClr val="DE3840"/>
          </a:solidFill>
          <a:ln w="0">
            <a:noFill/>
            <a:prstDash val="solid"/>
          </a:ln>
        </p:spPr>
      </p:sp>
      <p:sp>
        <p:nvSpPr>
          <p:cNvPr id="8" name="reason_body_23_42"/>
          <p:cNvSpPr>
            <a:spLocks noGrp="1"/>
          </p:cNvSpPr>
          <p:nvPr/>
        </p:nvSpPr>
        <p:spPr>
          <a:xfrm>
            <a:off x="628650" y="2419350"/>
            <a:ext cx="5524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 child 是 NULL，代码没有一个真实对象可以调用 adjustRemove；NULL 也没有 parent，无法判断自己原来位于父亲左边还是右边，更找不到 sibling。</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因此代码创建一个 DOUBLE_BLACK 节点，并把它挂回被删除 node 原来的槽位。它的 key 并不参与搜索，真正有用的是 parent 和“我是左孩子还是右孩子”这两个位置信息。</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这就是状态设计：把一句抽象描述——这条路径欠一个黑色——变成可以沿 parent 指针移动的对象。</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23_675"/>
          <p:cNvSpPr>
            <a:spLocks noGrp="1"/>
          </p:cNvSpPr>
          <p:nvPr/>
        </p:nvSpPr>
        <p:spPr>
          <a:xfrm>
            <a:off x="6429375" y="1762125"/>
            <a:ext cx="4905375" cy="3333750"/>
          </a:xfrm>
          <a:prstGeom prst="rect">
            <a:avLst/>
          </a:prstGeom>
          <a:solidFill>
            <a:srgbClr val="202126"/>
          </a:solidFill>
          <a:ln w="0">
            <a:noFill/>
            <a:prstDash val="solid"/>
          </a:ln>
        </p:spPr>
      </p:sp>
      <p:sp>
        <p:nvSpPr>
          <p:cNvPr id="10" name="code_hl_23_0"/>
          <p:cNvSpPr>
            <a:spLocks noGrp="1"/>
          </p:cNvSpPr>
          <p:nvPr/>
        </p:nvSpPr>
        <p:spPr>
          <a:xfrm>
            <a:off x="6505575" y="1866900"/>
            <a:ext cx="4752975" cy="238125"/>
          </a:xfrm>
          <a:prstGeom prst="rect">
            <a:avLst/>
          </a:prstGeom>
          <a:solidFill>
            <a:srgbClr val="56362F"/>
          </a:solidFill>
          <a:ln w="0">
            <a:noFill/>
            <a:prstDash val="solid"/>
          </a:ln>
        </p:spPr>
      </p:sp>
      <p:sp>
        <p:nvSpPr>
          <p:cNvPr id="11" name="code_line_23_0"/>
          <p:cNvSpPr>
            <a:spLocks noGrp="1"/>
          </p:cNvSpPr>
          <p:nvPr/>
        </p:nvSpPr>
        <p:spPr>
          <a:xfrm>
            <a:off x="6591300" y="185737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child = new RBTreeNode(</a:t>
            </a:r>
            <a:endParaRPr sz="975" b="0">
              <a:solidFill>
                <a:srgbClr val="FFD1BF"/>
              </a:solidFill>
              <a:latin typeface="Consolas" panose="020B0609020204030204"/>
              <a:ea typeface="Consolas" panose="020B0609020204030204"/>
              <a:cs typeface="Consolas" panose="020B0609020204030204"/>
            </a:endParaRPr>
          </a:p>
        </p:txBody>
      </p:sp>
      <p:sp>
        <p:nvSpPr>
          <p:cNvPr id="12" name="code_hl_23_1"/>
          <p:cNvSpPr>
            <a:spLocks noGrp="1"/>
          </p:cNvSpPr>
          <p:nvPr/>
        </p:nvSpPr>
        <p:spPr>
          <a:xfrm>
            <a:off x="6505575" y="2105025"/>
            <a:ext cx="4752975" cy="238125"/>
          </a:xfrm>
          <a:prstGeom prst="rect">
            <a:avLst/>
          </a:prstGeom>
          <a:solidFill>
            <a:srgbClr val="56362F"/>
          </a:solidFill>
          <a:ln w="0">
            <a:noFill/>
            <a:prstDash val="solid"/>
          </a:ln>
        </p:spPr>
      </p:sp>
      <p:sp>
        <p:nvSpPr>
          <p:cNvPr id="13" name="code_line_23_1"/>
          <p:cNvSpPr>
            <a:spLocks noGrp="1"/>
          </p:cNvSpPr>
          <p:nvPr/>
        </p:nvSpPr>
        <p:spPr>
          <a:xfrm>
            <a:off x="6591300" y="209550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(T)0, node-&gt;parent, node-&gt;tree,</a:t>
            </a:r>
            <a:endParaRPr sz="975" b="0">
              <a:solidFill>
                <a:srgbClr val="FFD1BF"/>
              </a:solidFill>
              <a:latin typeface="Consolas" panose="020B0609020204030204"/>
              <a:ea typeface="Consolas" panose="020B0609020204030204"/>
              <a:cs typeface="Consolas" panose="020B0609020204030204"/>
            </a:endParaRPr>
          </a:p>
        </p:txBody>
      </p:sp>
      <p:sp>
        <p:nvSpPr>
          <p:cNvPr id="14" name="code_hl_23_2"/>
          <p:cNvSpPr>
            <a:spLocks noGrp="1"/>
          </p:cNvSpPr>
          <p:nvPr/>
        </p:nvSpPr>
        <p:spPr>
          <a:xfrm>
            <a:off x="6505575" y="2343150"/>
            <a:ext cx="4752975" cy="238125"/>
          </a:xfrm>
          <a:prstGeom prst="rect">
            <a:avLst/>
          </a:prstGeom>
          <a:solidFill>
            <a:srgbClr val="56362F"/>
          </a:solidFill>
          <a:ln w="0">
            <a:noFill/>
            <a:prstDash val="solid"/>
          </a:ln>
        </p:spPr>
      </p:sp>
      <p:sp>
        <p:nvSpPr>
          <p:cNvPr id="15" name="code_line_23_2"/>
          <p:cNvSpPr>
            <a:spLocks noGrp="1"/>
          </p:cNvSpPr>
          <p:nvPr/>
        </p:nvSpPr>
        <p:spPr>
          <a:xfrm>
            <a:off x="6591300" y="233362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DOUBLE_BLACK);</a:t>
            </a:r>
            <a:endParaRPr sz="975" b="0">
              <a:solidFill>
                <a:srgbClr val="FFD1BF"/>
              </a:solidFill>
              <a:latin typeface="Consolas" panose="020B0609020204030204"/>
              <a:ea typeface="Consolas" panose="020B0609020204030204"/>
              <a:cs typeface="Consolas" panose="020B0609020204030204"/>
            </a:endParaRPr>
          </a:p>
        </p:txBody>
      </p:sp>
      <p:sp>
        <p:nvSpPr>
          <p:cNvPr id="16" name="code_line_23_3"/>
          <p:cNvSpPr>
            <a:spLocks noGrp="1"/>
          </p:cNvSpPr>
          <p:nvPr/>
        </p:nvSpPr>
        <p:spPr>
          <a:xfrm>
            <a:off x="6591300" y="2571750"/>
            <a:ext cx="4619625" cy="238125"/>
          </a:xfrm>
          <a:prstGeom prst="rect">
            <a:avLst/>
          </a:prstGeom>
          <a:noFill/>
          <a:ln w="0">
            <a:noFill/>
            <a:prstDash val="solid"/>
          </a:ln>
        </p:spPr>
        <p:txBody>
          <a:bodyPr lIns="0" tIns="0" rIns="0" bIns="0" anchor="t"/>
          <a:lstStyle/>
          <a:p/>
        </p:txBody>
      </p:sp>
      <p:sp>
        <p:nvSpPr>
          <p:cNvPr id="17" name="code_hl_23_4"/>
          <p:cNvSpPr>
            <a:spLocks noGrp="1"/>
          </p:cNvSpPr>
          <p:nvPr/>
        </p:nvSpPr>
        <p:spPr>
          <a:xfrm>
            <a:off x="6505575" y="2819400"/>
            <a:ext cx="4752975" cy="238125"/>
          </a:xfrm>
          <a:prstGeom prst="rect">
            <a:avLst/>
          </a:prstGeom>
          <a:solidFill>
            <a:srgbClr val="56362F"/>
          </a:solidFill>
          <a:ln w="0">
            <a:noFill/>
            <a:prstDash val="solid"/>
          </a:ln>
        </p:spPr>
      </p:sp>
      <p:sp>
        <p:nvSpPr>
          <p:cNvPr id="18" name="code_line_23_4"/>
          <p:cNvSpPr>
            <a:spLocks noGrp="1"/>
          </p:cNvSpPr>
          <p:nvPr/>
        </p:nvSpPr>
        <p:spPr>
          <a:xfrm>
            <a:off x="6591300" y="280987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必须挂回原槽位</a:t>
            </a:r>
            <a:endParaRPr sz="975" b="0">
              <a:solidFill>
                <a:srgbClr val="FFD1BF"/>
              </a:solidFill>
              <a:latin typeface="Consolas" panose="020B0609020204030204"/>
              <a:ea typeface="Consolas" panose="020B0609020204030204"/>
              <a:cs typeface="Consolas" panose="020B0609020204030204"/>
            </a:endParaRPr>
          </a:p>
        </p:txBody>
      </p:sp>
      <p:sp>
        <p:nvSpPr>
          <p:cNvPr id="19" name="code_line_23_5"/>
          <p:cNvSpPr>
            <a:spLocks noGrp="1"/>
          </p:cNvSpPr>
          <p:nvPr/>
        </p:nvSpPr>
        <p:spPr>
          <a:xfrm>
            <a:off x="6591300" y="3048000"/>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if (node-&gt;parent == NULL)</a:t>
            </a:r>
            <a:endParaRPr sz="975" b="0">
              <a:solidFill>
                <a:srgbClr val="E7E7EA"/>
              </a:solidFill>
              <a:latin typeface="Consolas" panose="020B0609020204030204"/>
              <a:ea typeface="Consolas" panose="020B0609020204030204"/>
              <a:cs typeface="Consolas" panose="020B0609020204030204"/>
            </a:endParaRPr>
          </a:p>
        </p:txBody>
      </p:sp>
      <p:sp>
        <p:nvSpPr>
          <p:cNvPr id="20" name="code_line_23_6"/>
          <p:cNvSpPr>
            <a:spLocks noGrp="1"/>
          </p:cNvSpPr>
          <p:nvPr/>
        </p:nvSpPr>
        <p:spPr>
          <a:xfrm>
            <a:off x="6591300" y="3286125"/>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node-&gt;tree-&gt;root = child;</a:t>
            </a:r>
            <a:endParaRPr sz="975" b="0">
              <a:solidFill>
                <a:srgbClr val="E7E7EA"/>
              </a:solidFill>
              <a:latin typeface="Consolas" panose="020B0609020204030204"/>
              <a:ea typeface="Consolas" panose="020B0609020204030204"/>
              <a:cs typeface="Consolas" panose="020B0609020204030204"/>
            </a:endParaRPr>
          </a:p>
        </p:txBody>
      </p:sp>
      <p:sp>
        <p:nvSpPr>
          <p:cNvPr id="21" name="code_hl_23_7"/>
          <p:cNvSpPr>
            <a:spLocks noGrp="1"/>
          </p:cNvSpPr>
          <p:nvPr/>
        </p:nvSpPr>
        <p:spPr>
          <a:xfrm>
            <a:off x="6505575" y="3533775"/>
            <a:ext cx="4752975" cy="238125"/>
          </a:xfrm>
          <a:prstGeom prst="rect">
            <a:avLst/>
          </a:prstGeom>
          <a:solidFill>
            <a:srgbClr val="56362F"/>
          </a:solidFill>
          <a:ln w="0">
            <a:noFill/>
            <a:prstDash val="solid"/>
          </a:ln>
        </p:spPr>
      </p:sp>
      <p:sp>
        <p:nvSpPr>
          <p:cNvPr id="22" name="code_line_23_7"/>
          <p:cNvSpPr>
            <a:spLocks noGrp="1"/>
          </p:cNvSpPr>
          <p:nvPr/>
        </p:nvSpPr>
        <p:spPr>
          <a:xfrm>
            <a:off x="6591300" y="352425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else if (node-&gt;parent-&gt;left == NULL)</a:t>
            </a:r>
            <a:endParaRPr sz="975" b="0">
              <a:solidFill>
                <a:srgbClr val="FFD1BF"/>
              </a:solidFill>
              <a:latin typeface="Consolas" panose="020B0609020204030204"/>
              <a:ea typeface="Consolas" panose="020B0609020204030204"/>
              <a:cs typeface="Consolas" panose="020B0609020204030204"/>
            </a:endParaRPr>
          </a:p>
        </p:txBody>
      </p:sp>
      <p:sp>
        <p:nvSpPr>
          <p:cNvPr id="23" name="code_hl_23_8"/>
          <p:cNvSpPr>
            <a:spLocks noGrp="1"/>
          </p:cNvSpPr>
          <p:nvPr/>
        </p:nvSpPr>
        <p:spPr>
          <a:xfrm>
            <a:off x="6505575" y="3771900"/>
            <a:ext cx="4752975" cy="238125"/>
          </a:xfrm>
          <a:prstGeom prst="rect">
            <a:avLst/>
          </a:prstGeom>
          <a:solidFill>
            <a:srgbClr val="56362F"/>
          </a:solidFill>
          <a:ln w="0">
            <a:noFill/>
            <a:prstDash val="solid"/>
          </a:ln>
        </p:spPr>
      </p:sp>
      <p:sp>
        <p:nvSpPr>
          <p:cNvPr id="24" name="code_line_23_8"/>
          <p:cNvSpPr>
            <a:spLocks noGrp="1"/>
          </p:cNvSpPr>
          <p:nvPr/>
        </p:nvSpPr>
        <p:spPr>
          <a:xfrm>
            <a:off x="6591300" y="376237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node-&gt;parent-&gt;left = child;</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23_9"/>
          <p:cNvSpPr>
            <a:spLocks noGrp="1"/>
          </p:cNvSpPr>
          <p:nvPr/>
        </p:nvSpPr>
        <p:spPr>
          <a:xfrm>
            <a:off x="6591300" y="4000500"/>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else</a:t>
            </a:r>
            <a:endParaRPr sz="975" b="0">
              <a:solidFill>
                <a:srgbClr val="E7E7EA"/>
              </a:solidFill>
              <a:latin typeface="Consolas" panose="020B0609020204030204"/>
              <a:ea typeface="Consolas" panose="020B0609020204030204"/>
              <a:cs typeface="Consolas" panose="020B0609020204030204"/>
            </a:endParaRPr>
          </a:p>
        </p:txBody>
      </p:sp>
      <p:sp>
        <p:nvSpPr>
          <p:cNvPr id="26" name="code_hl_23_10"/>
          <p:cNvSpPr>
            <a:spLocks noGrp="1"/>
          </p:cNvSpPr>
          <p:nvPr/>
        </p:nvSpPr>
        <p:spPr>
          <a:xfrm>
            <a:off x="6505575" y="4248150"/>
            <a:ext cx="4752975" cy="238125"/>
          </a:xfrm>
          <a:prstGeom prst="rect">
            <a:avLst/>
          </a:prstGeom>
          <a:solidFill>
            <a:srgbClr val="56362F"/>
          </a:solidFill>
          <a:ln w="0">
            <a:noFill/>
            <a:prstDash val="solid"/>
          </a:ln>
        </p:spPr>
      </p:sp>
      <p:sp>
        <p:nvSpPr>
          <p:cNvPr id="27" name="code_line_23_10"/>
          <p:cNvSpPr>
            <a:spLocks noGrp="1"/>
          </p:cNvSpPr>
          <p:nvPr/>
        </p:nvSpPr>
        <p:spPr>
          <a:xfrm>
            <a:off x="6591300" y="423862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node-&gt;parent-&gt;right = child;</a:t>
            </a:r>
            <a:endParaRPr sz="975" b="0">
              <a:solidFill>
                <a:srgbClr val="FFD1BF"/>
              </a:solidFill>
              <a:latin typeface="Consolas" panose="020B0609020204030204"/>
              <a:ea typeface="Consolas" panose="020B0609020204030204"/>
              <a:cs typeface="Consolas" panose="020B06090202040302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4"/>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06 · 删除</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4"/>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临时双黑节点为什么还要被摘掉：它只是修复工具，不是用户数据</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4"/>
          <p:cNvSpPr>
            <a:spLocks noGrp="1"/>
          </p:cNvSpPr>
          <p:nvPr/>
        </p:nvSpPr>
        <p:spPr>
          <a:xfrm>
            <a:off x="400050" y="1352550"/>
            <a:ext cx="11391900" cy="19050"/>
          </a:xfrm>
          <a:prstGeom prst="rect">
            <a:avLst/>
          </a:prstGeom>
          <a:solidFill>
            <a:srgbClr val="17181C"/>
          </a:solidFill>
          <a:ln w="0">
            <a:noFill/>
            <a:prstDash val="solid"/>
          </a:ln>
        </p:spPr>
      </p:sp>
      <p:sp>
        <p:nvSpPr>
          <p:cNvPr id="5" name="footer_24"/>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24</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24_42"/>
          <p:cNvSpPr>
            <a:spLocks noGrp="1"/>
          </p:cNvSpPr>
          <p:nvPr/>
        </p:nvSpPr>
        <p:spPr>
          <a:xfrm>
            <a:off x="400050" y="1695450"/>
            <a:ext cx="5810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adjustRemove 返回以后，child 还在树里</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24_42"/>
          <p:cNvSpPr>
            <a:spLocks noGrp="1"/>
          </p:cNvSpPr>
          <p:nvPr/>
        </p:nvSpPr>
        <p:spPr>
          <a:xfrm>
            <a:off x="400050" y="2305050"/>
            <a:ext cx="66675" cy="3629025"/>
          </a:xfrm>
          <a:prstGeom prst="rect">
            <a:avLst/>
          </a:prstGeom>
          <a:solidFill>
            <a:srgbClr val="DE3840"/>
          </a:solidFill>
          <a:ln w="0">
            <a:noFill/>
            <a:prstDash val="solid"/>
          </a:ln>
        </p:spPr>
      </p:sp>
      <p:sp>
        <p:nvSpPr>
          <p:cNvPr id="8" name="reason_body_24_42"/>
          <p:cNvSpPr>
            <a:spLocks noGrp="1"/>
          </p:cNvSpPr>
          <p:nvPr/>
        </p:nvSpPr>
        <p:spPr>
          <a:xfrm>
            <a:off x="628650" y="2419350"/>
            <a:ext cx="5524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修复函数只负责让颜色和黑高重新合法，它不会自动知道这个 DOUBLE_BLACK 节点是一次性的占位符。</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所以 remove 要再次检查 child 位于根、父亲左边还是父亲右边，把对应槽位改回 NULL，然后 delete child。</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接着还要把真正 node 的 left / right 断开，再 delete node。前一次清理临时状态，后一次防止递归析构误删有效子树，这两个 delete 的对象和目的完全不同。</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24_675"/>
          <p:cNvSpPr>
            <a:spLocks noGrp="1"/>
          </p:cNvSpPr>
          <p:nvPr/>
        </p:nvSpPr>
        <p:spPr>
          <a:xfrm>
            <a:off x="6429375" y="1695450"/>
            <a:ext cx="4905375" cy="3905250"/>
          </a:xfrm>
          <a:prstGeom prst="rect">
            <a:avLst/>
          </a:prstGeom>
          <a:solidFill>
            <a:srgbClr val="202126"/>
          </a:solidFill>
          <a:ln w="0">
            <a:noFill/>
            <a:prstDash val="solid"/>
          </a:ln>
        </p:spPr>
      </p:sp>
      <p:sp>
        <p:nvSpPr>
          <p:cNvPr id="10" name="code_hl_24_0"/>
          <p:cNvSpPr>
            <a:spLocks noGrp="1"/>
          </p:cNvSpPr>
          <p:nvPr/>
        </p:nvSpPr>
        <p:spPr>
          <a:xfrm>
            <a:off x="6505575" y="1800225"/>
            <a:ext cx="4752975" cy="238125"/>
          </a:xfrm>
          <a:prstGeom prst="rect">
            <a:avLst/>
          </a:prstGeom>
          <a:solidFill>
            <a:srgbClr val="56362F"/>
          </a:solidFill>
          <a:ln w="0">
            <a:noFill/>
            <a:prstDash val="solid"/>
          </a:ln>
        </p:spPr>
      </p:sp>
      <p:sp>
        <p:nvSpPr>
          <p:cNvPr id="11" name="code_line_24_0"/>
          <p:cNvSpPr>
            <a:spLocks noGrp="1"/>
          </p:cNvSpPr>
          <p:nvPr/>
        </p:nvSpPr>
        <p:spPr>
          <a:xfrm>
            <a:off x="6591300" y="179070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child-&gt;adjustRemove();</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24_1"/>
          <p:cNvSpPr>
            <a:spLocks noGrp="1"/>
          </p:cNvSpPr>
          <p:nvPr/>
        </p:nvSpPr>
        <p:spPr>
          <a:xfrm>
            <a:off x="6591300" y="2028825"/>
            <a:ext cx="4619625" cy="238125"/>
          </a:xfrm>
          <a:prstGeom prst="rect">
            <a:avLst/>
          </a:prstGeom>
          <a:noFill/>
          <a:ln w="0">
            <a:noFill/>
            <a:prstDash val="solid"/>
          </a:ln>
        </p:spPr>
        <p:txBody>
          <a:bodyPr lIns="0" tIns="0" rIns="0" bIns="0" anchor="t"/>
          <a:lstStyle/>
          <a:p/>
        </p:txBody>
      </p:sp>
      <p:sp>
        <p:nvSpPr>
          <p:cNvPr id="13" name="code_hl_24_2"/>
          <p:cNvSpPr>
            <a:spLocks noGrp="1"/>
          </p:cNvSpPr>
          <p:nvPr/>
        </p:nvSpPr>
        <p:spPr>
          <a:xfrm>
            <a:off x="6505575" y="2276475"/>
            <a:ext cx="4752975" cy="238125"/>
          </a:xfrm>
          <a:prstGeom prst="rect">
            <a:avLst/>
          </a:prstGeom>
          <a:solidFill>
            <a:srgbClr val="56362F"/>
          </a:solidFill>
          <a:ln w="0">
            <a:noFill/>
            <a:prstDash val="solid"/>
          </a:ln>
        </p:spPr>
      </p:sp>
      <p:sp>
        <p:nvSpPr>
          <p:cNvPr id="14" name="code_line_24_2"/>
          <p:cNvSpPr>
            <a:spLocks noGrp="1"/>
          </p:cNvSpPr>
          <p:nvPr/>
        </p:nvSpPr>
        <p:spPr>
          <a:xfrm>
            <a:off x="6591300" y="226695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(child-&gt;parent == NULL)</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24_3"/>
          <p:cNvSpPr>
            <a:spLocks noGrp="1"/>
          </p:cNvSpPr>
          <p:nvPr/>
        </p:nvSpPr>
        <p:spPr>
          <a:xfrm>
            <a:off x="6591300" y="2505075"/>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child-&gt;tree-&gt;root = NULL;</a:t>
            </a:r>
            <a:endParaRPr sz="975" b="0">
              <a:solidFill>
                <a:srgbClr val="E7E7EA"/>
              </a:solidFill>
              <a:latin typeface="Consolas" panose="020B0609020204030204"/>
              <a:ea typeface="Consolas" panose="020B0609020204030204"/>
              <a:cs typeface="Consolas" panose="020B0609020204030204"/>
            </a:endParaRPr>
          </a:p>
        </p:txBody>
      </p:sp>
      <p:sp>
        <p:nvSpPr>
          <p:cNvPr id="16" name="code_hl_24_4"/>
          <p:cNvSpPr>
            <a:spLocks noGrp="1"/>
          </p:cNvSpPr>
          <p:nvPr/>
        </p:nvSpPr>
        <p:spPr>
          <a:xfrm>
            <a:off x="6505575" y="2752725"/>
            <a:ext cx="4752975" cy="238125"/>
          </a:xfrm>
          <a:prstGeom prst="rect">
            <a:avLst/>
          </a:prstGeom>
          <a:solidFill>
            <a:srgbClr val="56362F"/>
          </a:solidFill>
          <a:ln w="0">
            <a:noFill/>
            <a:prstDash val="solid"/>
          </a:ln>
        </p:spPr>
      </p:sp>
      <p:sp>
        <p:nvSpPr>
          <p:cNvPr id="17" name="code_line_24_4"/>
          <p:cNvSpPr>
            <a:spLocks noGrp="1"/>
          </p:cNvSpPr>
          <p:nvPr/>
        </p:nvSpPr>
        <p:spPr>
          <a:xfrm>
            <a:off x="6591300" y="274320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else if (child-&gt;parent-&gt;left == child)</a:t>
            </a:r>
            <a:endParaRPr sz="975" b="0">
              <a:solidFill>
                <a:srgbClr val="FFD1BF"/>
              </a:solidFill>
              <a:latin typeface="Consolas" panose="020B0609020204030204"/>
              <a:ea typeface="Consolas" panose="020B0609020204030204"/>
              <a:cs typeface="Consolas" panose="020B0609020204030204"/>
            </a:endParaRPr>
          </a:p>
        </p:txBody>
      </p:sp>
      <p:sp>
        <p:nvSpPr>
          <p:cNvPr id="18" name="code_line_24_5"/>
          <p:cNvSpPr>
            <a:spLocks noGrp="1"/>
          </p:cNvSpPr>
          <p:nvPr/>
        </p:nvSpPr>
        <p:spPr>
          <a:xfrm>
            <a:off x="6591300" y="2981325"/>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child-&gt;parent-&gt;left = NULL;</a:t>
            </a:r>
            <a:endParaRPr sz="975" b="0">
              <a:solidFill>
                <a:srgbClr val="E7E7EA"/>
              </a:solidFill>
              <a:latin typeface="Consolas" panose="020B0609020204030204"/>
              <a:ea typeface="Consolas" panose="020B0609020204030204"/>
              <a:cs typeface="Consolas" panose="020B0609020204030204"/>
            </a:endParaRPr>
          </a:p>
        </p:txBody>
      </p:sp>
      <p:sp>
        <p:nvSpPr>
          <p:cNvPr id="19" name="code_line_24_6"/>
          <p:cNvSpPr>
            <a:spLocks noGrp="1"/>
          </p:cNvSpPr>
          <p:nvPr/>
        </p:nvSpPr>
        <p:spPr>
          <a:xfrm>
            <a:off x="6591300" y="3219450"/>
            <a:ext cx="461962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else</a:t>
            </a:r>
            <a:endParaRPr sz="975" b="0">
              <a:solidFill>
                <a:srgbClr val="E7E7EA"/>
              </a:solidFill>
              <a:latin typeface="Consolas" panose="020B0609020204030204"/>
              <a:ea typeface="Consolas" panose="020B0609020204030204"/>
              <a:cs typeface="Consolas" panose="020B0609020204030204"/>
            </a:endParaRPr>
          </a:p>
        </p:txBody>
      </p:sp>
      <p:sp>
        <p:nvSpPr>
          <p:cNvPr id="20" name="code_hl_24_7"/>
          <p:cNvSpPr>
            <a:spLocks noGrp="1"/>
          </p:cNvSpPr>
          <p:nvPr/>
        </p:nvSpPr>
        <p:spPr>
          <a:xfrm>
            <a:off x="6505575" y="3467100"/>
            <a:ext cx="4752975" cy="238125"/>
          </a:xfrm>
          <a:prstGeom prst="rect">
            <a:avLst/>
          </a:prstGeom>
          <a:solidFill>
            <a:srgbClr val="56362F"/>
          </a:solidFill>
          <a:ln w="0">
            <a:noFill/>
            <a:prstDash val="solid"/>
          </a:ln>
        </p:spPr>
      </p:sp>
      <p:sp>
        <p:nvSpPr>
          <p:cNvPr id="21" name="code_line_24_7"/>
          <p:cNvSpPr>
            <a:spLocks noGrp="1"/>
          </p:cNvSpPr>
          <p:nvPr/>
        </p:nvSpPr>
        <p:spPr>
          <a:xfrm>
            <a:off x="6591300" y="345757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child-&gt;parent-&gt;right = NULL;</a:t>
            </a:r>
            <a:endParaRPr sz="975" b="0">
              <a:solidFill>
                <a:srgbClr val="FFD1BF"/>
              </a:solidFill>
              <a:latin typeface="Consolas" panose="020B0609020204030204"/>
              <a:ea typeface="Consolas" panose="020B0609020204030204"/>
              <a:cs typeface="Consolas" panose="020B0609020204030204"/>
            </a:endParaRPr>
          </a:p>
        </p:txBody>
      </p:sp>
      <p:sp>
        <p:nvSpPr>
          <p:cNvPr id="22" name="code_line_24_8"/>
          <p:cNvSpPr>
            <a:spLocks noGrp="1"/>
          </p:cNvSpPr>
          <p:nvPr/>
        </p:nvSpPr>
        <p:spPr>
          <a:xfrm>
            <a:off x="6591300" y="3695700"/>
            <a:ext cx="4619625" cy="238125"/>
          </a:xfrm>
          <a:prstGeom prst="rect">
            <a:avLst/>
          </a:prstGeom>
          <a:noFill/>
          <a:ln w="0">
            <a:noFill/>
            <a:prstDash val="solid"/>
          </a:ln>
        </p:spPr>
        <p:txBody>
          <a:bodyPr lIns="0" tIns="0" rIns="0" bIns="0" anchor="t"/>
          <a:lstStyle/>
          <a:p/>
        </p:txBody>
      </p:sp>
      <p:sp>
        <p:nvSpPr>
          <p:cNvPr id="23" name="code_hl_24_9"/>
          <p:cNvSpPr>
            <a:spLocks noGrp="1"/>
          </p:cNvSpPr>
          <p:nvPr/>
        </p:nvSpPr>
        <p:spPr>
          <a:xfrm>
            <a:off x="6505575" y="3943350"/>
            <a:ext cx="4752975" cy="238125"/>
          </a:xfrm>
          <a:prstGeom prst="rect">
            <a:avLst/>
          </a:prstGeom>
          <a:solidFill>
            <a:srgbClr val="56362F"/>
          </a:solidFill>
          <a:ln w="0">
            <a:noFill/>
            <a:prstDash val="solid"/>
          </a:ln>
        </p:spPr>
      </p:sp>
      <p:sp>
        <p:nvSpPr>
          <p:cNvPr id="24" name="code_line_24_9"/>
          <p:cNvSpPr>
            <a:spLocks noGrp="1"/>
          </p:cNvSpPr>
          <p:nvPr/>
        </p:nvSpPr>
        <p:spPr>
          <a:xfrm>
            <a:off x="6591300" y="393382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delete child;</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24_10"/>
          <p:cNvSpPr>
            <a:spLocks noGrp="1"/>
          </p:cNvSpPr>
          <p:nvPr/>
        </p:nvSpPr>
        <p:spPr>
          <a:xfrm>
            <a:off x="6591300" y="4171950"/>
            <a:ext cx="4619625" cy="238125"/>
          </a:xfrm>
          <a:prstGeom prst="rect">
            <a:avLst/>
          </a:prstGeom>
          <a:noFill/>
          <a:ln w="0">
            <a:noFill/>
            <a:prstDash val="solid"/>
          </a:ln>
        </p:spPr>
        <p:txBody>
          <a:bodyPr lIns="0" tIns="0" rIns="0" bIns="0" anchor="t"/>
          <a:lstStyle/>
          <a:p/>
        </p:txBody>
      </p:sp>
      <p:sp>
        <p:nvSpPr>
          <p:cNvPr id="26" name="code_hl_24_11"/>
          <p:cNvSpPr>
            <a:spLocks noGrp="1"/>
          </p:cNvSpPr>
          <p:nvPr/>
        </p:nvSpPr>
        <p:spPr>
          <a:xfrm>
            <a:off x="6505575" y="4419600"/>
            <a:ext cx="4752975" cy="238125"/>
          </a:xfrm>
          <a:prstGeom prst="rect">
            <a:avLst/>
          </a:prstGeom>
          <a:solidFill>
            <a:srgbClr val="56362F"/>
          </a:solidFill>
          <a:ln w="0">
            <a:noFill/>
            <a:prstDash val="solid"/>
          </a:ln>
        </p:spPr>
      </p:sp>
      <p:sp>
        <p:nvSpPr>
          <p:cNvPr id="27" name="code_line_24_11"/>
          <p:cNvSpPr>
            <a:spLocks noGrp="1"/>
          </p:cNvSpPr>
          <p:nvPr/>
        </p:nvSpPr>
        <p:spPr>
          <a:xfrm>
            <a:off x="6591300" y="441007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node-&gt;left = NULL;</a:t>
            </a:r>
            <a:endParaRPr sz="975" b="0">
              <a:solidFill>
                <a:srgbClr val="FFD1BF"/>
              </a:solidFill>
              <a:latin typeface="Consolas" panose="020B0609020204030204"/>
              <a:ea typeface="Consolas" panose="020B0609020204030204"/>
              <a:cs typeface="Consolas" panose="020B0609020204030204"/>
            </a:endParaRPr>
          </a:p>
        </p:txBody>
      </p:sp>
      <p:sp>
        <p:nvSpPr>
          <p:cNvPr id="28" name="code_hl_24_12"/>
          <p:cNvSpPr>
            <a:spLocks noGrp="1"/>
          </p:cNvSpPr>
          <p:nvPr/>
        </p:nvSpPr>
        <p:spPr>
          <a:xfrm>
            <a:off x="6505575" y="4657725"/>
            <a:ext cx="4752975" cy="238125"/>
          </a:xfrm>
          <a:prstGeom prst="rect">
            <a:avLst/>
          </a:prstGeom>
          <a:solidFill>
            <a:srgbClr val="56362F"/>
          </a:solidFill>
          <a:ln w="0">
            <a:noFill/>
            <a:prstDash val="solid"/>
          </a:ln>
        </p:spPr>
      </p:sp>
      <p:sp>
        <p:nvSpPr>
          <p:cNvPr id="29" name="code_line_24_12"/>
          <p:cNvSpPr>
            <a:spLocks noGrp="1"/>
          </p:cNvSpPr>
          <p:nvPr/>
        </p:nvSpPr>
        <p:spPr>
          <a:xfrm>
            <a:off x="6591300" y="4648200"/>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node-&gt;right = NULL;</a:t>
            </a:r>
            <a:endParaRPr sz="975" b="0">
              <a:solidFill>
                <a:srgbClr val="FFD1BF"/>
              </a:solidFill>
              <a:latin typeface="Consolas" panose="020B0609020204030204"/>
              <a:ea typeface="Consolas" panose="020B0609020204030204"/>
              <a:cs typeface="Consolas" panose="020B0609020204030204"/>
            </a:endParaRPr>
          </a:p>
        </p:txBody>
      </p:sp>
      <p:sp>
        <p:nvSpPr>
          <p:cNvPr id="30" name="code_hl_24_13"/>
          <p:cNvSpPr>
            <a:spLocks noGrp="1"/>
          </p:cNvSpPr>
          <p:nvPr/>
        </p:nvSpPr>
        <p:spPr>
          <a:xfrm>
            <a:off x="6505575" y="4895850"/>
            <a:ext cx="4752975" cy="238125"/>
          </a:xfrm>
          <a:prstGeom prst="rect">
            <a:avLst/>
          </a:prstGeom>
          <a:solidFill>
            <a:srgbClr val="56362F"/>
          </a:solidFill>
          <a:ln w="0">
            <a:noFill/>
            <a:prstDash val="solid"/>
          </a:ln>
        </p:spPr>
      </p:sp>
      <p:sp>
        <p:nvSpPr>
          <p:cNvPr id="31" name="code_line_24_13"/>
          <p:cNvSpPr>
            <a:spLocks noGrp="1"/>
          </p:cNvSpPr>
          <p:nvPr/>
        </p:nvSpPr>
        <p:spPr>
          <a:xfrm>
            <a:off x="6591300" y="4886325"/>
            <a:ext cx="461962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delete node;</a:t>
            </a:r>
            <a:endParaRPr sz="975" b="0">
              <a:solidFill>
                <a:srgbClr val="FFD1BF"/>
              </a:solidFill>
              <a:latin typeface="Consolas" panose="020B0609020204030204"/>
              <a:ea typeface="Consolas" panose="020B0609020204030204"/>
              <a:cs typeface="Consolas" panose="020B06090202040302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5"/>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5"/>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进入 adjustRemove 以后，只观察 parent、sibling 和两个侄子</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5"/>
          <p:cNvSpPr>
            <a:spLocks noGrp="1"/>
          </p:cNvSpPr>
          <p:nvPr/>
        </p:nvSpPr>
        <p:spPr>
          <a:xfrm>
            <a:off x="400050" y="1352550"/>
            <a:ext cx="11391900" cy="19050"/>
          </a:xfrm>
          <a:prstGeom prst="rect">
            <a:avLst/>
          </a:prstGeom>
          <a:solidFill>
            <a:srgbClr val="17181C"/>
          </a:solidFill>
          <a:ln w="0">
            <a:noFill/>
            <a:prstDash val="solid"/>
          </a:ln>
        </p:spPr>
      </p:sp>
      <p:sp>
        <p:nvSpPr>
          <p:cNvPr id="5" name="footer_25"/>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25</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25_42"/>
          <p:cNvSpPr>
            <a:spLocks noGrp="1"/>
          </p:cNvSpPr>
          <p:nvPr/>
        </p:nvSpPr>
        <p:spPr>
          <a:xfrm>
            <a:off x="400050" y="1695450"/>
            <a:ext cx="58102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为什么不需要重新分析整棵树？</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25_42"/>
          <p:cNvSpPr>
            <a:spLocks noGrp="1"/>
          </p:cNvSpPr>
          <p:nvPr/>
        </p:nvSpPr>
        <p:spPr>
          <a:xfrm>
            <a:off x="400050" y="2305050"/>
            <a:ext cx="66675" cy="3629025"/>
          </a:xfrm>
          <a:prstGeom prst="rect">
            <a:avLst/>
          </a:prstGeom>
          <a:solidFill>
            <a:srgbClr val="DE3840"/>
          </a:solidFill>
          <a:ln w="0">
            <a:noFill/>
            <a:prstDash val="solid"/>
          </a:ln>
        </p:spPr>
      </p:sp>
      <p:sp>
        <p:nvSpPr>
          <p:cNvPr id="8" name="reason_body_25_42"/>
          <p:cNvSpPr>
            <a:spLocks noGrp="1"/>
          </p:cNvSpPr>
          <p:nvPr/>
        </p:nvSpPr>
        <p:spPr>
          <a:xfrm>
            <a:off x="628650" y="2419350"/>
            <a:ext cx="55245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删除发生前整棵树是合法的。现在唯一新增的问题，是 node 所在路径少了一个黑色。</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因此当前层真正能提供补偿的，只可能是同一个 parent 下的另一边：sibling 本身的颜色、sibling 的两个孩子，以及 parent 是否有一个红色可以拿来变黑。</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近侄与远侄不是固定的 left / right。node 在左边时，sibling 的左孩子是近侄、右孩子是远侄；node 在右边时刚好镜像。</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roles_tree_edge_p_d"/>
          <p:cNvSpPr>
            <a:spLocks noGrp="1"/>
          </p:cNvSpPr>
          <p:nvPr/>
        </p:nvSpPr>
        <p:spPr>
          <a:xfrm rot="8045437">
            <a:off x="7202011" y="3081338"/>
            <a:ext cx="2121853" cy="28575"/>
          </a:xfrm>
          <a:prstGeom prst="rect">
            <a:avLst/>
          </a:prstGeom>
          <a:solidFill>
            <a:srgbClr val="B9BDC5"/>
          </a:solidFill>
          <a:ln w="0">
            <a:noFill/>
            <a:prstDash val="solid"/>
          </a:ln>
        </p:spPr>
      </p:sp>
      <p:sp>
        <p:nvSpPr>
          <p:cNvPr id="10" name="roles_tree_edge_p_s"/>
          <p:cNvSpPr>
            <a:spLocks noGrp="1"/>
          </p:cNvSpPr>
          <p:nvPr/>
        </p:nvSpPr>
        <p:spPr>
          <a:xfrm rot="2868933">
            <a:off x="8663329" y="3081338"/>
            <a:ext cx="2056716" cy="28575"/>
          </a:xfrm>
          <a:prstGeom prst="rect">
            <a:avLst/>
          </a:prstGeom>
          <a:solidFill>
            <a:srgbClr val="B9BDC5"/>
          </a:solidFill>
          <a:ln w="0">
            <a:noFill/>
            <a:prstDash val="solid"/>
          </a:ln>
        </p:spPr>
      </p:sp>
      <p:sp>
        <p:nvSpPr>
          <p:cNvPr id="11" name="roles_tree_edge_s_n"/>
          <p:cNvSpPr>
            <a:spLocks noGrp="1"/>
          </p:cNvSpPr>
          <p:nvPr/>
        </p:nvSpPr>
        <p:spPr>
          <a:xfrm rot="6993903">
            <a:off x="9303426" y="4510088"/>
            <a:ext cx="1490898" cy="28575"/>
          </a:xfrm>
          <a:prstGeom prst="rect">
            <a:avLst/>
          </a:prstGeom>
          <a:solidFill>
            <a:srgbClr val="B9BDC5"/>
          </a:solidFill>
          <a:ln w="0">
            <a:noFill/>
            <a:prstDash val="solid"/>
          </a:ln>
        </p:spPr>
      </p:sp>
      <p:sp>
        <p:nvSpPr>
          <p:cNvPr id="12" name="roles_tree_edge_s_f"/>
          <p:cNvSpPr>
            <a:spLocks noGrp="1"/>
          </p:cNvSpPr>
          <p:nvPr/>
        </p:nvSpPr>
        <p:spPr>
          <a:xfrm rot="3806097">
            <a:off x="9970176" y="4510088"/>
            <a:ext cx="1490898" cy="28575"/>
          </a:xfrm>
          <a:prstGeom prst="rect">
            <a:avLst/>
          </a:prstGeom>
          <a:solidFill>
            <a:srgbClr val="B9BDC5"/>
          </a:solidFill>
          <a:ln w="0">
            <a:noFill/>
            <a:prstDash val="solid"/>
          </a:ln>
        </p:spPr>
      </p:sp>
      <p:sp>
        <p:nvSpPr>
          <p:cNvPr id="13" name="roles_tree_p"/>
          <p:cNvSpPr>
            <a:spLocks noGrp="1"/>
          </p:cNvSpPr>
          <p:nvPr/>
        </p:nvSpPr>
        <p:spPr>
          <a:xfrm>
            <a:off x="8763000" y="2095500"/>
            <a:ext cx="476250" cy="476250"/>
          </a:xfrm>
          <a:prstGeom prst="ellipse">
            <a:avLst/>
          </a:prstGeom>
          <a:solidFill>
            <a:srgbClr val="22242A"/>
          </a:solidFill>
          <a:ln w="9525">
            <a:solidFill>
              <a:srgbClr val="FFFFFF"/>
            </a:solidFill>
            <a:prstDash val="solid"/>
          </a:ln>
        </p:spPr>
      </p:sp>
      <p:sp>
        <p:nvSpPr>
          <p:cNvPr id="14" name="roles_tree_p_label"/>
          <p:cNvSpPr>
            <a:spLocks noGrp="1"/>
          </p:cNvSpPr>
          <p:nvPr/>
        </p:nvSpPr>
        <p:spPr>
          <a:xfrm>
            <a:off x="8801100" y="2209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roles_tree_d_outer"/>
          <p:cNvSpPr>
            <a:spLocks noGrp="1"/>
          </p:cNvSpPr>
          <p:nvPr/>
        </p:nvSpPr>
        <p:spPr>
          <a:xfrm>
            <a:off x="7219950" y="3552825"/>
            <a:ext cx="609600" cy="609600"/>
          </a:xfrm>
          <a:prstGeom prst="ellipse">
            <a:avLst/>
          </a:prstGeom>
          <a:solidFill>
            <a:srgbClr val="FFFFFF"/>
          </a:solidFill>
          <a:ln w="28575">
            <a:solidFill>
              <a:srgbClr val="17181C"/>
            </a:solidFill>
            <a:prstDash val="solid"/>
          </a:ln>
        </p:spPr>
      </p:sp>
      <p:sp>
        <p:nvSpPr>
          <p:cNvPr id="16" name="roles_tree_d"/>
          <p:cNvSpPr>
            <a:spLocks noGrp="1"/>
          </p:cNvSpPr>
          <p:nvPr/>
        </p:nvSpPr>
        <p:spPr>
          <a:xfrm>
            <a:off x="7286625" y="3619500"/>
            <a:ext cx="476250" cy="476250"/>
          </a:xfrm>
          <a:prstGeom prst="ellipse">
            <a:avLst/>
          </a:prstGeom>
          <a:solidFill>
            <a:srgbClr val="22242A"/>
          </a:solidFill>
          <a:ln w="9525">
            <a:solidFill>
              <a:srgbClr val="FFFFFF"/>
            </a:solidFill>
            <a:prstDash val="solid"/>
          </a:ln>
        </p:spPr>
      </p:sp>
      <p:sp>
        <p:nvSpPr>
          <p:cNvPr id="17" name="roles_tree_d_label"/>
          <p:cNvSpPr>
            <a:spLocks noGrp="1"/>
          </p:cNvSpPr>
          <p:nvPr/>
        </p:nvSpPr>
        <p:spPr>
          <a:xfrm>
            <a:off x="7324725" y="3733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roles_tree_s"/>
          <p:cNvSpPr>
            <a:spLocks noGrp="1"/>
          </p:cNvSpPr>
          <p:nvPr/>
        </p:nvSpPr>
        <p:spPr>
          <a:xfrm>
            <a:off x="10144125" y="3619500"/>
            <a:ext cx="476250" cy="476250"/>
          </a:xfrm>
          <a:prstGeom prst="ellipse">
            <a:avLst/>
          </a:prstGeom>
          <a:solidFill>
            <a:srgbClr val="22242A"/>
          </a:solidFill>
          <a:ln w="9525">
            <a:solidFill>
              <a:srgbClr val="FFFFFF"/>
            </a:solidFill>
            <a:prstDash val="solid"/>
          </a:ln>
        </p:spPr>
      </p:sp>
      <p:sp>
        <p:nvSpPr>
          <p:cNvPr id="19" name="roles_tree_s_label"/>
          <p:cNvSpPr>
            <a:spLocks noGrp="1"/>
          </p:cNvSpPr>
          <p:nvPr/>
        </p:nvSpPr>
        <p:spPr>
          <a:xfrm>
            <a:off x="10182225" y="37338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0" name="roles_tree_n"/>
          <p:cNvSpPr>
            <a:spLocks noGrp="1"/>
          </p:cNvSpPr>
          <p:nvPr/>
        </p:nvSpPr>
        <p:spPr>
          <a:xfrm>
            <a:off x="9477375" y="4953000"/>
            <a:ext cx="476250" cy="476250"/>
          </a:xfrm>
          <a:prstGeom prst="ellipse">
            <a:avLst/>
          </a:prstGeom>
          <a:solidFill>
            <a:srgbClr val="22242A"/>
          </a:solidFill>
          <a:ln w="9525">
            <a:solidFill>
              <a:srgbClr val="FFFFFF"/>
            </a:solidFill>
            <a:prstDash val="solid"/>
          </a:ln>
        </p:spPr>
      </p:sp>
      <p:sp>
        <p:nvSpPr>
          <p:cNvPr id="21" name="roles_tree_n_label"/>
          <p:cNvSpPr>
            <a:spLocks noGrp="1"/>
          </p:cNvSpPr>
          <p:nvPr/>
        </p:nvSpPr>
        <p:spPr>
          <a:xfrm>
            <a:off x="9515475" y="5067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roles_tree_f"/>
          <p:cNvSpPr>
            <a:spLocks noGrp="1"/>
          </p:cNvSpPr>
          <p:nvPr/>
        </p:nvSpPr>
        <p:spPr>
          <a:xfrm>
            <a:off x="10810875" y="4953000"/>
            <a:ext cx="476250" cy="476250"/>
          </a:xfrm>
          <a:prstGeom prst="ellipse">
            <a:avLst/>
          </a:prstGeom>
          <a:solidFill>
            <a:srgbClr val="22242A"/>
          </a:solidFill>
          <a:ln w="9525">
            <a:solidFill>
              <a:srgbClr val="FFFFFF"/>
            </a:solidFill>
            <a:prstDash val="solid"/>
          </a:ln>
        </p:spPr>
      </p:sp>
      <p:sp>
        <p:nvSpPr>
          <p:cNvPr id="23" name="roles_tree_f_label"/>
          <p:cNvSpPr>
            <a:spLocks noGrp="1"/>
          </p:cNvSpPr>
          <p:nvPr/>
        </p:nvSpPr>
        <p:spPr>
          <a:xfrm>
            <a:off x="10848975" y="506730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4" name="roles_note"/>
          <p:cNvSpPr>
            <a:spLocks noGrp="1"/>
          </p:cNvSpPr>
          <p:nvPr/>
        </p:nvSpPr>
        <p:spPr>
          <a:xfrm>
            <a:off x="7810500" y="5619750"/>
            <a:ext cx="3810000" cy="285750"/>
          </a:xfrm>
          <a:prstGeom prst="rect">
            <a:avLst/>
          </a:prstGeom>
          <a:noFill/>
          <a:ln w="0">
            <a:noFill/>
            <a:prstDash val="solid"/>
          </a:ln>
        </p:spPr>
        <p:txBody>
          <a:bodyPr lIns="0" tIns="0" rIns="0" bIns="0" anchor="t"/>
          <a:lstStyle/>
          <a:p>
            <a:pPr algn="ctr">
              <a:defRPr sz="1350" b="1">
                <a:solidFill>
                  <a:srgbClr val="DE3840"/>
                </a:solidFill>
                <a:latin typeface="微软雅黑" panose="020B0503020204020204" charset="-122"/>
                <a:ea typeface="微软雅黑" panose="020B0503020204020204" charset="-122"/>
                <a:cs typeface="微软雅黑" panose="020B0503020204020204" charset="-122"/>
              </a:defRPr>
            </a:pPr>
            <a:r>
              <a:rPr sz="1350" b="1">
                <a:solidFill>
                  <a:srgbClr val="DE3840"/>
                </a:solidFill>
                <a:latin typeface="微软雅黑" panose="020B0503020204020204" charset="-122"/>
                <a:ea typeface="微软雅黑" panose="020B0503020204020204" charset="-122"/>
                <a:cs typeface="微软雅黑" panose="020B0503020204020204" charset="-122"/>
              </a:rPr>
              <a:t>node 在左边：N = near，F = far</a:t>
            </a:r>
            <a:endParaRPr sz="135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25" name="文本框 24"/>
          <p:cNvSpPr txBox="1"/>
          <p:nvPr/>
        </p:nvSpPr>
        <p:spPr>
          <a:xfrm>
            <a:off x="1948815" y="4436745"/>
            <a:ext cx="4064000" cy="2584450"/>
          </a:xfrm>
          <a:prstGeom prst="rect">
            <a:avLst/>
          </a:prstGeom>
          <a:noFill/>
        </p:spPr>
        <p:txBody>
          <a:bodyPr wrap="square" rtlCol="0">
            <a:spAutoFit/>
          </a:bodyPr>
          <a:p>
            <a:r>
              <a:rPr lang="en-US" altLang="zh-CN"/>
              <a:t>think:</a:t>
            </a:r>
            <a:r>
              <a:rPr lang="zh-CN" altLang="en-US"/>
              <a:t>旋转对于红黑树来说意味着</a:t>
            </a:r>
            <a:r>
              <a:rPr lang="zh-CN" altLang="en-US"/>
              <a:t>什么？</a:t>
            </a:r>
            <a:endParaRPr lang="zh-CN" altLang="en-US"/>
          </a:p>
          <a:p>
            <a:r>
              <a:rPr lang="zh-CN" altLang="en-US"/>
              <a:t>旋转之后，子树的颜色分布会发生变化。</a:t>
            </a:r>
            <a:endParaRPr lang="zh-CN" altLang="en-US"/>
          </a:p>
          <a:p>
            <a:r>
              <a:rPr lang="zh-CN" altLang="en-US"/>
              <a:t>比如左旋可以让左侄子到左边，相当于沾了兄弟的光，同时右边的线路甩掉了原来的父</a:t>
            </a:r>
            <a:r>
              <a:rPr lang="zh-CN" altLang="en-US"/>
              <a:t>节点。</a:t>
            </a:r>
            <a:endParaRPr lang="zh-CN" altLang="en-US"/>
          </a:p>
          <a:p>
            <a:r>
              <a:rPr lang="zh-CN" altLang="en-US"/>
              <a:t>如果我们能改变颜色然后旋转就能控制这个子树的颜色</a:t>
            </a:r>
            <a:r>
              <a:rPr lang="zh-CN" altLang="en-US"/>
              <a:t>分布。</a:t>
            </a:r>
            <a:endParaRPr lang="zh-CN" altLang="en-US"/>
          </a:p>
          <a:p>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6"/>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6"/>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情况一：双黑走到根，为什么根可以直接吸收它</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6"/>
          <p:cNvSpPr>
            <a:spLocks noGrp="1"/>
          </p:cNvSpPr>
          <p:nvPr/>
        </p:nvSpPr>
        <p:spPr>
          <a:xfrm>
            <a:off x="400050" y="1352550"/>
            <a:ext cx="11391900" cy="19050"/>
          </a:xfrm>
          <a:prstGeom prst="rect">
            <a:avLst/>
          </a:prstGeom>
          <a:solidFill>
            <a:srgbClr val="17181C"/>
          </a:solidFill>
          <a:ln w="0">
            <a:noFill/>
            <a:prstDash val="solid"/>
          </a:ln>
        </p:spPr>
      </p:sp>
      <p:sp>
        <p:nvSpPr>
          <p:cNvPr id="5" name="footer_26"/>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26</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6"/>
          <p:cNvSpPr>
            <a:spLocks noGrp="1"/>
          </p:cNvSpPr>
          <p:nvPr/>
        </p:nvSpPr>
        <p:spPr>
          <a:xfrm>
            <a:off x="400050" y="1695450"/>
            <a:ext cx="5095875" cy="3905250"/>
          </a:xfrm>
          <a:prstGeom prst="rect">
            <a:avLst/>
          </a:prstGeom>
          <a:solidFill>
            <a:srgbClr val="F2F3F5"/>
          </a:solidFill>
          <a:ln w="0">
            <a:noFill/>
            <a:prstDash val="solid"/>
          </a:ln>
        </p:spPr>
      </p:sp>
      <p:sp>
        <p:nvSpPr>
          <p:cNvPr id="7" name="after_panel_26"/>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6"/>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额外黑色一路上推，最后 node 已经没有 parent</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6"/>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根恢复为普通黑色，所有路径同时去掉额外黑色</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6_r_outer"/>
          <p:cNvSpPr>
            <a:spLocks noGrp="1"/>
          </p:cNvSpPr>
          <p:nvPr/>
        </p:nvSpPr>
        <p:spPr>
          <a:xfrm>
            <a:off x="2600325" y="3219450"/>
            <a:ext cx="609600" cy="609600"/>
          </a:xfrm>
          <a:prstGeom prst="ellipse">
            <a:avLst/>
          </a:prstGeom>
          <a:solidFill>
            <a:srgbClr val="FFFFFF"/>
          </a:solidFill>
          <a:ln w="28575">
            <a:solidFill>
              <a:srgbClr val="17181C"/>
            </a:solidFill>
            <a:prstDash val="solid"/>
          </a:ln>
        </p:spPr>
      </p:sp>
      <p:sp>
        <p:nvSpPr>
          <p:cNvPr id="11" name="before_26_r"/>
          <p:cNvSpPr>
            <a:spLocks noGrp="1"/>
          </p:cNvSpPr>
          <p:nvPr/>
        </p:nvSpPr>
        <p:spPr>
          <a:xfrm>
            <a:off x="2667000" y="3286125"/>
            <a:ext cx="476250" cy="476250"/>
          </a:xfrm>
          <a:prstGeom prst="ellipse">
            <a:avLst/>
          </a:prstGeom>
          <a:solidFill>
            <a:srgbClr val="22242A"/>
          </a:solidFill>
          <a:ln w="9525">
            <a:solidFill>
              <a:srgbClr val="FFFFFF"/>
            </a:solidFill>
            <a:prstDash val="solid"/>
          </a:ln>
        </p:spPr>
      </p:sp>
      <p:sp>
        <p:nvSpPr>
          <p:cNvPr id="12" name="before_26_r_label"/>
          <p:cNvSpPr>
            <a:spLocks noGrp="1"/>
          </p:cNvSpPr>
          <p:nvPr/>
        </p:nvSpPr>
        <p:spPr>
          <a:xfrm>
            <a:off x="2705100" y="34004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after_26_r"/>
          <p:cNvSpPr>
            <a:spLocks noGrp="1"/>
          </p:cNvSpPr>
          <p:nvPr/>
        </p:nvSpPr>
        <p:spPr>
          <a:xfrm>
            <a:off x="8953500" y="3286125"/>
            <a:ext cx="476250" cy="476250"/>
          </a:xfrm>
          <a:prstGeom prst="ellipse">
            <a:avLst/>
          </a:prstGeom>
          <a:solidFill>
            <a:srgbClr val="22242A"/>
          </a:solidFill>
          <a:ln w="9525">
            <a:solidFill>
              <a:srgbClr val="FFFFFF"/>
            </a:solidFill>
            <a:prstDash val="solid"/>
          </a:ln>
        </p:spPr>
      </p:sp>
      <p:sp>
        <p:nvSpPr>
          <p:cNvPr id="14" name="after_26_r_label"/>
          <p:cNvSpPr>
            <a:spLocks noGrp="1"/>
          </p:cNvSpPr>
          <p:nvPr/>
        </p:nvSpPr>
        <p:spPr>
          <a:xfrm>
            <a:off x="8991600" y="34004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R</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transition_26_shaft"/>
          <p:cNvSpPr>
            <a:spLocks noGrp="1"/>
          </p:cNvSpPr>
          <p:nvPr/>
        </p:nvSpPr>
        <p:spPr>
          <a:xfrm>
            <a:off x="5810250" y="3600450"/>
            <a:ext cx="571500" cy="38100"/>
          </a:xfrm>
          <a:prstGeom prst="rect">
            <a:avLst/>
          </a:prstGeom>
          <a:solidFill>
            <a:srgbClr val="DE3840"/>
          </a:solidFill>
          <a:ln w="0">
            <a:noFill/>
            <a:prstDash val="solid"/>
          </a:ln>
        </p:spPr>
      </p:sp>
      <p:sp>
        <p:nvSpPr>
          <p:cNvPr id="16" name="transition_26_head_1"/>
          <p:cNvSpPr>
            <a:spLocks noGrp="1"/>
          </p:cNvSpPr>
          <p:nvPr/>
        </p:nvSpPr>
        <p:spPr>
          <a:xfrm rot="8856000">
            <a:off x="6276347" y="3631073"/>
            <a:ext cx="114300" cy="38100"/>
          </a:xfrm>
          <a:prstGeom prst="rect">
            <a:avLst/>
          </a:prstGeom>
          <a:solidFill>
            <a:srgbClr val="DE3840"/>
          </a:solidFill>
          <a:ln w="0">
            <a:noFill/>
            <a:prstDash val="solid"/>
          </a:ln>
        </p:spPr>
      </p:sp>
      <p:sp>
        <p:nvSpPr>
          <p:cNvPr id="17" name="transition_26_head_2"/>
          <p:cNvSpPr>
            <a:spLocks noGrp="1"/>
          </p:cNvSpPr>
          <p:nvPr/>
        </p:nvSpPr>
        <p:spPr>
          <a:xfrm rot="-8856000">
            <a:off x="6276347" y="3569827"/>
            <a:ext cx="114300" cy="38100"/>
          </a:xfrm>
          <a:prstGeom prst="rect">
            <a:avLst/>
          </a:prstGeom>
          <a:solidFill>
            <a:srgbClr val="DE3840"/>
          </a:solidFill>
          <a:ln w="0">
            <a:noFill/>
            <a:prstDash val="solid"/>
          </a:ln>
        </p:spPr>
      </p:sp>
      <p:sp>
        <p:nvSpPr>
          <p:cNvPr id="18" name="transition_caption_26"/>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根出现在所有根到叶子的路径上，所以把 DOUBLE_BLACK 恢复成 BLACK 不会制造路径间差异。这也是循环的终止兜底：局部若无法消掉亏损，就向上推；树高有限，最多走到根。</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7"/>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7"/>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情况二：兄弟为红，旋转的目的只是换一个黑兄弟出来</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7"/>
          <p:cNvSpPr>
            <a:spLocks noGrp="1"/>
          </p:cNvSpPr>
          <p:nvPr/>
        </p:nvSpPr>
        <p:spPr>
          <a:xfrm>
            <a:off x="400050" y="1352550"/>
            <a:ext cx="11391900" cy="19050"/>
          </a:xfrm>
          <a:prstGeom prst="rect">
            <a:avLst/>
          </a:prstGeom>
          <a:solidFill>
            <a:srgbClr val="17181C"/>
          </a:solidFill>
          <a:ln w="0">
            <a:noFill/>
            <a:prstDash val="solid"/>
          </a:ln>
        </p:spPr>
      </p:sp>
      <p:sp>
        <p:nvSpPr>
          <p:cNvPr id="5" name="footer_27"/>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27</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7"/>
          <p:cNvSpPr>
            <a:spLocks noGrp="1"/>
          </p:cNvSpPr>
          <p:nvPr/>
        </p:nvSpPr>
        <p:spPr>
          <a:xfrm>
            <a:off x="400050" y="1695450"/>
            <a:ext cx="5095875" cy="3905250"/>
          </a:xfrm>
          <a:prstGeom prst="rect">
            <a:avLst/>
          </a:prstGeom>
          <a:solidFill>
            <a:srgbClr val="F2F3F5"/>
          </a:solidFill>
          <a:ln w="0">
            <a:noFill/>
            <a:prstDash val="solid"/>
          </a:ln>
        </p:spPr>
      </p:sp>
      <p:sp>
        <p:nvSpPr>
          <p:cNvPr id="7" name="after_panel_27"/>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7"/>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当前 sibling 是红色，不能直接套用黑兄弟分支</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7"/>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S 上升，P 变红；node 的新兄弟 N 为黑</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7_edge_p_d"/>
          <p:cNvSpPr>
            <a:spLocks noGrp="1"/>
          </p:cNvSpPr>
          <p:nvPr/>
        </p:nvSpPr>
        <p:spPr>
          <a:xfrm rot="7521748">
            <a:off x="1428437" y="3343275"/>
            <a:ext cx="1810377" cy="28575"/>
          </a:xfrm>
          <a:prstGeom prst="rect">
            <a:avLst/>
          </a:prstGeom>
          <a:solidFill>
            <a:srgbClr val="B9BDC5"/>
          </a:solidFill>
          <a:ln w="0">
            <a:noFill/>
            <a:prstDash val="solid"/>
          </a:ln>
        </p:spPr>
      </p:sp>
      <p:sp>
        <p:nvSpPr>
          <p:cNvPr id="11" name="before_27_edge_p_s"/>
          <p:cNvSpPr>
            <a:spLocks noGrp="1"/>
          </p:cNvSpPr>
          <p:nvPr/>
        </p:nvSpPr>
        <p:spPr>
          <a:xfrm rot="3135192">
            <a:off x="2495441" y="3343275"/>
            <a:ext cx="1867119" cy="28575"/>
          </a:xfrm>
          <a:prstGeom prst="rect">
            <a:avLst/>
          </a:prstGeom>
          <a:solidFill>
            <a:srgbClr val="B9BDC5"/>
          </a:solidFill>
          <a:ln w="0">
            <a:noFill/>
            <a:prstDash val="solid"/>
          </a:ln>
        </p:spPr>
      </p:sp>
      <p:sp>
        <p:nvSpPr>
          <p:cNvPr id="12" name="before_27_edge_s_n"/>
          <p:cNvSpPr>
            <a:spLocks noGrp="1"/>
          </p:cNvSpPr>
          <p:nvPr/>
        </p:nvSpPr>
        <p:spPr>
          <a:xfrm rot="7305569">
            <a:off x="3102812" y="4581525"/>
            <a:ext cx="1176251" cy="28575"/>
          </a:xfrm>
          <a:prstGeom prst="rect">
            <a:avLst/>
          </a:prstGeom>
          <a:solidFill>
            <a:srgbClr val="B9BDC5"/>
          </a:solidFill>
          <a:ln w="0">
            <a:noFill/>
            <a:prstDash val="solid"/>
          </a:ln>
        </p:spPr>
      </p:sp>
      <p:sp>
        <p:nvSpPr>
          <p:cNvPr id="13" name="before_27_edge_s_f"/>
          <p:cNvSpPr>
            <a:spLocks noGrp="1"/>
          </p:cNvSpPr>
          <p:nvPr/>
        </p:nvSpPr>
        <p:spPr>
          <a:xfrm rot="3378596">
            <a:off x="3732875" y="4581525"/>
            <a:ext cx="1202001" cy="28575"/>
          </a:xfrm>
          <a:prstGeom prst="rect">
            <a:avLst/>
          </a:prstGeom>
          <a:solidFill>
            <a:srgbClr val="B9BDC5"/>
          </a:solidFill>
          <a:ln w="0">
            <a:noFill/>
            <a:prstDash val="solid"/>
          </a:ln>
        </p:spPr>
      </p:sp>
      <p:sp>
        <p:nvSpPr>
          <p:cNvPr id="14" name="before_27_p"/>
          <p:cNvSpPr>
            <a:spLocks noGrp="1"/>
          </p:cNvSpPr>
          <p:nvPr/>
        </p:nvSpPr>
        <p:spPr>
          <a:xfrm>
            <a:off x="2619375" y="2381250"/>
            <a:ext cx="476250" cy="476250"/>
          </a:xfrm>
          <a:prstGeom prst="ellipse">
            <a:avLst/>
          </a:prstGeom>
          <a:solidFill>
            <a:srgbClr val="22242A"/>
          </a:solidFill>
          <a:ln w="9525">
            <a:solidFill>
              <a:srgbClr val="FFFFFF"/>
            </a:solidFill>
            <a:prstDash val="solid"/>
          </a:ln>
        </p:spPr>
      </p:sp>
      <p:sp>
        <p:nvSpPr>
          <p:cNvPr id="15" name="before_27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27_d_outer"/>
          <p:cNvSpPr>
            <a:spLocks noGrp="1"/>
          </p:cNvSpPr>
          <p:nvPr/>
        </p:nvSpPr>
        <p:spPr>
          <a:xfrm>
            <a:off x="1504950" y="3790950"/>
            <a:ext cx="609600" cy="609600"/>
          </a:xfrm>
          <a:prstGeom prst="ellipse">
            <a:avLst/>
          </a:prstGeom>
          <a:solidFill>
            <a:srgbClr val="FFFFFF"/>
          </a:solidFill>
          <a:ln w="28575">
            <a:solidFill>
              <a:srgbClr val="17181C"/>
            </a:solidFill>
            <a:prstDash val="solid"/>
          </a:ln>
        </p:spPr>
      </p:sp>
      <p:sp>
        <p:nvSpPr>
          <p:cNvPr id="17" name="before_27_d"/>
          <p:cNvSpPr>
            <a:spLocks noGrp="1"/>
          </p:cNvSpPr>
          <p:nvPr/>
        </p:nvSpPr>
        <p:spPr>
          <a:xfrm>
            <a:off x="1571625" y="3857625"/>
            <a:ext cx="476250" cy="476250"/>
          </a:xfrm>
          <a:prstGeom prst="ellipse">
            <a:avLst/>
          </a:prstGeom>
          <a:solidFill>
            <a:srgbClr val="22242A"/>
          </a:solidFill>
          <a:ln w="9525">
            <a:solidFill>
              <a:srgbClr val="FFFFFF"/>
            </a:solidFill>
            <a:prstDash val="solid"/>
          </a:ln>
        </p:spPr>
      </p:sp>
      <p:sp>
        <p:nvSpPr>
          <p:cNvPr id="18" name="before_27_d_label"/>
          <p:cNvSpPr>
            <a:spLocks noGrp="1"/>
          </p:cNvSpPr>
          <p:nvPr/>
        </p:nvSpPr>
        <p:spPr>
          <a:xfrm>
            <a:off x="1609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27_s"/>
          <p:cNvSpPr>
            <a:spLocks noGrp="1"/>
          </p:cNvSpPr>
          <p:nvPr/>
        </p:nvSpPr>
        <p:spPr>
          <a:xfrm>
            <a:off x="3762375" y="3857625"/>
            <a:ext cx="476250" cy="476250"/>
          </a:xfrm>
          <a:prstGeom prst="ellipse">
            <a:avLst/>
          </a:prstGeom>
          <a:solidFill>
            <a:srgbClr val="DE3840"/>
          </a:solidFill>
          <a:ln w="9525">
            <a:solidFill>
              <a:srgbClr val="FFFFFF"/>
            </a:solidFill>
            <a:prstDash val="solid"/>
          </a:ln>
        </p:spPr>
      </p:sp>
      <p:sp>
        <p:nvSpPr>
          <p:cNvPr id="20" name="before_27_s_label"/>
          <p:cNvSpPr>
            <a:spLocks noGrp="1"/>
          </p:cNvSpPr>
          <p:nvPr/>
        </p:nvSpPr>
        <p:spPr>
          <a:xfrm>
            <a:off x="38004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before_27_n"/>
          <p:cNvSpPr>
            <a:spLocks noGrp="1"/>
          </p:cNvSpPr>
          <p:nvPr/>
        </p:nvSpPr>
        <p:spPr>
          <a:xfrm>
            <a:off x="3143250" y="4857750"/>
            <a:ext cx="476250" cy="476250"/>
          </a:xfrm>
          <a:prstGeom prst="ellipse">
            <a:avLst/>
          </a:prstGeom>
          <a:solidFill>
            <a:srgbClr val="22242A"/>
          </a:solidFill>
          <a:ln w="9525">
            <a:solidFill>
              <a:srgbClr val="FFFFFF"/>
            </a:solidFill>
            <a:prstDash val="solid"/>
          </a:ln>
        </p:spPr>
      </p:sp>
      <p:sp>
        <p:nvSpPr>
          <p:cNvPr id="22" name="before_27_n_label"/>
          <p:cNvSpPr>
            <a:spLocks noGrp="1"/>
          </p:cNvSpPr>
          <p:nvPr/>
        </p:nvSpPr>
        <p:spPr>
          <a:xfrm>
            <a:off x="31813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before_27_f"/>
          <p:cNvSpPr>
            <a:spLocks noGrp="1"/>
          </p:cNvSpPr>
          <p:nvPr/>
        </p:nvSpPr>
        <p:spPr>
          <a:xfrm>
            <a:off x="4429125" y="4857750"/>
            <a:ext cx="476250" cy="476250"/>
          </a:xfrm>
          <a:prstGeom prst="ellipse">
            <a:avLst/>
          </a:prstGeom>
          <a:solidFill>
            <a:srgbClr val="22242A"/>
          </a:solidFill>
          <a:ln w="9525">
            <a:solidFill>
              <a:srgbClr val="FFFFFF"/>
            </a:solidFill>
            <a:prstDash val="solid"/>
          </a:ln>
        </p:spPr>
      </p:sp>
      <p:sp>
        <p:nvSpPr>
          <p:cNvPr id="24" name="before_27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after_27_edge_s_p"/>
          <p:cNvSpPr>
            <a:spLocks noGrp="1"/>
          </p:cNvSpPr>
          <p:nvPr/>
        </p:nvSpPr>
        <p:spPr>
          <a:xfrm rot="7799213">
            <a:off x="7609050" y="3343275"/>
            <a:ext cx="1926901" cy="28575"/>
          </a:xfrm>
          <a:prstGeom prst="rect">
            <a:avLst/>
          </a:prstGeom>
          <a:solidFill>
            <a:srgbClr val="B9BDC5"/>
          </a:solidFill>
          <a:ln w="0">
            <a:noFill/>
            <a:prstDash val="solid"/>
          </a:ln>
        </p:spPr>
      </p:sp>
      <p:sp>
        <p:nvSpPr>
          <p:cNvPr id="26" name="after_27_edge_s_f"/>
          <p:cNvSpPr>
            <a:spLocks noGrp="1"/>
          </p:cNvSpPr>
          <p:nvPr/>
        </p:nvSpPr>
        <p:spPr>
          <a:xfrm rot="3000787">
            <a:off x="8847300" y="3343275"/>
            <a:ext cx="1926901" cy="28575"/>
          </a:xfrm>
          <a:prstGeom prst="rect">
            <a:avLst/>
          </a:prstGeom>
          <a:solidFill>
            <a:srgbClr val="B9BDC5"/>
          </a:solidFill>
          <a:ln w="0">
            <a:noFill/>
            <a:prstDash val="solid"/>
          </a:ln>
        </p:spPr>
      </p:sp>
      <p:sp>
        <p:nvSpPr>
          <p:cNvPr id="27" name="after_27_edge_p_d"/>
          <p:cNvSpPr>
            <a:spLocks noGrp="1"/>
          </p:cNvSpPr>
          <p:nvPr/>
        </p:nvSpPr>
        <p:spPr>
          <a:xfrm rot="7532261">
            <a:off x="6981659" y="4581525"/>
            <a:ext cx="1229057" cy="28575"/>
          </a:xfrm>
          <a:prstGeom prst="rect">
            <a:avLst/>
          </a:prstGeom>
          <a:solidFill>
            <a:srgbClr val="B9BDC5"/>
          </a:solidFill>
          <a:ln w="0">
            <a:noFill/>
            <a:prstDash val="solid"/>
          </a:ln>
        </p:spPr>
      </p:sp>
      <p:sp>
        <p:nvSpPr>
          <p:cNvPr id="28" name="after_27_edge_p_n"/>
          <p:cNvSpPr>
            <a:spLocks noGrp="1"/>
          </p:cNvSpPr>
          <p:nvPr/>
        </p:nvSpPr>
        <p:spPr>
          <a:xfrm rot="3267739">
            <a:off x="7696034" y="4581525"/>
            <a:ext cx="1229057" cy="28575"/>
          </a:xfrm>
          <a:prstGeom prst="rect">
            <a:avLst/>
          </a:prstGeom>
          <a:solidFill>
            <a:srgbClr val="B9BDC5"/>
          </a:solidFill>
          <a:ln w="0">
            <a:noFill/>
            <a:prstDash val="solid"/>
          </a:ln>
        </p:spPr>
      </p:sp>
      <p:sp>
        <p:nvSpPr>
          <p:cNvPr id="29" name="after_27_s"/>
          <p:cNvSpPr>
            <a:spLocks noGrp="1"/>
          </p:cNvSpPr>
          <p:nvPr/>
        </p:nvSpPr>
        <p:spPr>
          <a:xfrm>
            <a:off x="8953500" y="2381250"/>
            <a:ext cx="476250" cy="476250"/>
          </a:xfrm>
          <a:prstGeom prst="ellipse">
            <a:avLst/>
          </a:prstGeom>
          <a:solidFill>
            <a:srgbClr val="22242A"/>
          </a:solidFill>
          <a:ln w="9525">
            <a:solidFill>
              <a:srgbClr val="FFFFFF"/>
            </a:solidFill>
            <a:prstDash val="solid"/>
          </a:ln>
        </p:spPr>
      </p:sp>
      <p:sp>
        <p:nvSpPr>
          <p:cNvPr id="30" name="after_27_s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after_27_p"/>
          <p:cNvSpPr>
            <a:spLocks noGrp="1"/>
          </p:cNvSpPr>
          <p:nvPr/>
        </p:nvSpPr>
        <p:spPr>
          <a:xfrm>
            <a:off x="7715250" y="3857625"/>
            <a:ext cx="476250" cy="476250"/>
          </a:xfrm>
          <a:prstGeom prst="ellipse">
            <a:avLst/>
          </a:prstGeom>
          <a:solidFill>
            <a:srgbClr val="DE3840"/>
          </a:solidFill>
          <a:ln w="9525">
            <a:solidFill>
              <a:srgbClr val="FFFFFF"/>
            </a:solidFill>
            <a:prstDash val="solid"/>
          </a:ln>
        </p:spPr>
      </p:sp>
      <p:sp>
        <p:nvSpPr>
          <p:cNvPr id="32" name="after_27_p_label"/>
          <p:cNvSpPr>
            <a:spLocks noGrp="1"/>
          </p:cNvSpPr>
          <p:nvPr/>
        </p:nvSpPr>
        <p:spPr>
          <a:xfrm>
            <a:off x="77533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after_27_f"/>
          <p:cNvSpPr>
            <a:spLocks noGrp="1"/>
          </p:cNvSpPr>
          <p:nvPr/>
        </p:nvSpPr>
        <p:spPr>
          <a:xfrm>
            <a:off x="10191750" y="3857625"/>
            <a:ext cx="476250" cy="476250"/>
          </a:xfrm>
          <a:prstGeom prst="ellipse">
            <a:avLst/>
          </a:prstGeom>
          <a:solidFill>
            <a:srgbClr val="22242A"/>
          </a:solidFill>
          <a:ln w="9525">
            <a:solidFill>
              <a:srgbClr val="FFFFFF"/>
            </a:solidFill>
            <a:prstDash val="solid"/>
          </a:ln>
        </p:spPr>
      </p:sp>
      <p:sp>
        <p:nvSpPr>
          <p:cNvPr id="34" name="after_27_f_label"/>
          <p:cNvSpPr>
            <a:spLocks noGrp="1"/>
          </p:cNvSpPr>
          <p:nvPr/>
        </p:nvSpPr>
        <p:spPr>
          <a:xfrm>
            <a:off x="102298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5" name="after_27_d_outer"/>
          <p:cNvSpPr>
            <a:spLocks noGrp="1"/>
          </p:cNvSpPr>
          <p:nvPr/>
        </p:nvSpPr>
        <p:spPr>
          <a:xfrm>
            <a:off x="6934200" y="4791075"/>
            <a:ext cx="609600" cy="609600"/>
          </a:xfrm>
          <a:prstGeom prst="ellipse">
            <a:avLst/>
          </a:prstGeom>
          <a:solidFill>
            <a:srgbClr val="FFFFFF"/>
          </a:solidFill>
          <a:ln w="28575">
            <a:solidFill>
              <a:srgbClr val="17181C"/>
            </a:solidFill>
            <a:prstDash val="solid"/>
          </a:ln>
        </p:spPr>
      </p:sp>
      <p:sp>
        <p:nvSpPr>
          <p:cNvPr id="36" name="after_27_d"/>
          <p:cNvSpPr>
            <a:spLocks noGrp="1"/>
          </p:cNvSpPr>
          <p:nvPr/>
        </p:nvSpPr>
        <p:spPr>
          <a:xfrm>
            <a:off x="7000875" y="4857750"/>
            <a:ext cx="476250" cy="476250"/>
          </a:xfrm>
          <a:prstGeom prst="ellipse">
            <a:avLst/>
          </a:prstGeom>
          <a:solidFill>
            <a:srgbClr val="22242A"/>
          </a:solidFill>
          <a:ln w="9525">
            <a:solidFill>
              <a:srgbClr val="FFFFFF"/>
            </a:solidFill>
            <a:prstDash val="solid"/>
          </a:ln>
        </p:spPr>
      </p:sp>
      <p:sp>
        <p:nvSpPr>
          <p:cNvPr id="37" name="after_27_d_label"/>
          <p:cNvSpPr>
            <a:spLocks noGrp="1"/>
          </p:cNvSpPr>
          <p:nvPr/>
        </p:nvSpPr>
        <p:spPr>
          <a:xfrm>
            <a:off x="70389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8" name="after_27_n"/>
          <p:cNvSpPr>
            <a:spLocks noGrp="1"/>
          </p:cNvSpPr>
          <p:nvPr/>
        </p:nvSpPr>
        <p:spPr>
          <a:xfrm>
            <a:off x="8429625" y="4857750"/>
            <a:ext cx="476250" cy="476250"/>
          </a:xfrm>
          <a:prstGeom prst="ellipse">
            <a:avLst/>
          </a:prstGeom>
          <a:solidFill>
            <a:srgbClr val="22242A"/>
          </a:solidFill>
          <a:ln w="9525">
            <a:solidFill>
              <a:srgbClr val="FFFFFF"/>
            </a:solidFill>
            <a:prstDash val="solid"/>
          </a:ln>
        </p:spPr>
      </p:sp>
      <p:sp>
        <p:nvSpPr>
          <p:cNvPr id="39" name="after_27_n_label"/>
          <p:cNvSpPr>
            <a:spLocks noGrp="1"/>
          </p:cNvSpPr>
          <p:nvPr/>
        </p:nvSpPr>
        <p:spPr>
          <a:xfrm>
            <a:off x="8467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0" name="transition_27_shaft"/>
          <p:cNvSpPr>
            <a:spLocks noGrp="1"/>
          </p:cNvSpPr>
          <p:nvPr/>
        </p:nvSpPr>
        <p:spPr>
          <a:xfrm>
            <a:off x="5810250" y="3600450"/>
            <a:ext cx="571500" cy="38100"/>
          </a:xfrm>
          <a:prstGeom prst="rect">
            <a:avLst/>
          </a:prstGeom>
          <a:solidFill>
            <a:srgbClr val="DE3840"/>
          </a:solidFill>
          <a:ln w="0">
            <a:noFill/>
            <a:prstDash val="solid"/>
          </a:ln>
        </p:spPr>
      </p:sp>
      <p:sp>
        <p:nvSpPr>
          <p:cNvPr id="41" name="transition_27_head_1"/>
          <p:cNvSpPr>
            <a:spLocks noGrp="1"/>
          </p:cNvSpPr>
          <p:nvPr/>
        </p:nvSpPr>
        <p:spPr>
          <a:xfrm rot="8856000">
            <a:off x="6276347" y="3631073"/>
            <a:ext cx="114300" cy="38100"/>
          </a:xfrm>
          <a:prstGeom prst="rect">
            <a:avLst/>
          </a:prstGeom>
          <a:solidFill>
            <a:srgbClr val="DE3840"/>
          </a:solidFill>
          <a:ln w="0">
            <a:noFill/>
            <a:prstDash val="solid"/>
          </a:ln>
        </p:spPr>
      </p:sp>
      <p:sp>
        <p:nvSpPr>
          <p:cNvPr id="42" name="transition_27_head_2"/>
          <p:cNvSpPr>
            <a:spLocks noGrp="1"/>
          </p:cNvSpPr>
          <p:nvPr/>
        </p:nvSpPr>
        <p:spPr>
          <a:xfrm rot="-8856000">
            <a:off x="6276347" y="3569827"/>
            <a:ext cx="114300" cy="38100"/>
          </a:xfrm>
          <a:prstGeom prst="rect">
            <a:avLst/>
          </a:prstGeom>
          <a:solidFill>
            <a:srgbClr val="DE3840"/>
          </a:solidFill>
          <a:ln w="0">
            <a:noFill/>
            <a:prstDash val="solid"/>
          </a:ln>
        </p:spPr>
      </p:sp>
      <p:sp>
        <p:nvSpPr>
          <p:cNvPr id="43" name="transition_caption_27"/>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红兄弟分支不直接消除双黑。它只是通过换色和旋转，把局面改写成后面统一处理的“黑兄弟”。</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8"/>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8"/>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情况三：父黑、兄弟黑、双侄黑，为什么 sibling 染红后亏损会上移</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8"/>
          <p:cNvSpPr>
            <a:spLocks noGrp="1"/>
          </p:cNvSpPr>
          <p:nvPr/>
        </p:nvSpPr>
        <p:spPr>
          <a:xfrm>
            <a:off x="400050" y="1352550"/>
            <a:ext cx="11391900" cy="19050"/>
          </a:xfrm>
          <a:prstGeom prst="rect">
            <a:avLst/>
          </a:prstGeom>
          <a:solidFill>
            <a:srgbClr val="17181C"/>
          </a:solidFill>
          <a:ln w="0">
            <a:noFill/>
            <a:prstDash val="solid"/>
          </a:ln>
        </p:spPr>
      </p:sp>
      <p:sp>
        <p:nvSpPr>
          <p:cNvPr id="5" name="footer_28"/>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28</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8"/>
          <p:cNvSpPr>
            <a:spLocks noGrp="1"/>
          </p:cNvSpPr>
          <p:nvPr/>
        </p:nvSpPr>
        <p:spPr>
          <a:xfrm>
            <a:off x="400050" y="1695450"/>
            <a:ext cx="5095875" cy="3905250"/>
          </a:xfrm>
          <a:prstGeom prst="rect">
            <a:avLst/>
          </a:prstGeom>
          <a:solidFill>
            <a:srgbClr val="F2F3F5"/>
          </a:solidFill>
          <a:ln w="0">
            <a:noFill/>
            <a:prstDash val="solid"/>
          </a:ln>
        </p:spPr>
      </p:sp>
      <p:sp>
        <p:nvSpPr>
          <p:cNvPr id="7" name="after_panel_28"/>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8"/>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node 这一边少一个黑色，兄弟整边又拿不出红色补偿</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8"/>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S 染红，右边也少一个黑色；亏损改由 P 承担</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8_edge_p_d"/>
          <p:cNvSpPr>
            <a:spLocks noGrp="1"/>
          </p:cNvSpPr>
          <p:nvPr/>
        </p:nvSpPr>
        <p:spPr>
          <a:xfrm rot="7521748">
            <a:off x="1428437" y="3343275"/>
            <a:ext cx="1810377" cy="28575"/>
          </a:xfrm>
          <a:prstGeom prst="rect">
            <a:avLst/>
          </a:prstGeom>
          <a:solidFill>
            <a:srgbClr val="B9BDC5"/>
          </a:solidFill>
          <a:ln w="0">
            <a:noFill/>
            <a:prstDash val="solid"/>
          </a:ln>
        </p:spPr>
      </p:sp>
      <p:sp>
        <p:nvSpPr>
          <p:cNvPr id="11" name="before_28_edge_p_s"/>
          <p:cNvSpPr>
            <a:spLocks noGrp="1"/>
          </p:cNvSpPr>
          <p:nvPr/>
        </p:nvSpPr>
        <p:spPr>
          <a:xfrm rot="3135192">
            <a:off x="2495441" y="3343275"/>
            <a:ext cx="1867119" cy="28575"/>
          </a:xfrm>
          <a:prstGeom prst="rect">
            <a:avLst/>
          </a:prstGeom>
          <a:solidFill>
            <a:srgbClr val="B9BDC5"/>
          </a:solidFill>
          <a:ln w="0">
            <a:noFill/>
            <a:prstDash val="solid"/>
          </a:ln>
        </p:spPr>
      </p:sp>
      <p:sp>
        <p:nvSpPr>
          <p:cNvPr id="12" name="before_28_edge_s_n"/>
          <p:cNvSpPr>
            <a:spLocks noGrp="1"/>
          </p:cNvSpPr>
          <p:nvPr/>
        </p:nvSpPr>
        <p:spPr>
          <a:xfrm rot="7305569">
            <a:off x="3102812" y="4581525"/>
            <a:ext cx="1176251" cy="28575"/>
          </a:xfrm>
          <a:prstGeom prst="rect">
            <a:avLst/>
          </a:prstGeom>
          <a:solidFill>
            <a:srgbClr val="B9BDC5"/>
          </a:solidFill>
          <a:ln w="0">
            <a:noFill/>
            <a:prstDash val="solid"/>
          </a:ln>
        </p:spPr>
      </p:sp>
      <p:sp>
        <p:nvSpPr>
          <p:cNvPr id="13" name="before_28_edge_s_f"/>
          <p:cNvSpPr>
            <a:spLocks noGrp="1"/>
          </p:cNvSpPr>
          <p:nvPr/>
        </p:nvSpPr>
        <p:spPr>
          <a:xfrm rot="3378596">
            <a:off x="3732875" y="4581525"/>
            <a:ext cx="1202001" cy="28575"/>
          </a:xfrm>
          <a:prstGeom prst="rect">
            <a:avLst/>
          </a:prstGeom>
          <a:solidFill>
            <a:srgbClr val="B9BDC5"/>
          </a:solidFill>
          <a:ln w="0">
            <a:noFill/>
            <a:prstDash val="solid"/>
          </a:ln>
        </p:spPr>
      </p:sp>
      <p:sp>
        <p:nvSpPr>
          <p:cNvPr id="14" name="before_28_p"/>
          <p:cNvSpPr>
            <a:spLocks noGrp="1"/>
          </p:cNvSpPr>
          <p:nvPr/>
        </p:nvSpPr>
        <p:spPr>
          <a:xfrm>
            <a:off x="2619375" y="2381250"/>
            <a:ext cx="476250" cy="476250"/>
          </a:xfrm>
          <a:prstGeom prst="ellipse">
            <a:avLst/>
          </a:prstGeom>
          <a:solidFill>
            <a:srgbClr val="22242A"/>
          </a:solidFill>
          <a:ln w="9525">
            <a:solidFill>
              <a:srgbClr val="FFFFFF"/>
            </a:solidFill>
            <a:prstDash val="solid"/>
          </a:ln>
        </p:spPr>
      </p:sp>
      <p:sp>
        <p:nvSpPr>
          <p:cNvPr id="15" name="before_28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28_d_outer"/>
          <p:cNvSpPr>
            <a:spLocks noGrp="1"/>
          </p:cNvSpPr>
          <p:nvPr/>
        </p:nvSpPr>
        <p:spPr>
          <a:xfrm>
            <a:off x="1504950" y="3790950"/>
            <a:ext cx="609600" cy="609600"/>
          </a:xfrm>
          <a:prstGeom prst="ellipse">
            <a:avLst/>
          </a:prstGeom>
          <a:solidFill>
            <a:srgbClr val="FFFFFF"/>
          </a:solidFill>
          <a:ln w="28575">
            <a:solidFill>
              <a:srgbClr val="17181C"/>
            </a:solidFill>
            <a:prstDash val="solid"/>
          </a:ln>
        </p:spPr>
      </p:sp>
      <p:sp>
        <p:nvSpPr>
          <p:cNvPr id="17" name="before_28_d"/>
          <p:cNvSpPr>
            <a:spLocks noGrp="1"/>
          </p:cNvSpPr>
          <p:nvPr/>
        </p:nvSpPr>
        <p:spPr>
          <a:xfrm>
            <a:off x="1571625" y="3857625"/>
            <a:ext cx="476250" cy="476250"/>
          </a:xfrm>
          <a:prstGeom prst="ellipse">
            <a:avLst/>
          </a:prstGeom>
          <a:solidFill>
            <a:srgbClr val="22242A"/>
          </a:solidFill>
          <a:ln w="9525">
            <a:solidFill>
              <a:srgbClr val="FFFFFF"/>
            </a:solidFill>
            <a:prstDash val="solid"/>
          </a:ln>
        </p:spPr>
      </p:sp>
      <p:sp>
        <p:nvSpPr>
          <p:cNvPr id="18" name="before_28_d_label"/>
          <p:cNvSpPr>
            <a:spLocks noGrp="1"/>
          </p:cNvSpPr>
          <p:nvPr/>
        </p:nvSpPr>
        <p:spPr>
          <a:xfrm>
            <a:off x="1609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28_s"/>
          <p:cNvSpPr>
            <a:spLocks noGrp="1"/>
          </p:cNvSpPr>
          <p:nvPr/>
        </p:nvSpPr>
        <p:spPr>
          <a:xfrm>
            <a:off x="3762375" y="3857625"/>
            <a:ext cx="476250" cy="476250"/>
          </a:xfrm>
          <a:prstGeom prst="ellipse">
            <a:avLst/>
          </a:prstGeom>
          <a:solidFill>
            <a:srgbClr val="22242A"/>
          </a:solidFill>
          <a:ln w="9525">
            <a:solidFill>
              <a:srgbClr val="FFFFFF"/>
            </a:solidFill>
            <a:prstDash val="solid"/>
          </a:ln>
        </p:spPr>
      </p:sp>
      <p:sp>
        <p:nvSpPr>
          <p:cNvPr id="20" name="before_28_s_label"/>
          <p:cNvSpPr>
            <a:spLocks noGrp="1"/>
          </p:cNvSpPr>
          <p:nvPr/>
        </p:nvSpPr>
        <p:spPr>
          <a:xfrm>
            <a:off x="38004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before_28_n"/>
          <p:cNvSpPr>
            <a:spLocks noGrp="1"/>
          </p:cNvSpPr>
          <p:nvPr/>
        </p:nvSpPr>
        <p:spPr>
          <a:xfrm>
            <a:off x="3143250" y="4857750"/>
            <a:ext cx="476250" cy="476250"/>
          </a:xfrm>
          <a:prstGeom prst="ellipse">
            <a:avLst/>
          </a:prstGeom>
          <a:solidFill>
            <a:srgbClr val="22242A"/>
          </a:solidFill>
          <a:ln w="9525">
            <a:solidFill>
              <a:srgbClr val="FFFFFF"/>
            </a:solidFill>
            <a:prstDash val="solid"/>
          </a:ln>
        </p:spPr>
      </p:sp>
      <p:sp>
        <p:nvSpPr>
          <p:cNvPr id="22" name="before_28_n_label"/>
          <p:cNvSpPr>
            <a:spLocks noGrp="1"/>
          </p:cNvSpPr>
          <p:nvPr/>
        </p:nvSpPr>
        <p:spPr>
          <a:xfrm>
            <a:off x="31813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before_28_f"/>
          <p:cNvSpPr>
            <a:spLocks noGrp="1"/>
          </p:cNvSpPr>
          <p:nvPr/>
        </p:nvSpPr>
        <p:spPr>
          <a:xfrm>
            <a:off x="4429125" y="4857750"/>
            <a:ext cx="476250" cy="476250"/>
          </a:xfrm>
          <a:prstGeom prst="ellipse">
            <a:avLst/>
          </a:prstGeom>
          <a:solidFill>
            <a:srgbClr val="22242A"/>
          </a:solidFill>
          <a:ln w="9525">
            <a:solidFill>
              <a:srgbClr val="FFFFFF"/>
            </a:solidFill>
            <a:prstDash val="solid"/>
          </a:ln>
        </p:spPr>
      </p:sp>
      <p:sp>
        <p:nvSpPr>
          <p:cNvPr id="24" name="before_28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after_28_edge_p_d"/>
          <p:cNvSpPr>
            <a:spLocks noGrp="1"/>
          </p:cNvSpPr>
          <p:nvPr/>
        </p:nvSpPr>
        <p:spPr>
          <a:xfrm rot="7521748">
            <a:off x="7762562" y="3343275"/>
            <a:ext cx="1810377" cy="28575"/>
          </a:xfrm>
          <a:prstGeom prst="rect">
            <a:avLst/>
          </a:prstGeom>
          <a:solidFill>
            <a:srgbClr val="B9BDC5"/>
          </a:solidFill>
          <a:ln w="0">
            <a:noFill/>
            <a:prstDash val="solid"/>
          </a:ln>
        </p:spPr>
      </p:sp>
      <p:sp>
        <p:nvSpPr>
          <p:cNvPr id="26" name="after_28_edge_p_s"/>
          <p:cNvSpPr>
            <a:spLocks noGrp="1"/>
          </p:cNvSpPr>
          <p:nvPr/>
        </p:nvSpPr>
        <p:spPr>
          <a:xfrm rot="3135192">
            <a:off x="8829566" y="3343275"/>
            <a:ext cx="1867119" cy="28575"/>
          </a:xfrm>
          <a:prstGeom prst="rect">
            <a:avLst/>
          </a:prstGeom>
          <a:solidFill>
            <a:srgbClr val="B9BDC5"/>
          </a:solidFill>
          <a:ln w="0">
            <a:noFill/>
            <a:prstDash val="solid"/>
          </a:ln>
        </p:spPr>
      </p:sp>
      <p:sp>
        <p:nvSpPr>
          <p:cNvPr id="27" name="after_28_edge_s_n"/>
          <p:cNvSpPr>
            <a:spLocks noGrp="1"/>
          </p:cNvSpPr>
          <p:nvPr/>
        </p:nvSpPr>
        <p:spPr>
          <a:xfrm rot="7305569">
            <a:off x="9436937" y="4581525"/>
            <a:ext cx="1176251" cy="28575"/>
          </a:xfrm>
          <a:prstGeom prst="rect">
            <a:avLst/>
          </a:prstGeom>
          <a:solidFill>
            <a:srgbClr val="B9BDC5"/>
          </a:solidFill>
          <a:ln w="0">
            <a:noFill/>
            <a:prstDash val="solid"/>
          </a:ln>
        </p:spPr>
      </p:sp>
      <p:sp>
        <p:nvSpPr>
          <p:cNvPr id="28" name="after_28_edge_s_f"/>
          <p:cNvSpPr>
            <a:spLocks noGrp="1"/>
          </p:cNvSpPr>
          <p:nvPr/>
        </p:nvSpPr>
        <p:spPr>
          <a:xfrm rot="3494431">
            <a:off x="10056062" y="4581525"/>
            <a:ext cx="1176251" cy="28575"/>
          </a:xfrm>
          <a:prstGeom prst="rect">
            <a:avLst/>
          </a:prstGeom>
          <a:solidFill>
            <a:srgbClr val="B9BDC5"/>
          </a:solidFill>
          <a:ln w="0">
            <a:noFill/>
            <a:prstDash val="solid"/>
          </a:ln>
        </p:spPr>
      </p:sp>
      <p:sp>
        <p:nvSpPr>
          <p:cNvPr id="29" name="after_28_p_outer"/>
          <p:cNvSpPr>
            <a:spLocks noGrp="1"/>
          </p:cNvSpPr>
          <p:nvPr/>
        </p:nvSpPr>
        <p:spPr>
          <a:xfrm>
            <a:off x="8886825" y="2314575"/>
            <a:ext cx="609600" cy="609600"/>
          </a:xfrm>
          <a:prstGeom prst="ellipse">
            <a:avLst/>
          </a:prstGeom>
          <a:solidFill>
            <a:srgbClr val="FFFFFF"/>
          </a:solidFill>
          <a:ln w="28575">
            <a:solidFill>
              <a:srgbClr val="17181C"/>
            </a:solidFill>
            <a:prstDash val="solid"/>
          </a:ln>
        </p:spPr>
      </p:sp>
      <p:sp>
        <p:nvSpPr>
          <p:cNvPr id="30" name="after_28_p"/>
          <p:cNvSpPr>
            <a:spLocks noGrp="1"/>
          </p:cNvSpPr>
          <p:nvPr/>
        </p:nvSpPr>
        <p:spPr>
          <a:xfrm>
            <a:off x="8953500" y="2381250"/>
            <a:ext cx="476250" cy="476250"/>
          </a:xfrm>
          <a:prstGeom prst="ellipse">
            <a:avLst/>
          </a:prstGeom>
          <a:solidFill>
            <a:srgbClr val="22242A"/>
          </a:solidFill>
          <a:ln w="9525">
            <a:solidFill>
              <a:srgbClr val="FFFFFF"/>
            </a:solidFill>
            <a:prstDash val="solid"/>
          </a:ln>
        </p:spPr>
      </p:sp>
      <p:sp>
        <p:nvSpPr>
          <p:cNvPr id="31" name="after_28_p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2" name="after_28_d"/>
          <p:cNvSpPr>
            <a:spLocks noGrp="1"/>
          </p:cNvSpPr>
          <p:nvPr/>
        </p:nvSpPr>
        <p:spPr>
          <a:xfrm>
            <a:off x="7905750" y="3857625"/>
            <a:ext cx="476250" cy="476250"/>
          </a:xfrm>
          <a:prstGeom prst="ellipse">
            <a:avLst/>
          </a:prstGeom>
          <a:solidFill>
            <a:srgbClr val="22242A"/>
          </a:solidFill>
          <a:ln w="9525">
            <a:solidFill>
              <a:srgbClr val="FFFFFF"/>
            </a:solidFill>
            <a:prstDash val="solid"/>
          </a:ln>
        </p:spPr>
      </p:sp>
      <p:sp>
        <p:nvSpPr>
          <p:cNvPr id="33" name="after_28_d_label"/>
          <p:cNvSpPr>
            <a:spLocks noGrp="1"/>
          </p:cNvSpPr>
          <p:nvPr/>
        </p:nvSpPr>
        <p:spPr>
          <a:xfrm>
            <a:off x="79438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4" name="after_28_s"/>
          <p:cNvSpPr>
            <a:spLocks noGrp="1"/>
          </p:cNvSpPr>
          <p:nvPr/>
        </p:nvSpPr>
        <p:spPr>
          <a:xfrm>
            <a:off x="10096500" y="3857625"/>
            <a:ext cx="476250" cy="476250"/>
          </a:xfrm>
          <a:prstGeom prst="ellipse">
            <a:avLst/>
          </a:prstGeom>
          <a:solidFill>
            <a:srgbClr val="DE3840"/>
          </a:solidFill>
          <a:ln w="9525">
            <a:solidFill>
              <a:srgbClr val="FFFFFF"/>
            </a:solidFill>
            <a:prstDash val="solid"/>
          </a:ln>
        </p:spPr>
      </p:sp>
      <p:sp>
        <p:nvSpPr>
          <p:cNvPr id="35" name="after_28_s_label"/>
          <p:cNvSpPr>
            <a:spLocks noGrp="1"/>
          </p:cNvSpPr>
          <p:nvPr/>
        </p:nvSpPr>
        <p:spPr>
          <a:xfrm>
            <a:off x="1013460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after_28_n"/>
          <p:cNvSpPr>
            <a:spLocks noGrp="1"/>
          </p:cNvSpPr>
          <p:nvPr/>
        </p:nvSpPr>
        <p:spPr>
          <a:xfrm>
            <a:off x="9477375" y="4857750"/>
            <a:ext cx="476250" cy="476250"/>
          </a:xfrm>
          <a:prstGeom prst="ellipse">
            <a:avLst/>
          </a:prstGeom>
          <a:solidFill>
            <a:srgbClr val="22242A"/>
          </a:solidFill>
          <a:ln w="9525">
            <a:solidFill>
              <a:srgbClr val="FFFFFF"/>
            </a:solidFill>
            <a:prstDash val="solid"/>
          </a:ln>
        </p:spPr>
      </p:sp>
      <p:sp>
        <p:nvSpPr>
          <p:cNvPr id="37" name="after_28_n_label"/>
          <p:cNvSpPr>
            <a:spLocks noGrp="1"/>
          </p:cNvSpPr>
          <p:nvPr/>
        </p:nvSpPr>
        <p:spPr>
          <a:xfrm>
            <a:off x="9515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8" name="after_28_f"/>
          <p:cNvSpPr>
            <a:spLocks noGrp="1"/>
          </p:cNvSpPr>
          <p:nvPr/>
        </p:nvSpPr>
        <p:spPr>
          <a:xfrm>
            <a:off x="10715625" y="4857750"/>
            <a:ext cx="476250" cy="476250"/>
          </a:xfrm>
          <a:prstGeom prst="ellipse">
            <a:avLst/>
          </a:prstGeom>
          <a:solidFill>
            <a:srgbClr val="22242A"/>
          </a:solidFill>
          <a:ln w="9525">
            <a:solidFill>
              <a:srgbClr val="FFFFFF"/>
            </a:solidFill>
            <a:prstDash val="solid"/>
          </a:ln>
        </p:spPr>
      </p:sp>
      <p:sp>
        <p:nvSpPr>
          <p:cNvPr id="39" name="after_28_f_label"/>
          <p:cNvSpPr>
            <a:spLocks noGrp="1"/>
          </p:cNvSpPr>
          <p:nvPr/>
        </p:nvSpPr>
        <p:spPr>
          <a:xfrm>
            <a:off x="10753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40" name="transition_28_shaft"/>
          <p:cNvSpPr>
            <a:spLocks noGrp="1"/>
          </p:cNvSpPr>
          <p:nvPr/>
        </p:nvSpPr>
        <p:spPr>
          <a:xfrm>
            <a:off x="5810250" y="3600450"/>
            <a:ext cx="571500" cy="38100"/>
          </a:xfrm>
          <a:prstGeom prst="rect">
            <a:avLst/>
          </a:prstGeom>
          <a:solidFill>
            <a:srgbClr val="DE3840"/>
          </a:solidFill>
          <a:ln w="0">
            <a:noFill/>
            <a:prstDash val="solid"/>
          </a:ln>
        </p:spPr>
      </p:sp>
      <p:sp>
        <p:nvSpPr>
          <p:cNvPr id="41" name="transition_28_head_1"/>
          <p:cNvSpPr>
            <a:spLocks noGrp="1"/>
          </p:cNvSpPr>
          <p:nvPr/>
        </p:nvSpPr>
        <p:spPr>
          <a:xfrm rot="8856000">
            <a:off x="6276347" y="3631073"/>
            <a:ext cx="114300" cy="38100"/>
          </a:xfrm>
          <a:prstGeom prst="rect">
            <a:avLst/>
          </a:prstGeom>
          <a:solidFill>
            <a:srgbClr val="DE3840"/>
          </a:solidFill>
          <a:ln w="0">
            <a:noFill/>
            <a:prstDash val="solid"/>
          </a:ln>
        </p:spPr>
      </p:sp>
      <p:sp>
        <p:nvSpPr>
          <p:cNvPr id="42" name="transition_28_head_2"/>
          <p:cNvSpPr>
            <a:spLocks noGrp="1"/>
          </p:cNvSpPr>
          <p:nvPr/>
        </p:nvSpPr>
        <p:spPr>
          <a:xfrm rot="-8856000">
            <a:off x="6276347" y="3569827"/>
            <a:ext cx="114300" cy="38100"/>
          </a:xfrm>
          <a:prstGeom prst="rect">
            <a:avLst/>
          </a:prstGeom>
          <a:solidFill>
            <a:srgbClr val="DE3840"/>
          </a:solidFill>
          <a:ln w="0">
            <a:noFill/>
            <a:prstDash val="solid"/>
          </a:ln>
        </p:spPr>
      </p:sp>
      <p:sp>
        <p:nvSpPr>
          <p:cNvPr id="43" name="transition_caption_28"/>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sibling 染红不是在“补左边”，而是在让右边也少一个黑色。两边重新相等后，把共同的亏损交给 parent，继续向上检查。</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29"/>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29"/>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情况四：parent 为红时，它本身就是可以直接兑现的黑色</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29"/>
          <p:cNvSpPr>
            <a:spLocks noGrp="1"/>
          </p:cNvSpPr>
          <p:nvPr/>
        </p:nvSpPr>
        <p:spPr>
          <a:xfrm>
            <a:off x="400050" y="1352550"/>
            <a:ext cx="11391900" cy="19050"/>
          </a:xfrm>
          <a:prstGeom prst="rect">
            <a:avLst/>
          </a:prstGeom>
          <a:solidFill>
            <a:srgbClr val="17181C"/>
          </a:solidFill>
          <a:ln w="0">
            <a:noFill/>
            <a:prstDash val="solid"/>
          </a:ln>
        </p:spPr>
      </p:sp>
      <p:sp>
        <p:nvSpPr>
          <p:cNvPr id="5" name="footer_29"/>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29</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29"/>
          <p:cNvSpPr>
            <a:spLocks noGrp="1"/>
          </p:cNvSpPr>
          <p:nvPr/>
        </p:nvSpPr>
        <p:spPr>
          <a:xfrm>
            <a:off x="400050" y="1695450"/>
            <a:ext cx="5095875" cy="3905250"/>
          </a:xfrm>
          <a:prstGeom prst="rect">
            <a:avLst/>
          </a:prstGeom>
          <a:solidFill>
            <a:srgbClr val="F2F3F5"/>
          </a:solidFill>
          <a:ln w="0">
            <a:noFill/>
            <a:prstDash val="solid"/>
          </a:ln>
        </p:spPr>
      </p:sp>
      <p:sp>
        <p:nvSpPr>
          <p:cNvPr id="7" name="after_panel_29"/>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29"/>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父红、兄弟黑、两个侄子都黑</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29"/>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P 染黑、S 染红，当前层直接平衡</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29_edge_p_d"/>
          <p:cNvSpPr>
            <a:spLocks noGrp="1"/>
          </p:cNvSpPr>
          <p:nvPr/>
        </p:nvSpPr>
        <p:spPr>
          <a:xfrm rot="7521748">
            <a:off x="1428437" y="3343275"/>
            <a:ext cx="1810377" cy="28575"/>
          </a:xfrm>
          <a:prstGeom prst="rect">
            <a:avLst/>
          </a:prstGeom>
          <a:solidFill>
            <a:srgbClr val="B9BDC5"/>
          </a:solidFill>
          <a:ln w="0">
            <a:noFill/>
            <a:prstDash val="solid"/>
          </a:ln>
        </p:spPr>
      </p:sp>
      <p:sp>
        <p:nvSpPr>
          <p:cNvPr id="11" name="before_29_edge_p_s"/>
          <p:cNvSpPr>
            <a:spLocks noGrp="1"/>
          </p:cNvSpPr>
          <p:nvPr/>
        </p:nvSpPr>
        <p:spPr>
          <a:xfrm rot="3135192">
            <a:off x="2495441" y="3343275"/>
            <a:ext cx="1867119" cy="28575"/>
          </a:xfrm>
          <a:prstGeom prst="rect">
            <a:avLst/>
          </a:prstGeom>
          <a:solidFill>
            <a:srgbClr val="B9BDC5"/>
          </a:solidFill>
          <a:ln w="0">
            <a:noFill/>
            <a:prstDash val="solid"/>
          </a:ln>
        </p:spPr>
      </p:sp>
      <p:sp>
        <p:nvSpPr>
          <p:cNvPr id="12" name="before_29_edge_s_n"/>
          <p:cNvSpPr>
            <a:spLocks noGrp="1"/>
          </p:cNvSpPr>
          <p:nvPr/>
        </p:nvSpPr>
        <p:spPr>
          <a:xfrm rot="7305569">
            <a:off x="3102812" y="4581525"/>
            <a:ext cx="1176251" cy="28575"/>
          </a:xfrm>
          <a:prstGeom prst="rect">
            <a:avLst/>
          </a:prstGeom>
          <a:solidFill>
            <a:srgbClr val="B9BDC5"/>
          </a:solidFill>
          <a:ln w="0">
            <a:noFill/>
            <a:prstDash val="solid"/>
          </a:ln>
        </p:spPr>
      </p:sp>
      <p:sp>
        <p:nvSpPr>
          <p:cNvPr id="13" name="before_29_edge_s_f"/>
          <p:cNvSpPr>
            <a:spLocks noGrp="1"/>
          </p:cNvSpPr>
          <p:nvPr/>
        </p:nvSpPr>
        <p:spPr>
          <a:xfrm rot="3378596">
            <a:off x="3732875" y="4581525"/>
            <a:ext cx="1202001" cy="28575"/>
          </a:xfrm>
          <a:prstGeom prst="rect">
            <a:avLst/>
          </a:prstGeom>
          <a:solidFill>
            <a:srgbClr val="B9BDC5"/>
          </a:solidFill>
          <a:ln w="0">
            <a:noFill/>
            <a:prstDash val="solid"/>
          </a:ln>
        </p:spPr>
      </p:sp>
      <p:sp>
        <p:nvSpPr>
          <p:cNvPr id="14" name="before_29_p"/>
          <p:cNvSpPr>
            <a:spLocks noGrp="1"/>
          </p:cNvSpPr>
          <p:nvPr/>
        </p:nvSpPr>
        <p:spPr>
          <a:xfrm>
            <a:off x="2619375" y="2381250"/>
            <a:ext cx="476250" cy="476250"/>
          </a:xfrm>
          <a:prstGeom prst="ellipse">
            <a:avLst/>
          </a:prstGeom>
          <a:solidFill>
            <a:srgbClr val="DE3840"/>
          </a:solidFill>
          <a:ln w="9525">
            <a:solidFill>
              <a:srgbClr val="FFFFFF"/>
            </a:solidFill>
            <a:prstDash val="solid"/>
          </a:ln>
        </p:spPr>
      </p:sp>
      <p:sp>
        <p:nvSpPr>
          <p:cNvPr id="15" name="before_29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29_d_outer"/>
          <p:cNvSpPr>
            <a:spLocks noGrp="1"/>
          </p:cNvSpPr>
          <p:nvPr/>
        </p:nvSpPr>
        <p:spPr>
          <a:xfrm>
            <a:off x="1504950" y="3790950"/>
            <a:ext cx="609600" cy="609600"/>
          </a:xfrm>
          <a:prstGeom prst="ellipse">
            <a:avLst/>
          </a:prstGeom>
          <a:solidFill>
            <a:srgbClr val="FFFFFF"/>
          </a:solidFill>
          <a:ln w="28575">
            <a:solidFill>
              <a:srgbClr val="17181C"/>
            </a:solidFill>
            <a:prstDash val="solid"/>
          </a:ln>
        </p:spPr>
      </p:sp>
      <p:sp>
        <p:nvSpPr>
          <p:cNvPr id="17" name="before_29_d"/>
          <p:cNvSpPr>
            <a:spLocks noGrp="1"/>
          </p:cNvSpPr>
          <p:nvPr/>
        </p:nvSpPr>
        <p:spPr>
          <a:xfrm>
            <a:off x="1571625" y="3857625"/>
            <a:ext cx="476250" cy="476250"/>
          </a:xfrm>
          <a:prstGeom prst="ellipse">
            <a:avLst/>
          </a:prstGeom>
          <a:solidFill>
            <a:srgbClr val="22242A"/>
          </a:solidFill>
          <a:ln w="9525">
            <a:solidFill>
              <a:srgbClr val="FFFFFF"/>
            </a:solidFill>
            <a:prstDash val="solid"/>
          </a:ln>
        </p:spPr>
      </p:sp>
      <p:sp>
        <p:nvSpPr>
          <p:cNvPr id="18" name="before_29_d_label"/>
          <p:cNvSpPr>
            <a:spLocks noGrp="1"/>
          </p:cNvSpPr>
          <p:nvPr/>
        </p:nvSpPr>
        <p:spPr>
          <a:xfrm>
            <a:off x="1609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29_s"/>
          <p:cNvSpPr>
            <a:spLocks noGrp="1"/>
          </p:cNvSpPr>
          <p:nvPr/>
        </p:nvSpPr>
        <p:spPr>
          <a:xfrm>
            <a:off x="3762375" y="3857625"/>
            <a:ext cx="476250" cy="476250"/>
          </a:xfrm>
          <a:prstGeom prst="ellipse">
            <a:avLst/>
          </a:prstGeom>
          <a:solidFill>
            <a:srgbClr val="22242A"/>
          </a:solidFill>
          <a:ln w="9525">
            <a:solidFill>
              <a:srgbClr val="FFFFFF"/>
            </a:solidFill>
            <a:prstDash val="solid"/>
          </a:ln>
        </p:spPr>
      </p:sp>
      <p:sp>
        <p:nvSpPr>
          <p:cNvPr id="20" name="before_29_s_label"/>
          <p:cNvSpPr>
            <a:spLocks noGrp="1"/>
          </p:cNvSpPr>
          <p:nvPr/>
        </p:nvSpPr>
        <p:spPr>
          <a:xfrm>
            <a:off x="38004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before_29_n"/>
          <p:cNvSpPr>
            <a:spLocks noGrp="1"/>
          </p:cNvSpPr>
          <p:nvPr/>
        </p:nvSpPr>
        <p:spPr>
          <a:xfrm>
            <a:off x="3143250" y="4857750"/>
            <a:ext cx="476250" cy="476250"/>
          </a:xfrm>
          <a:prstGeom prst="ellipse">
            <a:avLst/>
          </a:prstGeom>
          <a:solidFill>
            <a:srgbClr val="22242A"/>
          </a:solidFill>
          <a:ln w="9525">
            <a:solidFill>
              <a:srgbClr val="FFFFFF"/>
            </a:solidFill>
            <a:prstDash val="solid"/>
          </a:ln>
        </p:spPr>
      </p:sp>
      <p:sp>
        <p:nvSpPr>
          <p:cNvPr id="22" name="before_29_n_label"/>
          <p:cNvSpPr>
            <a:spLocks noGrp="1"/>
          </p:cNvSpPr>
          <p:nvPr/>
        </p:nvSpPr>
        <p:spPr>
          <a:xfrm>
            <a:off x="31813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before_29_f"/>
          <p:cNvSpPr>
            <a:spLocks noGrp="1"/>
          </p:cNvSpPr>
          <p:nvPr/>
        </p:nvSpPr>
        <p:spPr>
          <a:xfrm>
            <a:off x="4429125" y="4857750"/>
            <a:ext cx="476250" cy="476250"/>
          </a:xfrm>
          <a:prstGeom prst="ellipse">
            <a:avLst/>
          </a:prstGeom>
          <a:solidFill>
            <a:srgbClr val="22242A"/>
          </a:solidFill>
          <a:ln w="9525">
            <a:solidFill>
              <a:srgbClr val="FFFFFF"/>
            </a:solidFill>
            <a:prstDash val="solid"/>
          </a:ln>
        </p:spPr>
      </p:sp>
      <p:sp>
        <p:nvSpPr>
          <p:cNvPr id="24" name="before_29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after_29_edge_p_d"/>
          <p:cNvSpPr>
            <a:spLocks noGrp="1"/>
          </p:cNvSpPr>
          <p:nvPr/>
        </p:nvSpPr>
        <p:spPr>
          <a:xfrm rot="7521748">
            <a:off x="7762562" y="3343275"/>
            <a:ext cx="1810377" cy="28575"/>
          </a:xfrm>
          <a:prstGeom prst="rect">
            <a:avLst/>
          </a:prstGeom>
          <a:solidFill>
            <a:srgbClr val="B9BDC5"/>
          </a:solidFill>
          <a:ln w="0">
            <a:noFill/>
            <a:prstDash val="solid"/>
          </a:ln>
        </p:spPr>
      </p:sp>
      <p:sp>
        <p:nvSpPr>
          <p:cNvPr id="26" name="after_29_edge_p_s"/>
          <p:cNvSpPr>
            <a:spLocks noGrp="1"/>
          </p:cNvSpPr>
          <p:nvPr/>
        </p:nvSpPr>
        <p:spPr>
          <a:xfrm rot="3135192">
            <a:off x="8829566" y="3343275"/>
            <a:ext cx="1867119" cy="28575"/>
          </a:xfrm>
          <a:prstGeom prst="rect">
            <a:avLst/>
          </a:prstGeom>
          <a:solidFill>
            <a:srgbClr val="B9BDC5"/>
          </a:solidFill>
          <a:ln w="0">
            <a:noFill/>
            <a:prstDash val="solid"/>
          </a:ln>
        </p:spPr>
      </p:sp>
      <p:sp>
        <p:nvSpPr>
          <p:cNvPr id="27" name="after_29_edge_s_n"/>
          <p:cNvSpPr>
            <a:spLocks noGrp="1"/>
          </p:cNvSpPr>
          <p:nvPr/>
        </p:nvSpPr>
        <p:spPr>
          <a:xfrm rot="7305569">
            <a:off x="9436937" y="4581525"/>
            <a:ext cx="1176251" cy="28575"/>
          </a:xfrm>
          <a:prstGeom prst="rect">
            <a:avLst/>
          </a:prstGeom>
          <a:solidFill>
            <a:srgbClr val="B9BDC5"/>
          </a:solidFill>
          <a:ln w="0">
            <a:noFill/>
            <a:prstDash val="solid"/>
          </a:ln>
        </p:spPr>
      </p:sp>
      <p:sp>
        <p:nvSpPr>
          <p:cNvPr id="28" name="after_29_edge_s_f"/>
          <p:cNvSpPr>
            <a:spLocks noGrp="1"/>
          </p:cNvSpPr>
          <p:nvPr/>
        </p:nvSpPr>
        <p:spPr>
          <a:xfrm rot="3494431">
            <a:off x="10056062" y="4581525"/>
            <a:ext cx="1176251" cy="28575"/>
          </a:xfrm>
          <a:prstGeom prst="rect">
            <a:avLst/>
          </a:prstGeom>
          <a:solidFill>
            <a:srgbClr val="B9BDC5"/>
          </a:solidFill>
          <a:ln w="0">
            <a:noFill/>
            <a:prstDash val="solid"/>
          </a:ln>
        </p:spPr>
      </p:sp>
      <p:sp>
        <p:nvSpPr>
          <p:cNvPr id="29" name="after_29_p"/>
          <p:cNvSpPr>
            <a:spLocks noGrp="1"/>
          </p:cNvSpPr>
          <p:nvPr/>
        </p:nvSpPr>
        <p:spPr>
          <a:xfrm>
            <a:off x="8953500" y="2381250"/>
            <a:ext cx="476250" cy="476250"/>
          </a:xfrm>
          <a:prstGeom prst="ellipse">
            <a:avLst/>
          </a:prstGeom>
          <a:solidFill>
            <a:srgbClr val="22242A"/>
          </a:solidFill>
          <a:ln w="9525">
            <a:solidFill>
              <a:srgbClr val="FFFFFF"/>
            </a:solidFill>
            <a:prstDash val="solid"/>
          </a:ln>
        </p:spPr>
      </p:sp>
      <p:sp>
        <p:nvSpPr>
          <p:cNvPr id="30" name="after_29_p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after_29_d"/>
          <p:cNvSpPr>
            <a:spLocks noGrp="1"/>
          </p:cNvSpPr>
          <p:nvPr/>
        </p:nvSpPr>
        <p:spPr>
          <a:xfrm>
            <a:off x="7905750" y="3857625"/>
            <a:ext cx="476250" cy="476250"/>
          </a:xfrm>
          <a:prstGeom prst="ellipse">
            <a:avLst/>
          </a:prstGeom>
          <a:solidFill>
            <a:srgbClr val="22242A"/>
          </a:solidFill>
          <a:ln w="9525">
            <a:solidFill>
              <a:srgbClr val="FFFFFF"/>
            </a:solidFill>
            <a:prstDash val="solid"/>
          </a:ln>
        </p:spPr>
      </p:sp>
      <p:sp>
        <p:nvSpPr>
          <p:cNvPr id="32" name="after_29_d_label"/>
          <p:cNvSpPr>
            <a:spLocks noGrp="1"/>
          </p:cNvSpPr>
          <p:nvPr/>
        </p:nvSpPr>
        <p:spPr>
          <a:xfrm>
            <a:off x="79438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after_29_s"/>
          <p:cNvSpPr>
            <a:spLocks noGrp="1"/>
          </p:cNvSpPr>
          <p:nvPr/>
        </p:nvSpPr>
        <p:spPr>
          <a:xfrm>
            <a:off x="10096500" y="3857625"/>
            <a:ext cx="476250" cy="476250"/>
          </a:xfrm>
          <a:prstGeom prst="ellipse">
            <a:avLst/>
          </a:prstGeom>
          <a:solidFill>
            <a:srgbClr val="DE3840"/>
          </a:solidFill>
          <a:ln w="9525">
            <a:solidFill>
              <a:srgbClr val="FFFFFF"/>
            </a:solidFill>
            <a:prstDash val="solid"/>
          </a:ln>
        </p:spPr>
      </p:sp>
      <p:sp>
        <p:nvSpPr>
          <p:cNvPr id="34" name="after_29_s_label"/>
          <p:cNvSpPr>
            <a:spLocks noGrp="1"/>
          </p:cNvSpPr>
          <p:nvPr/>
        </p:nvSpPr>
        <p:spPr>
          <a:xfrm>
            <a:off x="1013460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5" name="after_29_n"/>
          <p:cNvSpPr>
            <a:spLocks noGrp="1"/>
          </p:cNvSpPr>
          <p:nvPr/>
        </p:nvSpPr>
        <p:spPr>
          <a:xfrm>
            <a:off x="9477375" y="4857750"/>
            <a:ext cx="476250" cy="476250"/>
          </a:xfrm>
          <a:prstGeom prst="ellipse">
            <a:avLst/>
          </a:prstGeom>
          <a:solidFill>
            <a:srgbClr val="22242A"/>
          </a:solidFill>
          <a:ln w="9525">
            <a:solidFill>
              <a:srgbClr val="FFFFFF"/>
            </a:solidFill>
            <a:prstDash val="solid"/>
          </a:ln>
        </p:spPr>
      </p:sp>
      <p:sp>
        <p:nvSpPr>
          <p:cNvPr id="36" name="after_29_n_label"/>
          <p:cNvSpPr>
            <a:spLocks noGrp="1"/>
          </p:cNvSpPr>
          <p:nvPr/>
        </p:nvSpPr>
        <p:spPr>
          <a:xfrm>
            <a:off x="9515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7" name="after_29_f"/>
          <p:cNvSpPr>
            <a:spLocks noGrp="1"/>
          </p:cNvSpPr>
          <p:nvPr/>
        </p:nvSpPr>
        <p:spPr>
          <a:xfrm>
            <a:off x="10715625" y="4857750"/>
            <a:ext cx="476250" cy="476250"/>
          </a:xfrm>
          <a:prstGeom prst="ellipse">
            <a:avLst/>
          </a:prstGeom>
          <a:solidFill>
            <a:srgbClr val="22242A"/>
          </a:solidFill>
          <a:ln w="9525">
            <a:solidFill>
              <a:srgbClr val="FFFFFF"/>
            </a:solidFill>
            <a:prstDash val="solid"/>
          </a:ln>
        </p:spPr>
      </p:sp>
      <p:sp>
        <p:nvSpPr>
          <p:cNvPr id="38" name="after_29_f_label"/>
          <p:cNvSpPr>
            <a:spLocks noGrp="1"/>
          </p:cNvSpPr>
          <p:nvPr/>
        </p:nvSpPr>
        <p:spPr>
          <a:xfrm>
            <a:off x="10753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transition_29_shaft"/>
          <p:cNvSpPr>
            <a:spLocks noGrp="1"/>
          </p:cNvSpPr>
          <p:nvPr/>
        </p:nvSpPr>
        <p:spPr>
          <a:xfrm>
            <a:off x="5810250" y="3600450"/>
            <a:ext cx="571500" cy="38100"/>
          </a:xfrm>
          <a:prstGeom prst="rect">
            <a:avLst/>
          </a:prstGeom>
          <a:solidFill>
            <a:srgbClr val="DE3840"/>
          </a:solidFill>
          <a:ln w="0">
            <a:noFill/>
            <a:prstDash val="solid"/>
          </a:ln>
        </p:spPr>
      </p:sp>
      <p:sp>
        <p:nvSpPr>
          <p:cNvPr id="40" name="transition_29_head_1"/>
          <p:cNvSpPr>
            <a:spLocks noGrp="1"/>
          </p:cNvSpPr>
          <p:nvPr/>
        </p:nvSpPr>
        <p:spPr>
          <a:xfrm rot="8856000">
            <a:off x="6276347" y="3631073"/>
            <a:ext cx="114300" cy="38100"/>
          </a:xfrm>
          <a:prstGeom prst="rect">
            <a:avLst/>
          </a:prstGeom>
          <a:solidFill>
            <a:srgbClr val="DE3840"/>
          </a:solidFill>
          <a:ln w="0">
            <a:noFill/>
            <a:prstDash val="solid"/>
          </a:ln>
        </p:spPr>
      </p:sp>
      <p:sp>
        <p:nvSpPr>
          <p:cNvPr id="41" name="transition_29_head_2"/>
          <p:cNvSpPr>
            <a:spLocks noGrp="1"/>
          </p:cNvSpPr>
          <p:nvPr/>
        </p:nvSpPr>
        <p:spPr>
          <a:xfrm rot="-8856000">
            <a:off x="6276347" y="3569827"/>
            <a:ext cx="114300" cy="38100"/>
          </a:xfrm>
          <a:prstGeom prst="rect">
            <a:avLst/>
          </a:prstGeom>
          <a:solidFill>
            <a:srgbClr val="DE3840"/>
          </a:solidFill>
          <a:ln w="0">
            <a:noFill/>
            <a:prstDash val="solid"/>
          </a:ln>
        </p:spPr>
      </p:sp>
      <p:sp>
        <p:nvSpPr>
          <p:cNvPr id="42" name="transition_caption_29"/>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上一种情况 parent 是黑色，只能把亏损继续上推；这里 parent 原本是红色，染黑就能真实增加一个黑节点，所以不必继续。</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0"/>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0"/>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情况五：近侄红、远侄黑，先旋 sibling 把红色送到外侧</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0"/>
          <p:cNvSpPr>
            <a:spLocks noGrp="1"/>
          </p:cNvSpPr>
          <p:nvPr/>
        </p:nvSpPr>
        <p:spPr>
          <a:xfrm>
            <a:off x="400050" y="1352550"/>
            <a:ext cx="11391900" cy="19050"/>
          </a:xfrm>
          <a:prstGeom prst="rect">
            <a:avLst/>
          </a:prstGeom>
          <a:solidFill>
            <a:srgbClr val="17181C"/>
          </a:solidFill>
          <a:ln w="0">
            <a:noFill/>
            <a:prstDash val="solid"/>
          </a:ln>
        </p:spPr>
      </p:sp>
      <p:sp>
        <p:nvSpPr>
          <p:cNvPr id="5" name="footer_30"/>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30</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30"/>
          <p:cNvSpPr>
            <a:spLocks noGrp="1"/>
          </p:cNvSpPr>
          <p:nvPr/>
        </p:nvSpPr>
        <p:spPr>
          <a:xfrm>
            <a:off x="400050" y="1695450"/>
            <a:ext cx="5095875" cy="3905250"/>
          </a:xfrm>
          <a:prstGeom prst="rect">
            <a:avLst/>
          </a:prstGeom>
          <a:solidFill>
            <a:srgbClr val="F2F3F5"/>
          </a:solidFill>
          <a:ln w="0">
            <a:noFill/>
            <a:prstDash val="solid"/>
          </a:ln>
        </p:spPr>
      </p:sp>
      <p:sp>
        <p:nvSpPr>
          <p:cNvPr id="7" name="after_panel_30"/>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30"/>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近侄 N 是红色，但远侄 F 仍是黑色</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30"/>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围绕 S 右旋：N 上升，原 S 变成红色远侄</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30_edge_p_d"/>
          <p:cNvSpPr>
            <a:spLocks noGrp="1"/>
          </p:cNvSpPr>
          <p:nvPr/>
        </p:nvSpPr>
        <p:spPr>
          <a:xfrm rot="7521748">
            <a:off x="1428437" y="3343275"/>
            <a:ext cx="1810377" cy="28575"/>
          </a:xfrm>
          <a:prstGeom prst="rect">
            <a:avLst/>
          </a:prstGeom>
          <a:solidFill>
            <a:srgbClr val="B9BDC5"/>
          </a:solidFill>
          <a:ln w="0">
            <a:noFill/>
            <a:prstDash val="solid"/>
          </a:ln>
        </p:spPr>
      </p:sp>
      <p:sp>
        <p:nvSpPr>
          <p:cNvPr id="11" name="before_30_edge_p_s"/>
          <p:cNvSpPr>
            <a:spLocks noGrp="1"/>
          </p:cNvSpPr>
          <p:nvPr/>
        </p:nvSpPr>
        <p:spPr>
          <a:xfrm rot="3135192">
            <a:off x="2495441" y="3343275"/>
            <a:ext cx="1867119" cy="28575"/>
          </a:xfrm>
          <a:prstGeom prst="rect">
            <a:avLst/>
          </a:prstGeom>
          <a:solidFill>
            <a:srgbClr val="B9BDC5"/>
          </a:solidFill>
          <a:ln w="0">
            <a:noFill/>
            <a:prstDash val="solid"/>
          </a:ln>
        </p:spPr>
      </p:sp>
      <p:sp>
        <p:nvSpPr>
          <p:cNvPr id="12" name="before_30_edge_s_n"/>
          <p:cNvSpPr>
            <a:spLocks noGrp="1"/>
          </p:cNvSpPr>
          <p:nvPr/>
        </p:nvSpPr>
        <p:spPr>
          <a:xfrm rot="7305569">
            <a:off x="3102812" y="4581525"/>
            <a:ext cx="1176251" cy="28575"/>
          </a:xfrm>
          <a:prstGeom prst="rect">
            <a:avLst/>
          </a:prstGeom>
          <a:solidFill>
            <a:srgbClr val="B9BDC5"/>
          </a:solidFill>
          <a:ln w="0">
            <a:noFill/>
            <a:prstDash val="solid"/>
          </a:ln>
        </p:spPr>
      </p:sp>
      <p:sp>
        <p:nvSpPr>
          <p:cNvPr id="13" name="before_30_edge_s_f"/>
          <p:cNvSpPr>
            <a:spLocks noGrp="1"/>
          </p:cNvSpPr>
          <p:nvPr/>
        </p:nvSpPr>
        <p:spPr>
          <a:xfrm rot="3378596">
            <a:off x="3732875" y="4581525"/>
            <a:ext cx="1202001" cy="28575"/>
          </a:xfrm>
          <a:prstGeom prst="rect">
            <a:avLst/>
          </a:prstGeom>
          <a:solidFill>
            <a:srgbClr val="B9BDC5"/>
          </a:solidFill>
          <a:ln w="0">
            <a:noFill/>
            <a:prstDash val="solid"/>
          </a:ln>
        </p:spPr>
      </p:sp>
      <p:sp>
        <p:nvSpPr>
          <p:cNvPr id="14" name="before_30_p"/>
          <p:cNvSpPr>
            <a:spLocks noGrp="1"/>
          </p:cNvSpPr>
          <p:nvPr/>
        </p:nvSpPr>
        <p:spPr>
          <a:xfrm>
            <a:off x="2619375" y="2381250"/>
            <a:ext cx="476250" cy="476250"/>
          </a:xfrm>
          <a:prstGeom prst="ellipse">
            <a:avLst/>
          </a:prstGeom>
          <a:solidFill>
            <a:srgbClr val="22242A"/>
          </a:solidFill>
          <a:ln w="9525">
            <a:solidFill>
              <a:srgbClr val="FFFFFF"/>
            </a:solidFill>
            <a:prstDash val="solid"/>
          </a:ln>
        </p:spPr>
      </p:sp>
      <p:sp>
        <p:nvSpPr>
          <p:cNvPr id="15" name="before_30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30_d_outer"/>
          <p:cNvSpPr>
            <a:spLocks noGrp="1"/>
          </p:cNvSpPr>
          <p:nvPr/>
        </p:nvSpPr>
        <p:spPr>
          <a:xfrm>
            <a:off x="1504950" y="3790950"/>
            <a:ext cx="609600" cy="609600"/>
          </a:xfrm>
          <a:prstGeom prst="ellipse">
            <a:avLst/>
          </a:prstGeom>
          <a:solidFill>
            <a:srgbClr val="FFFFFF"/>
          </a:solidFill>
          <a:ln w="28575">
            <a:solidFill>
              <a:srgbClr val="17181C"/>
            </a:solidFill>
            <a:prstDash val="solid"/>
          </a:ln>
        </p:spPr>
      </p:sp>
      <p:sp>
        <p:nvSpPr>
          <p:cNvPr id="17" name="before_30_d"/>
          <p:cNvSpPr>
            <a:spLocks noGrp="1"/>
          </p:cNvSpPr>
          <p:nvPr/>
        </p:nvSpPr>
        <p:spPr>
          <a:xfrm>
            <a:off x="1571625" y="3857625"/>
            <a:ext cx="476250" cy="476250"/>
          </a:xfrm>
          <a:prstGeom prst="ellipse">
            <a:avLst/>
          </a:prstGeom>
          <a:solidFill>
            <a:srgbClr val="22242A"/>
          </a:solidFill>
          <a:ln w="9525">
            <a:solidFill>
              <a:srgbClr val="FFFFFF"/>
            </a:solidFill>
            <a:prstDash val="solid"/>
          </a:ln>
        </p:spPr>
      </p:sp>
      <p:sp>
        <p:nvSpPr>
          <p:cNvPr id="18" name="before_30_d_label"/>
          <p:cNvSpPr>
            <a:spLocks noGrp="1"/>
          </p:cNvSpPr>
          <p:nvPr/>
        </p:nvSpPr>
        <p:spPr>
          <a:xfrm>
            <a:off x="1609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30_s"/>
          <p:cNvSpPr>
            <a:spLocks noGrp="1"/>
          </p:cNvSpPr>
          <p:nvPr/>
        </p:nvSpPr>
        <p:spPr>
          <a:xfrm>
            <a:off x="3762375" y="3857625"/>
            <a:ext cx="476250" cy="476250"/>
          </a:xfrm>
          <a:prstGeom prst="ellipse">
            <a:avLst/>
          </a:prstGeom>
          <a:solidFill>
            <a:srgbClr val="22242A"/>
          </a:solidFill>
          <a:ln w="9525">
            <a:solidFill>
              <a:srgbClr val="FFFFFF"/>
            </a:solidFill>
            <a:prstDash val="solid"/>
          </a:ln>
        </p:spPr>
      </p:sp>
      <p:sp>
        <p:nvSpPr>
          <p:cNvPr id="20" name="before_30_s_label"/>
          <p:cNvSpPr>
            <a:spLocks noGrp="1"/>
          </p:cNvSpPr>
          <p:nvPr/>
        </p:nvSpPr>
        <p:spPr>
          <a:xfrm>
            <a:off x="38004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before_30_n"/>
          <p:cNvSpPr>
            <a:spLocks noGrp="1"/>
          </p:cNvSpPr>
          <p:nvPr/>
        </p:nvSpPr>
        <p:spPr>
          <a:xfrm>
            <a:off x="3143250" y="4857750"/>
            <a:ext cx="476250" cy="476250"/>
          </a:xfrm>
          <a:prstGeom prst="ellipse">
            <a:avLst/>
          </a:prstGeom>
          <a:solidFill>
            <a:srgbClr val="DE3840"/>
          </a:solidFill>
          <a:ln w="9525">
            <a:solidFill>
              <a:srgbClr val="FFFFFF"/>
            </a:solidFill>
            <a:prstDash val="solid"/>
          </a:ln>
        </p:spPr>
      </p:sp>
      <p:sp>
        <p:nvSpPr>
          <p:cNvPr id="22" name="before_30_n_label"/>
          <p:cNvSpPr>
            <a:spLocks noGrp="1"/>
          </p:cNvSpPr>
          <p:nvPr/>
        </p:nvSpPr>
        <p:spPr>
          <a:xfrm>
            <a:off x="31813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before_30_f"/>
          <p:cNvSpPr>
            <a:spLocks noGrp="1"/>
          </p:cNvSpPr>
          <p:nvPr/>
        </p:nvSpPr>
        <p:spPr>
          <a:xfrm>
            <a:off x="4429125" y="4857750"/>
            <a:ext cx="476250" cy="476250"/>
          </a:xfrm>
          <a:prstGeom prst="ellipse">
            <a:avLst/>
          </a:prstGeom>
          <a:solidFill>
            <a:srgbClr val="22242A"/>
          </a:solidFill>
          <a:ln w="9525">
            <a:solidFill>
              <a:srgbClr val="FFFFFF"/>
            </a:solidFill>
            <a:prstDash val="solid"/>
          </a:ln>
        </p:spPr>
      </p:sp>
      <p:sp>
        <p:nvSpPr>
          <p:cNvPr id="24" name="before_30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after_30_edge_p_d"/>
          <p:cNvSpPr>
            <a:spLocks noGrp="1"/>
          </p:cNvSpPr>
          <p:nvPr/>
        </p:nvSpPr>
        <p:spPr>
          <a:xfrm rot="7594382">
            <a:off x="7724763" y="3343275"/>
            <a:ext cx="1838350" cy="28575"/>
          </a:xfrm>
          <a:prstGeom prst="rect">
            <a:avLst/>
          </a:prstGeom>
          <a:solidFill>
            <a:srgbClr val="B9BDC5"/>
          </a:solidFill>
          <a:ln w="0">
            <a:noFill/>
            <a:prstDash val="solid"/>
          </a:ln>
        </p:spPr>
      </p:sp>
      <p:sp>
        <p:nvSpPr>
          <p:cNvPr id="26" name="after_30_edge_p_n"/>
          <p:cNvSpPr>
            <a:spLocks noGrp="1"/>
          </p:cNvSpPr>
          <p:nvPr/>
        </p:nvSpPr>
        <p:spPr>
          <a:xfrm rot="3205618">
            <a:off x="8820138" y="3343275"/>
            <a:ext cx="1838350" cy="28575"/>
          </a:xfrm>
          <a:prstGeom prst="rect">
            <a:avLst/>
          </a:prstGeom>
          <a:solidFill>
            <a:srgbClr val="B9BDC5"/>
          </a:solidFill>
          <a:ln w="0">
            <a:noFill/>
            <a:prstDash val="solid"/>
          </a:ln>
        </p:spPr>
      </p:sp>
      <p:sp>
        <p:nvSpPr>
          <p:cNvPr id="27" name="after_30_edge_n_s"/>
          <p:cNvSpPr>
            <a:spLocks noGrp="1"/>
          </p:cNvSpPr>
          <p:nvPr/>
        </p:nvSpPr>
        <p:spPr>
          <a:xfrm rot="3615307">
            <a:off x="9996802" y="4581525"/>
            <a:ext cx="1151895" cy="28575"/>
          </a:xfrm>
          <a:prstGeom prst="rect">
            <a:avLst/>
          </a:prstGeom>
          <a:solidFill>
            <a:srgbClr val="B9BDC5"/>
          </a:solidFill>
          <a:ln w="0">
            <a:noFill/>
            <a:prstDash val="solid"/>
          </a:ln>
        </p:spPr>
      </p:sp>
      <p:sp>
        <p:nvSpPr>
          <p:cNvPr id="28" name="after_30_p"/>
          <p:cNvSpPr>
            <a:spLocks noGrp="1"/>
          </p:cNvSpPr>
          <p:nvPr/>
        </p:nvSpPr>
        <p:spPr>
          <a:xfrm>
            <a:off x="8953500" y="2381250"/>
            <a:ext cx="476250" cy="476250"/>
          </a:xfrm>
          <a:prstGeom prst="ellipse">
            <a:avLst/>
          </a:prstGeom>
          <a:solidFill>
            <a:srgbClr val="22242A"/>
          </a:solidFill>
          <a:ln w="9525">
            <a:solidFill>
              <a:srgbClr val="FFFFFF"/>
            </a:solidFill>
            <a:prstDash val="solid"/>
          </a:ln>
        </p:spPr>
      </p:sp>
      <p:sp>
        <p:nvSpPr>
          <p:cNvPr id="29" name="after_30_p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after_30_d_outer"/>
          <p:cNvSpPr>
            <a:spLocks noGrp="1"/>
          </p:cNvSpPr>
          <p:nvPr/>
        </p:nvSpPr>
        <p:spPr>
          <a:xfrm>
            <a:off x="7791450" y="3790950"/>
            <a:ext cx="609600" cy="609600"/>
          </a:xfrm>
          <a:prstGeom prst="ellipse">
            <a:avLst/>
          </a:prstGeom>
          <a:solidFill>
            <a:srgbClr val="FFFFFF"/>
          </a:solidFill>
          <a:ln w="28575">
            <a:solidFill>
              <a:srgbClr val="17181C"/>
            </a:solidFill>
            <a:prstDash val="solid"/>
          </a:ln>
        </p:spPr>
      </p:sp>
      <p:sp>
        <p:nvSpPr>
          <p:cNvPr id="31" name="after_30_d"/>
          <p:cNvSpPr>
            <a:spLocks noGrp="1"/>
          </p:cNvSpPr>
          <p:nvPr/>
        </p:nvSpPr>
        <p:spPr>
          <a:xfrm>
            <a:off x="7858125" y="3857625"/>
            <a:ext cx="476250" cy="476250"/>
          </a:xfrm>
          <a:prstGeom prst="ellipse">
            <a:avLst/>
          </a:prstGeom>
          <a:solidFill>
            <a:srgbClr val="22242A"/>
          </a:solidFill>
          <a:ln w="9525">
            <a:solidFill>
              <a:srgbClr val="FFFFFF"/>
            </a:solidFill>
            <a:prstDash val="solid"/>
          </a:ln>
        </p:spPr>
      </p:sp>
      <p:sp>
        <p:nvSpPr>
          <p:cNvPr id="32" name="after_30_d_label"/>
          <p:cNvSpPr>
            <a:spLocks noGrp="1"/>
          </p:cNvSpPr>
          <p:nvPr/>
        </p:nvSpPr>
        <p:spPr>
          <a:xfrm>
            <a:off x="78962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after_30_n"/>
          <p:cNvSpPr>
            <a:spLocks noGrp="1"/>
          </p:cNvSpPr>
          <p:nvPr/>
        </p:nvSpPr>
        <p:spPr>
          <a:xfrm>
            <a:off x="10048875" y="3857625"/>
            <a:ext cx="476250" cy="476250"/>
          </a:xfrm>
          <a:prstGeom prst="ellipse">
            <a:avLst/>
          </a:prstGeom>
          <a:solidFill>
            <a:srgbClr val="22242A"/>
          </a:solidFill>
          <a:ln w="9525">
            <a:solidFill>
              <a:srgbClr val="FFFFFF"/>
            </a:solidFill>
            <a:prstDash val="solid"/>
          </a:ln>
        </p:spPr>
      </p:sp>
      <p:sp>
        <p:nvSpPr>
          <p:cNvPr id="34" name="after_30_n_label"/>
          <p:cNvSpPr>
            <a:spLocks noGrp="1"/>
          </p:cNvSpPr>
          <p:nvPr/>
        </p:nvSpPr>
        <p:spPr>
          <a:xfrm>
            <a:off x="100869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5" name="after_30_s"/>
          <p:cNvSpPr>
            <a:spLocks noGrp="1"/>
          </p:cNvSpPr>
          <p:nvPr/>
        </p:nvSpPr>
        <p:spPr>
          <a:xfrm>
            <a:off x="10620375" y="4857750"/>
            <a:ext cx="476250" cy="476250"/>
          </a:xfrm>
          <a:prstGeom prst="ellipse">
            <a:avLst/>
          </a:prstGeom>
          <a:solidFill>
            <a:srgbClr val="DE3840"/>
          </a:solidFill>
          <a:ln w="9525">
            <a:solidFill>
              <a:srgbClr val="FFFFFF"/>
            </a:solidFill>
            <a:prstDash val="solid"/>
          </a:ln>
        </p:spPr>
      </p:sp>
      <p:sp>
        <p:nvSpPr>
          <p:cNvPr id="36" name="after_30_s_label"/>
          <p:cNvSpPr>
            <a:spLocks noGrp="1"/>
          </p:cNvSpPr>
          <p:nvPr/>
        </p:nvSpPr>
        <p:spPr>
          <a:xfrm>
            <a:off x="106584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7" name="transition_30_shaft"/>
          <p:cNvSpPr>
            <a:spLocks noGrp="1"/>
          </p:cNvSpPr>
          <p:nvPr/>
        </p:nvSpPr>
        <p:spPr>
          <a:xfrm>
            <a:off x="5810250" y="3600450"/>
            <a:ext cx="571500" cy="38100"/>
          </a:xfrm>
          <a:prstGeom prst="rect">
            <a:avLst/>
          </a:prstGeom>
          <a:solidFill>
            <a:srgbClr val="DE3840"/>
          </a:solidFill>
          <a:ln w="0">
            <a:noFill/>
            <a:prstDash val="solid"/>
          </a:ln>
        </p:spPr>
      </p:sp>
      <p:sp>
        <p:nvSpPr>
          <p:cNvPr id="38" name="transition_30_head_1"/>
          <p:cNvSpPr>
            <a:spLocks noGrp="1"/>
          </p:cNvSpPr>
          <p:nvPr/>
        </p:nvSpPr>
        <p:spPr>
          <a:xfrm rot="8856000">
            <a:off x="6276347" y="3631073"/>
            <a:ext cx="114300" cy="38100"/>
          </a:xfrm>
          <a:prstGeom prst="rect">
            <a:avLst/>
          </a:prstGeom>
          <a:solidFill>
            <a:srgbClr val="DE3840"/>
          </a:solidFill>
          <a:ln w="0">
            <a:noFill/>
            <a:prstDash val="solid"/>
          </a:ln>
        </p:spPr>
      </p:sp>
      <p:sp>
        <p:nvSpPr>
          <p:cNvPr id="39" name="transition_30_head_2"/>
          <p:cNvSpPr>
            <a:spLocks noGrp="1"/>
          </p:cNvSpPr>
          <p:nvPr/>
        </p:nvSpPr>
        <p:spPr>
          <a:xfrm rot="-8856000">
            <a:off x="6276347" y="3569827"/>
            <a:ext cx="114300" cy="38100"/>
          </a:xfrm>
          <a:prstGeom prst="rect">
            <a:avLst/>
          </a:prstGeom>
          <a:solidFill>
            <a:srgbClr val="DE3840"/>
          </a:solidFill>
          <a:ln w="0">
            <a:noFill/>
            <a:prstDash val="solid"/>
          </a:ln>
        </p:spPr>
      </p:sp>
      <p:sp>
        <p:nvSpPr>
          <p:cNvPr id="40" name="transition_caption_30"/>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这一旋仍然不是最终修复。它只是在整理形态：让下一步一定能看到“黑兄弟 + 红色远侄”的标准终局。</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1"/>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07 · 删除修复</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1"/>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情况六：远侄红，围绕 parent 最终旋转，一次消掉双黑</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1"/>
          <p:cNvSpPr>
            <a:spLocks noGrp="1"/>
          </p:cNvSpPr>
          <p:nvPr/>
        </p:nvSpPr>
        <p:spPr>
          <a:xfrm>
            <a:off x="400050" y="1352550"/>
            <a:ext cx="11391900" cy="19050"/>
          </a:xfrm>
          <a:prstGeom prst="rect">
            <a:avLst/>
          </a:prstGeom>
          <a:solidFill>
            <a:srgbClr val="17181C"/>
          </a:solidFill>
          <a:ln w="0">
            <a:noFill/>
            <a:prstDash val="solid"/>
          </a:ln>
        </p:spPr>
      </p:sp>
      <p:sp>
        <p:nvSpPr>
          <p:cNvPr id="5" name="footer_31"/>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31</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before_panel_31"/>
          <p:cNvSpPr>
            <a:spLocks noGrp="1"/>
          </p:cNvSpPr>
          <p:nvPr/>
        </p:nvSpPr>
        <p:spPr>
          <a:xfrm>
            <a:off x="400050" y="1695450"/>
            <a:ext cx="5095875" cy="3905250"/>
          </a:xfrm>
          <a:prstGeom prst="rect">
            <a:avLst/>
          </a:prstGeom>
          <a:solidFill>
            <a:srgbClr val="F2F3F5"/>
          </a:solidFill>
          <a:ln w="0">
            <a:noFill/>
            <a:prstDash val="solid"/>
          </a:ln>
        </p:spPr>
      </p:sp>
      <p:sp>
        <p:nvSpPr>
          <p:cNvPr id="7" name="after_panel_31"/>
          <p:cNvSpPr>
            <a:spLocks noGrp="1"/>
          </p:cNvSpPr>
          <p:nvPr/>
        </p:nvSpPr>
        <p:spPr>
          <a:xfrm>
            <a:off x="6696075" y="1695450"/>
            <a:ext cx="5095875" cy="3905250"/>
          </a:xfrm>
          <a:prstGeom prst="rect">
            <a:avLst/>
          </a:prstGeom>
          <a:solidFill>
            <a:srgbClr val="F2F3F5"/>
          </a:solidFill>
          <a:ln w="0">
            <a:noFill/>
            <a:prstDash val="solid"/>
          </a:ln>
        </p:spPr>
      </p:sp>
      <p:sp>
        <p:nvSpPr>
          <p:cNvPr id="8" name="before_label_31"/>
          <p:cNvSpPr>
            <a:spLocks noGrp="1"/>
          </p:cNvSpPr>
          <p:nvPr/>
        </p:nvSpPr>
        <p:spPr>
          <a:xfrm>
            <a:off x="590550"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黑兄弟 S 的远侄 F 为红</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9" name="after_label_31"/>
          <p:cNvSpPr>
            <a:spLocks noGrp="1"/>
          </p:cNvSpPr>
          <p:nvPr/>
        </p:nvSpPr>
        <p:spPr>
          <a:xfrm>
            <a:off x="6886575" y="1876425"/>
            <a:ext cx="4524375" cy="323850"/>
          </a:xfrm>
          <a:prstGeom prst="rect">
            <a:avLst/>
          </a:prstGeom>
          <a:noFill/>
          <a:ln w="0">
            <a:noFill/>
            <a:prstDash val="solid"/>
          </a:ln>
        </p:spPr>
        <p:txBody>
          <a:bodyPr lIns="0" tIns="0" rIns="0" bIns="0" anchor="t"/>
          <a:lstStyle/>
          <a:p>
            <a:pPr algn="l">
              <a:defRPr sz="1500" b="1">
                <a:solidFill>
                  <a:srgbClr val="17181C"/>
                </a:solidFill>
                <a:latin typeface="微软雅黑" panose="020B0503020204020204" charset="-122"/>
                <a:ea typeface="微软雅黑" panose="020B0503020204020204" charset="-122"/>
                <a:cs typeface="微软雅黑" panose="020B0503020204020204" charset="-122"/>
              </a:defRPr>
            </a:pPr>
            <a:r>
              <a:rPr sz="1500" b="1">
                <a:solidFill>
                  <a:srgbClr val="17181C"/>
                </a:solidFill>
                <a:latin typeface="微软雅黑" panose="020B0503020204020204" charset="-122"/>
                <a:ea typeface="微软雅黑" panose="020B0503020204020204" charset="-122"/>
                <a:cs typeface="微软雅黑" panose="020B0503020204020204" charset="-122"/>
              </a:rPr>
              <a:t>S 上升并继承 P 的颜色；P 与 F 染黑</a:t>
            </a:r>
            <a:endParaRPr sz="15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10" name="before_31_edge_p_d"/>
          <p:cNvSpPr>
            <a:spLocks noGrp="1"/>
          </p:cNvSpPr>
          <p:nvPr/>
        </p:nvSpPr>
        <p:spPr>
          <a:xfrm rot="7521748">
            <a:off x="1428437" y="3343275"/>
            <a:ext cx="1810377" cy="28575"/>
          </a:xfrm>
          <a:prstGeom prst="rect">
            <a:avLst/>
          </a:prstGeom>
          <a:solidFill>
            <a:srgbClr val="B9BDC5"/>
          </a:solidFill>
          <a:ln w="0">
            <a:noFill/>
            <a:prstDash val="solid"/>
          </a:ln>
        </p:spPr>
      </p:sp>
      <p:sp>
        <p:nvSpPr>
          <p:cNvPr id="11" name="before_31_edge_p_s"/>
          <p:cNvSpPr>
            <a:spLocks noGrp="1"/>
          </p:cNvSpPr>
          <p:nvPr/>
        </p:nvSpPr>
        <p:spPr>
          <a:xfrm rot="3135192">
            <a:off x="2495441" y="3343275"/>
            <a:ext cx="1867119" cy="28575"/>
          </a:xfrm>
          <a:prstGeom prst="rect">
            <a:avLst/>
          </a:prstGeom>
          <a:solidFill>
            <a:srgbClr val="B9BDC5"/>
          </a:solidFill>
          <a:ln w="0">
            <a:noFill/>
            <a:prstDash val="solid"/>
          </a:ln>
        </p:spPr>
      </p:sp>
      <p:sp>
        <p:nvSpPr>
          <p:cNvPr id="12" name="before_31_edge_s_n"/>
          <p:cNvSpPr>
            <a:spLocks noGrp="1"/>
          </p:cNvSpPr>
          <p:nvPr/>
        </p:nvSpPr>
        <p:spPr>
          <a:xfrm rot="7305569">
            <a:off x="3102812" y="4581525"/>
            <a:ext cx="1176251" cy="28575"/>
          </a:xfrm>
          <a:prstGeom prst="rect">
            <a:avLst/>
          </a:prstGeom>
          <a:solidFill>
            <a:srgbClr val="B9BDC5"/>
          </a:solidFill>
          <a:ln w="0">
            <a:noFill/>
            <a:prstDash val="solid"/>
          </a:ln>
        </p:spPr>
      </p:sp>
      <p:sp>
        <p:nvSpPr>
          <p:cNvPr id="13" name="before_31_edge_s_f"/>
          <p:cNvSpPr>
            <a:spLocks noGrp="1"/>
          </p:cNvSpPr>
          <p:nvPr/>
        </p:nvSpPr>
        <p:spPr>
          <a:xfrm rot="3378596">
            <a:off x="3732875" y="4581525"/>
            <a:ext cx="1202001" cy="28575"/>
          </a:xfrm>
          <a:prstGeom prst="rect">
            <a:avLst/>
          </a:prstGeom>
          <a:solidFill>
            <a:srgbClr val="B9BDC5"/>
          </a:solidFill>
          <a:ln w="0">
            <a:noFill/>
            <a:prstDash val="solid"/>
          </a:ln>
        </p:spPr>
      </p:sp>
      <p:sp>
        <p:nvSpPr>
          <p:cNvPr id="14" name="before_31_p"/>
          <p:cNvSpPr>
            <a:spLocks noGrp="1"/>
          </p:cNvSpPr>
          <p:nvPr/>
        </p:nvSpPr>
        <p:spPr>
          <a:xfrm>
            <a:off x="2619375" y="2381250"/>
            <a:ext cx="476250" cy="476250"/>
          </a:xfrm>
          <a:prstGeom prst="ellipse">
            <a:avLst/>
          </a:prstGeom>
          <a:solidFill>
            <a:srgbClr val="DE3840"/>
          </a:solidFill>
          <a:ln w="9525">
            <a:solidFill>
              <a:srgbClr val="FFFFFF"/>
            </a:solidFill>
            <a:prstDash val="solid"/>
          </a:ln>
        </p:spPr>
      </p:sp>
      <p:sp>
        <p:nvSpPr>
          <p:cNvPr id="15" name="before_31_p_label"/>
          <p:cNvSpPr>
            <a:spLocks noGrp="1"/>
          </p:cNvSpPr>
          <p:nvPr/>
        </p:nvSpPr>
        <p:spPr>
          <a:xfrm>
            <a:off x="2657475"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before_31_d_outer"/>
          <p:cNvSpPr>
            <a:spLocks noGrp="1"/>
          </p:cNvSpPr>
          <p:nvPr/>
        </p:nvSpPr>
        <p:spPr>
          <a:xfrm>
            <a:off x="1504950" y="3790950"/>
            <a:ext cx="609600" cy="609600"/>
          </a:xfrm>
          <a:prstGeom prst="ellipse">
            <a:avLst/>
          </a:prstGeom>
          <a:solidFill>
            <a:srgbClr val="FFFFFF"/>
          </a:solidFill>
          <a:ln w="28575">
            <a:solidFill>
              <a:srgbClr val="17181C"/>
            </a:solidFill>
            <a:prstDash val="solid"/>
          </a:ln>
        </p:spPr>
      </p:sp>
      <p:sp>
        <p:nvSpPr>
          <p:cNvPr id="17" name="before_31_d"/>
          <p:cNvSpPr>
            <a:spLocks noGrp="1"/>
          </p:cNvSpPr>
          <p:nvPr/>
        </p:nvSpPr>
        <p:spPr>
          <a:xfrm>
            <a:off x="1571625" y="3857625"/>
            <a:ext cx="476250" cy="476250"/>
          </a:xfrm>
          <a:prstGeom prst="ellipse">
            <a:avLst/>
          </a:prstGeom>
          <a:solidFill>
            <a:srgbClr val="22242A"/>
          </a:solidFill>
          <a:ln w="9525">
            <a:solidFill>
              <a:srgbClr val="FFFFFF"/>
            </a:solidFill>
            <a:prstDash val="solid"/>
          </a:ln>
        </p:spPr>
      </p:sp>
      <p:sp>
        <p:nvSpPr>
          <p:cNvPr id="18" name="before_31_d_label"/>
          <p:cNvSpPr>
            <a:spLocks noGrp="1"/>
          </p:cNvSpPr>
          <p:nvPr/>
        </p:nvSpPr>
        <p:spPr>
          <a:xfrm>
            <a:off x="160972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DB</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before_31_s"/>
          <p:cNvSpPr>
            <a:spLocks noGrp="1"/>
          </p:cNvSpPr>
          <p:nvPr/>
        </p:nvSpPr>
        <p:spPr>
          <a:xfrm>
            <a:off x="3762375" y="3857625"/>
            <a:ext cx="476250" cy="476250"/>
          </a:xfrm>
          <a:prstGeom prst="ellipse">
            <a:avLst/>
          </a:prstGeom>
          <a:solidFill>
            <a:srgbClr val="22242A"/>
          </a:solidFill>
          <a:ln w="9525">
            <a:solidFill>
              <a:srgbClr val="FFFFFF"/>
            </a:solidFill>
            <a:prstDash val="solid"/>
          </a:ln>
        </p:spPr>
      </p:sp>
      <p:sp>
        <p:nvSpPr>
          <p:cNvPr id="20" name="before_31_s_label"/>
          <p:cNvSpPr>
            <a:spLocks noGrp="1"/>
          </p:cNvSpPr>
          <p:nvPr/>
        </p:nvSpPr>
        <p:spPr>
          <a:xfrm>
            <a:off x="3800475"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before_31_n"/>
          <p:cNvSpPr>
            <a:spLocks noGrp="1"/>
          </p:cNvSpPr>
          <p:nvPr/>
        </p:nvSpPr>
        <p:spPr>
          <a:xfrm>
            <a:off x="3143250" y="4857750"/>
            <a:ext cx="476250" cy="476250"/>
          </a:xfrm>
          <a:prstGeom prst="ellipse">
            <a:avLst/>
          </a:prstGeom>
          <a:solidFill>
            <a:srgbClr val="22242A"/>
          </a:solidFill>
          <a:ln w="9525">
            <a:solidFill>
              <a:srgbClr val="FFFFFF"/>
            </a:solidFill>
            <a:prstDash val="solid"/>
          </a:ln>
        </p:spPr>
      </p:sp>
      <p:sp>
        <p:nvSpPr>
          <p:cNvPr id="22" name="before_31_n_label"/>
          <p:cNvSpPr>
            <a:spLocks noGrp="1"/>
          </p:cNvSpPr>
          <p:nvPr/>
        </p:nvSpPr>
        <p:spPr>
          <a:xfrm>
            <a:off x="3181350"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before_31_f"/>
          <p:cNvSpPr>
            <a:spLocks noGrp="1"/>
          </p:cNvSpPr>
          <p:nvPr/>
        </p:nvSpPr>
        <p:spPr>
          <a:xfrm>
            <a:off x="4429125" y="4857750"/>
            <a:ext cx="476250" cy="476250"/>
          </a:xfrm>
          <a:prstGeom prst="ellipse">
            <a:avLst/>
          </a:prstGeom>
          <a:solidFill>
            <a:srgbClr val="DE3840"/>
          </a:solidFill>
          <a:ln w="9525">
            <a:solidFill>
              <a:srgbClr val="FFFFFF"/>
            </a:solidFill>
            <a:prstDash val="solid"/>
          </a:ln>
        </p:spPr>
      </p:sp>
      <p:sp>
        <p:nvSpPr>
          <p:cNvPr id="24" name="before_31_f_label"/>
          <p:cNvSpPr>
            <a:spLocks noGrp="1"/>
          </p:cNvSpPr>
          <p:nvPr/>
        </p:nvSpPr>
        <p:spPr>
          <a:xfrm>
            <a:off x="44672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5" name="after_31_edge_s_p"/>
          <p:cNvSpPr>
            <a:spLocks noGrp="1"/>
          </p:cNvSpPr>
          <p:nvPr/>
        </p:nvSpPr>
        <p:spPr>
          <a:xfrm rot="7799213">
            <a:off x="7609050" y="3343275"/>
            <a:ext cx="1926901" cy="28575"/>
          </a:xfrm>
          <a:prstGeom prst="rect">
            <a:avLst/>
          </a:prstGeom>
          <a:solidFill>
            <a:srgbClr val="B9BDC5"/>
          </a:solidFill>
          <a:ln w="0">
            <a:noFill/>
            <a:prstDash val="solid"/>
          </a:ln>
        </p:spPr>
      </p:sp>
      <p:sp>
        <p:nvSpPr>
          <p:cNvPr id="26" name="after_31_edge_s_f"/>
          <p:cNvSpPr>
            <a:spLocks noGrp="1"/>
          </p:cNvSpPr>
          <p:nvPr/>
        </p:nvSpPr>
        <p:spPr>
          <a:xfrm rot="3000787">
            <a:off x="8847300" y="3343275"/>
            <a:ext cx="1926901" cy="28575"/>
          </a:xfrm>
          <a:prstGeom prst="rect">
            <a:avLst/>
          </a:prstGeom>
          <a:solidFill>
            <a:srgbClr val="B9BDC5"/>
          </a:solidFill>
          <a:ln w="0">
            <a:noFill/>
            <a:prstDash val="solid"/>
          </a:ln>
        </p:spPr>
      </p:sp>
      <p:sp>
        <p:nvSpPr>
          <p:cNvPr id="27" name="after_31_edge_p_d"/>
          <p:cNvSpPr>
            <a:spLocks noGrp="1"/>
          </p:cNvSpPr>
          <p:nvPr/>
        </p:nvSpPr>
        <p:spPr>
          <a:xfrm rot="7532261">
            <a:off x="6981659" y="4581525"/>
            <a:ext cx="1229057" cy="28575"/>
          </a:xfrm>
          <a:prstGeom prst="rect">
            <a:avLst/>
          </a:prstGeom>
          <a:solidFill>
            <a:srgbClr val="B9BDC5"/>
          </a:solidFill>
          <a:ln w="0">
            <a:noFill/>
            <a:prstDash val="solid"/>
          </a:ln>
        </p:spPr>
      </p:sp>
      <p:sp>
        <p:nvSpPr>
          <p:cNvPr id="28" name="after_31_edge_p_n"/>
          <p:cNvSpPr>
            <a:spLocks noGrp="1"/>
          </p:cNvSpPr>
          <p:nvPr/>
        </p:nvSpPr>
        <p:spPr>
          <a:xfrm rot="3267739">
            <a:off x="7696034" y="4581525"/>
            <a:ext cx="1229057" cy="28575"/>
          </a:xfrm>
          <a:prstGeom prst="rect">
            <a:avLst/>
          </a:prstGeom>
          <a:solidFill>
            <a:srgbClr val="B9BDC5"/>
          </a:solidFill>
          <a:ln w="0">
            <a:noFill/>
            <a:prstDash val="solid"/>
          </a:ln>
        </p:spPr>
      </p:sp>
      <p:sp>
        <p:nvSpPr>
          <p:cNvPr id="29" name="after_31_s"/>
          <p:cNvSpPr>
            <a:spLocks noGrp="1"/>
          </p:cNvSpPr>
          <p:nvPr/>
        </p:nvSpPr>
        <p:spPr>
          <a:xfrm>
            <a:off x="8953500" y="2381250"/>
            <a:ext cx="476250" cy="476250"/>
          </a:xfrm>
          <a:prstGeom prst="ellipse">
            <a:avLst/>
          </a:prstGeom>
          <a:solidFill>
            <a:srgbClr val="DE3840"/>
          </a:solidFill>
          <a:ln w="9525">
            <a:solidFill>
              <a:srgbClr val="FFFFFF"/>
            </a:solidFill>
            <a:prstDash val="solid"/>
          </a:ln>
        </p:spPr>
      </p:sp>
      <p:sp>
        <p:nvSpPr>
          <p:cNvPr id="30" name="after_31_s_label"/>
          <p:cNvSpPr>
            <a:spLocks noGrp="1"/>
          </p:cNvSpPr>
          <p:nvPr/>
        </p:nvSpPr>
        <p:spPr>
          <a:xfrm>
            <a:off x="8991600" y="24955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S</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after_31_p"/>
          <p:cNvSpPr>
            <a:spLocks noGrp="1"/>
          </p:cNvSpPr>
          <p:nvPr/>
        </p:nvSpPr>
        <p:spPr>
          <a:xfrm>
            <a:off x="7715250" y="3857625"/>
            <a:ext cx="476250" cy="476250"/>
          </a:xfrm>
          <a:prstGeom prst="ellipse">
            <a:avLst/>
          </a:prstGeom>
          <a:solidFill>
            <a:srgbClr val="22242A"/>
          </a:solidFill>
          <a:ln w="9525">
            <a:solidFill>
              <a:srgbClr val="FFFFFF"/>
            </a:solidFill>
            <a:prstDash val="solid"/>
          </a:ln>
        </p:spPr>
      </p:sp>
      <p:sp>
        <p:nvSpPr>
          <p:cNvPr id="32" name="after_31_p_label"/>
          <p:cNvSpPr>
            <a:spLocks noGrp="1"/>
          </p:cNvSpPr>
          <p:nvPr/>
        </p:nvSpPr>
        <p:spPr>
          <a:xfrm>
            <a:off x="77533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P</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after_31_f"/>
          <p:cNvSpPr>
            <a:spLocks noGrp="1"/>
          </p:cNvSpPr>
          <p:nvPr/>
        </p:nvSpPr>
        <p:spPr>
          <a:xfrm>
            <a:off x="10191750" y="3857625"/>
            <a:ext cx="476250" cy="476250"/>
          </a:xfrm>
          <a:prstGeom prst="ellipse">
            <a:avLst/>
          </a:prstGeom>
          <a:solidFill>
            <a:srgbClr val="22242A"/>
          </a:solidFill>
          <a:ln w="9525">
            <a:solidFill>
              <a:srgbClr val="FFFFFF"/>
            </a:solidFill>
            <a:prstDash val="solid"/>
          </a:ln>
        </p:spPr>
      </p:sp>
      <p:sp>
        <p:nvSpPr>
          <p:cNvPr id="34" name="after_31_f_label"/>
          <p:cNvSpPr>
            <a:spLocks noGrp="1"/>
          </p:cNvSpPr>
          <p:nvPr/>
        </p:nvSpPr>
        <p:spPr>
          <a:xfrm>
            <a:off x="10229850" y="3971925"/>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F</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5" name="after_31_d"/>
          <p:cNvSpPr>
            <a:spLocks noGrp="1"/>
          </p:cNvSpPr>
          <p:nvPr/>
        </p:nvSpPr>
        <p:spPr>
          <a:xfrm>
            <a:off x="7000875" y="4857750"/>
            <a:ext cx="476250" cy="476250"/>
          </a:xfrm>
          <a:prstGeom prst="ellipse">
            <a:avLst/>
          </a:prstGeom>
          <a:solidFill>
            <a:srgbClr val="22242A"/>
          </a:solidFill>
          <a:ln w="9525">
            <a:solidFill>
              <a:srgbClr val="FFFFFF"/>
            </a:solidFill>
            <a:prstDash val="solid"/>
          </a:ln>
        </p:spPr>
      </p:sp>
      <p:sp>
        <p:nvSpPr>
          <p:cNvPr id="36" name="after_31_d_label"/>
          <p:cNvSpPr>
            <a:spLocks noGrp="1"/>
          </p:cNvSpPr>
          <p:nvPr/>
        </p:nvSpPr>
        <p:spPr>
          <a:xfrm>
            <a:off x="703897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7" name="after_31_n"/>
          <p:cNvSpPr>
            <a:spLocks noGrp="1"/>
          </p:cNvSpPr>
          <p:nvPr/>
        </p:nvSpPr>
        <p:spPr>
          <a:xfrm>
            <a:off x="8429625" y="4857750"/>
            <a:ext cx="476250" cy="476250"/>
          </a:xfrm>
          <a:prstGeom prst="ellipse">
            <a:avLst/>
          </a:prstGeom>
          <a:solidFill>
            <a:srgbClr val="22242A"/>
          </a:solidFill>
          <a:ln w="9525">
            <a:solidFill>
              <a:srgbClr val="FFFFFF"/>
            </a:solidFill>
            <a:prstDash val="solid"/>
          </a:ln>
        </p:spPr>
      </p:sp>
      <p:sp>
        <p:nvSpPr>
          <p:cNvPr id="38" name="after_31_n_label"/>
          <p:cNvSpPr>
            <a:spLocks noGrp="1"/>
          </p:cNvSpPr>
          <p:nvPr/>
        </p:nvSpPr>
        <p:spPr>
          <a:xfrm>
            <a:off x="8467725" y="4972050"/>
            <a:ext cx="400050" cy="247650"/>
          </a:xfrm>
          <a:prstGeom prst="rect">
            <a:avLst/>
          </a:prstGeom>
          <a:noFill/>
          <a:ln w="0">
            <a:noFill/>
            <a:prstDash val="solid"/>
          </a:ln>
        </p:spPr>
        <p:txBody>
          <a:bodyPr lIns="0" tIns="0" rIns="0" bIns="0" anchor="t"/>
          <a:lstStyle/>
          <a:p>
            <a:pPr algn="ctr">
              <a:defRPr sz="1200" b="1">
                <a:solidFill>
                  <a:srgbClr val="FFFFFF"/>
                </a:solidFill>
                <a:latin typeface="微软雅黑" panose="020B0503020204020204" charset="-122"/>
                <a:ea typeface="微软雅黑" panose="020B0503020204020204" charset="-122"/>
                <a:cs typeface="微软雅黑" panose="020B0503020204020204" charset="-122"/>
              </a:defRPr>
            </a:pPr>
            <a:r>
              <a:rPr sz="1200" b="1">
                <a:solidFill>
                  <a:srgbClr val="FFFFFF"/>
                </a:solidFill>
                <a:latin typeface="微软雅黑" panose="020B0503020204020204" charset="-122"/>
                <a:ea typeface="微软雅黑" panose="020B0503020204020204" charset="-122"/>
                <a:cs typeface="微软雅黑" panose="020B0503020204020204" charset="-122"/>
              </a:rPr>
              <a:t>N</a:t>
            </a:r>
            <a:endParaRPr sz="12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transition_31_shaft"/>
          <p:cNvSpPr>
            <a:spLocks noGrp="1"/>
          </p:cNvSpPr>
          <p:nvPr/>
        </p:nvSpPr>
        <p:spPr>
          <a:xfrm>
            <a:off x="5810250" y="3600450"/>
            <a:ext cx="571500" cy="38100"/>
          </a:xfrm>
          <a:prstGeom prst="rect">
            <a:avLst/>
          </a:prstGeom>
          <a:solidFill>
            <a:srgbClr val="DE3840"/>
          </a:solidFill>
          <a:ln w="0">
            <a:noFill/>
            <a:prstDash val="solid"/>
          </a:ln>
        </p:spPr>
      </p:sp>
      <p:sp>
        <p:nvSpPr>
          <p:cNvPr id="40" name="transition_31_head_1"/>
          <p:cNvSpPr>
            <a:spLocks noGrp="1"/>
          </p:cNvSpPr>
          <p:nvPr/>
        </p:nvSpPr>
        <p:spPr>
          <a:xfrm rot="8856000">
            <a:off x="6276347" y="3631073"/>
            <a:ext cx="114300" cy="38100"/>
          </a:xfrm>
          <a:prstGeom prst="rect">
            <a:avLst/>
          </a:prstGeom>
          <a:solidFill>
            <a:srgbClr val="DE3840"/>
          </a:solidFill>
          <a:ln w="0">
            <a:noFill/>
            <a:prstDash val="solid"/>
          </a:ln>
        </p:spPr>
      </p:sp>
      <p:sp>
        <p:nvSpPr>
          <p:cNvPr id="41" name="transition_31_head_2"/>
          <p:cNvSpPr>
            <a:spLocks noGrp="1"/>
          </p:cNvSpPr>
          <p:nvPr/>
        </p:nvSpPr>
        <p:spPr>
          <a:xfrm rot="-8856000">
            <a:off x="6276347" y="3569827"/>
            <a:ext cx="114300" cy="38100"/>
          </a:xfrm>
          <a:prstGeom prst="rect">
            <a:avLst/>
          </a:prstGeom>
          <a:solidFill>
            <a:srgbClr val="DE3840"/>
          </a:solidFill>
          <a:ln w="0">
            <a:noFill/>
            <a:prstDash val="solid"/>
          </a:ln>
        </p:spPr>
      </p:sp>
      <p:sp>
        <p:nvSpPr>
          <p:cNvPr id="42" name="transition_caption_31"/>
          <p:cNvSpPr>
            <a:spLocks noGrp="1"/>
          </p:cNvSpPr>
          <p:nvPr/>
        </p:nvSpPr>
        <p:spPr>
          <a:xfrm>
            <a:off x="1714500" y="5772150"/>
            <a:ext cx="8763000" cy="428625"/>
          </a:xfrm>
          <a:prstGeom prst="rect">
            <a:avLst/>
          </a:prstGeom>
          <a:noFill/>
          <a:ln w="0">
            <a:noFill/>
            <a:prstDash val="solid"/>
          </a:ln>
        </p:spPr>
        <p:txBody>
          <a:bodyPr lIns="0" tIns="0" rIns="0" bIns="0" anchor="t"/>
          <a:lstStyle/>
          <a:p>
            <a:pPr algn="ctr">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S 继承原 parent 的颜色，保证局部接回外部以后颜色层级不突变；P 和远侄染黑，分别补齐 node 侧与外侧路径的黑高。</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2"/>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08 · 正确性验证</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2"/>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invariant 不是修复函数，它只负责揭穿当前树哪里不合法</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2"/>
          <p:cNvSpPr>
            <a:spLocks noGrp="1"/>
          </p:cNvSpPr>
          <p:nvPr/>
        </p:nvSpPr>
        <p:spPr>
          <a:xfrm>
            <a:off x="400050" y="1352550"/>
            <a:ext cx="11391900" cy="19050"/>
          </a:xfrm>
          <a:prstGeom prst="rect">
            <a:avLst/>
          </a:prstGeom>
          <a:solidFill>
            <a:srgbClr val="17181C"/>
          </a:solidFill>
          <a:ln w="0">
            <a:noFill/>
            <a:prstDash val="solid"/>
          </a:ln>
        </p:spPr>
      </p:sp>
      <p:sp>
        <p:nvSpPr>
          <p:cNvPr id="5" name="footer_32"/>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32</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2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为什么操作成功以后还要检查三类条件？</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32_42"/>
          <p:cNvSpPr>
            <a:spLocks noGrp="1"/>
          </p:cNvSpPr>
          <p:nvPr/>
        </p:nvSpPr>
        <p:spPr>
          <a:xfrm>
            <a:off x="400050" y="2305050"/>
            <a:ext cx="66675" cy="3629025"/>
          </a:xfrm>
          <a:prstGeom prst="rect">
            <a:avLst/>
          </a:prstGeom>
          <a:solidFill>
            <a:srgbClr val="DE3840"/>
          </a:solidFill>
          <a:ln w="0">
            <a:noFill/>
            <a:prstDash val="solid"/>
          </a:ln>
        </p:spPr>
      </p:sp>
      <p:sp>
        <p:nvSpPr>
          <p:cNvPr id="8" name="reason_body_32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contains 只回答某个 key 能不能找到，它不会告诉我们颜色是否正确。</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invariant 同时检查：红节点不能连接红孩子；左孩子小、右孩子大；左右子树黑高必须相同。当前节点通过以后，还要递归检查左右孩子。</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把“修复”与“验证”分开很重要。修复代码不能用自己的逻辑证明自己正确；独立的不变量检查才有机会发现某个旋转少改了一条 parent 指针，或者某次换色只处理了一边。</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32_665"/>
          <p:cNvSpPr>
            <a:spLocks noGrp="1"/>
          </p:cNvSpPr>
          <p:nvPr/>
        </p:nvSpPr>
        <p:spPr>
          <a:xfrm>
            <a:off x="6334125" y="1714500"/>
            <a:ext cx="5048250" cy="3810000"/>
          </a:xfrm>
          <a:prstGeom prst="rect">
            <a:avLst/>
          </a:prstGeom>
          <a:solidFill>
            <a:srgbClr val="202126"/>
          </a:solidFill>
          <a:ln w="0">
            <a:noFill/>
            <a:prstDash val="solid"/>
          </a:ln>
        </p:spPr>
      </p:sp>
      <p:sp>
        <p:nvSpPr>
          <p:cNvPr id="10" name="code_hl_32_0"/>
          <p:cNvSpPr>
            <a:spLocks noGrp="1"/>
          </p:cNvSpPr>
          <p:nvPr/>
        </p:nvSpPr>
        <p:spPr>
          <a:xfrm>
            <a:off x="6410325" y="1819275"/>
            <a:ext cx="4895850" cy="238125"/>
          </a:xfrm>
          <a:prstGeom prst="rect">
            <a:avLst/>
          </a:prstGeom>
          <a:solidFill>
            <a:srgbClr val="56362F"/>
          </a:solidFill>
          <a:ln w="0">
            <a:noFill/>
            <a:prstDash val="solid"/>
          </a:ln>
        </p:spPr>
      </p:sp>
      <p:sp>
        <p:nvSpPr>
          <p:cNvPr id="11" name="code_line_32_0"/>
          <p:cNvSpPr>
            <a:spLocks noGrp="1"/>
          </p:cNvSpPr>
          <p:nvPr/>
        </p:nvSpPr>
        <p:spPr>
          <a:xfrm>
            <a:off x="6496050" y="180975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bool invColor =</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32_1"/>
          <p:cNvSpPr>
            <a:spLocks noGrp="1"/>
          </p:cNvSpPr>
          <p:nvPr/>
        </p:nvSpPr>
        <p:spPr>
          <a:xfrm>
            <a:off x="6496050" y="2047875"/>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color == BLACK ||</a:t>
            </a:r>
            <a:endParaRPr sz="975" b="0">
              <a:solidFill>
                <a:srgbClr val="E7E7EA"/>
              </a:solidFill>
              <a:latin typeface="Consolas" panose="020B0609020204030204"/>
              <a:ea typeface="Consolas" panose="020B0609020204030204"/>
              <a:cs typeface="Consolas" panose="020B0609020204030204"/>
            </a:endParaRPr>
          </a:p>
        </p:txBody>
      </p:sp>
      <p:sp>
        <p:nvSpPr>
          <p:cNvPr id="13" name="code_line_32_2"/>
          <p:cNvSpPr>
            <a:spLocks noGrp="1"/>
          </p:cNvSpPr>
          <p:nvPr/>
        </p:nvSpPr>
        <p:spPr>
          <a:xfrm>
            <a:off x="6496050" y="2286000"/>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(left is black &amp;&amp; right is black);</a:t>
            </a:r>
            <a:endParaRPr sz="975" b="0">
              <a:solidFill>
                <a:srgbClr val="E7E7EA"/>
              </a:solidFill>
              <a:latin typeface="Consolas" panose="020B0609020204030204"/>
              <a:ea typeface="Consolas" panose="020B0609020204030204"/>
              <a:cs typeface="Consolas" panose="020B0609020204030204"/>
            </a:endParaRPr>
          </a:p>
        </p:txBody>
      </p:sp>
      <p:sp>
        <p:nvSpPr>
          <p:cNvPr id="14" name="code_line_32_3"/>
          <p:cNvSpPr>
            <a:spLocks noGrp="1"/>
          </p:cNvSpPr>
          <p:nvPr/>
        </p:nvSpPr>
        <p:spPr>
          <a:xfrm>
            <a:off x="6496050" y="2524125"/>
            <a:ext cx="4762500" cy="238125"/>
          </a:xfrm>
          <a:prstGeom prst="rect">
            <a:avLst/>
          </a:prstGeom>
          <a:noFill/>
          <a:ln w="0">
            <a:noFill/>
            <a:prstDash val="solid"/>
          </a:ln>
        </p:spPr>
        <p:txBody>
          <a:bodyPr lIns="0" tIns="0" rIns="0" bIns="0" anchor="t"/>
          <a:lstStyle/>
          <a:p/>
        </p:txBody>
      </p:sp>
      <p:sp>
        <p:nvSpPr>
          <p:cNvPr id="15" name="code_hl_32_4"/>
          <p:cNvSpPr>
            <a:spLocks noGrp="1"/>
          </p:cNvSpPr>
          <p:nvPr/>
        </p:nvSpPr>
        <p:spPr>
          <a:xfrm>
            <a:off x="6410325" y="2771775"/>
            <a:ext cx="4895850" cy="238125"/>
          </a:xfrm>
          <a:prstGeom prst="rect">
            <a:avLst/>
          </a:prstGeom>
          <a:solidFill>
            <a:srgbClr val="56362F"/>
          </a:solidFill>
          <a:ln w="0">
            <a:noFill/>
            <a:prstDash val="solid"/>
          </a:ln>
        </p:spPr>
      </p:sp>
      <p:sp>
        <p:nvSpPr>
          <p:cNvPr id="16" name="code_line_32_4"/>
          <p:cNvSpPr>
            <a:spLocks noGrp="1"/>
          </p:cNvSpPr>
          <p:nvPr/>
        </p:nvSpPr>
        <p:spPr>
          <a:xfrm>
            <a:off x="6496050" y="276225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bool invOrder =</a:t>
            </a:r>
            <a:endParaRPr sz="975" b="0">
              <a:solidFill>
                <a:srgbClr val="FFD1BF"/>
              </a:solidFill>
              <a:latin typeface="Consolas" panose="020B0609020204030204"/>
              <a:ea typeface="Consolas" panose="020B0609020204030204"/>
              <a:cs typeface="Consolas" panose="020B0609020204030204"/>
            </a:endParaRPr>
          </a:p>
        </p:txBody>
      </p:sp>
      <p:sp>
        <p:nvSpPr>
          <p:cNvPr id="17" name="code_line_32_5"/>
          <p:cNvSpPr>
            <a:spLocks noGrp="1"/>
          </p:cNvSpPr>
          <p:nvPr/>
        </p:nvSpPr>
        <p:spPr>
          <a:xfrm>
            <a:off x="6496050" y="3000375"/>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left-&gt;key &lt; key &amp;&amp; right-&gt;key &gt; key;</a:t>
            </a:r>
            <a:endParaRPr sz="975" b="0">
              <a:solidFill>
                <a:srgbClr val="E7E7EA"/>
              </a:solidFill>
              <a:latin typeface="Consolas" panose="020B0609020204030204"/>
              <a:ea typeface="Consolas" panose="020B0609020204030204"/>
              <a:cs typeface="Consolas" panose="020B0609020204030204"/>
            </a:endParaRPr>
          </a:p>
        </p:txBody>
      </p:sp>
      <p:sp>
        <p:nvSpPr>
          <p:cNvPr id="18" name="code_line_32_6"/>
          <p:cNvSpPr>
            <a:spLocks noGrp="1"/>
          </p:cNvSpPr>
          <p:nvPr/>
        </p:nvSpPr>
        <p:spPr>
          <a:xfrm>
            <a:off x="6496050" y="3238500"/>
            <a:ext cx="4762500" cy="238125"/>
          </a:xfrm>
          <a:prstGeom prst="rect">
            <a:avLst/>
          </a:prstGeom>
          <a:noFill/>
          <a:ln w="0">
            <a:noFill/>
            <a:prstDash val="solid"/>
          </a:ln>
        </p:spPr>
        <p:txBody>
          <a:bodyPr lIns="0" tIns="0" rIns="0" bIns="0" anchor="t"/>
          <a:lstStyle/>
          <a:p/>
        </p:txBody>
      </p:sp>
      <p:sp>
        <p:nvSpPr>
          <p:cNvPr id="19" name="code_hl_32_7"/>
          <p:cNvSpPr>
            <a:spLocks noGrp="1"/>
          </p:cNvSpPr>
          <p:nvPr/>
        </p:nvSpPr>
        <p:spPr>
          <a:xfrm>
            <a:off x="6410325" y="3486150"/>
            <a:ext cx="4895850" cy="238125"/>
          </a:xfrm>
          <a:prstGeom prst="rect">
            <a:avLst/>
          </a:prstGeom>
          <a:solidFill>
            <a:srgbClr val="56362F"/>
          </a:solidFill>
          <a:ln w="0">
            <a:noFill/>
            <a:prstDash val="solid"/>
          </a:ln>
        </p:spPr>
      </p:sp>
      <p:sp>
        <p:nvSpPr>
          <p:cNvPr id="20" name="code_line_32_7"/>
          <p:cNvSpPr>
            <a:spLocks noGrp="1"/>
          </p:cNvSpPr>
          <p:nvPr/>
        </p:nvSpPr>
        <p:spPr>
          <a:xfrm>
            <a:off x="6496050" y="3476625"/>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bool blackNodeCount =</a:t>
            </a:r>
            <a:endParaRPr sz="975" b="0">
              <a:solidFill>
                <a:srgbClr val="FFD1BF"/>
              </a:solidFill>
              <a:latin typeface="Consolas" panose="020B0609020204030204"/>
              <a:ea typeface="Consolas" panose="020B0609020204030204"/>
              <a:cs typeface="Consolas" panose="020B0609020204030204"/>
            </a:endParaRPr>
          </a:p>
        </p:txBody>
      </p:sp>
      <p:sp>
        <p:nvSpPr>
          <p:cNvPr id="21" name="code_line_32_8"/>
          <p:cNvSpPr>
            <a:spLocks noGrp="1"/>
          </p:cNvSpPr>
          <p:nvPr/>
        </p:nvSpPr>
        <p:spPr>
          <a:xfrm>
            <a:off x="6496050" y="3714750"/>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invariantBlackNodes() &gt; -1;</a:t>
            </a:r>
            <a:endParaRPr sz="975" b="0">
              <a:solidFill>
                <a:srgbClr val="E7E7EA"/>
              </a:solidFill>
              <a:latin typeface="Consolas" panose="020B0609020204030204"/>
              <a:ea typeface="Consolas" panose="020B0609020204030204"/>
              <a:cs typeface="Consolas" panose="020B0609020204030204"/>
            </a:endParaRPr>
          </a:p>
        </p:txBody>
      </p:sp>
      <p:sp>
        <p:nvSpPr>
          <p:cNvPr id="22" name="code_line_32_9"/>
          <p:cNvSpPr>
            <a:spLocks noGrp="1"/>
          </p:cNvSpPr>
          <p:nvPr/>
        </p:nvSpPr>
        <p:spPr>
          <a:xfrm>
            <a:off x="6496050" y="3952875"/>
            <a:ext cx="4762500" cy="238125"/>
          </a:xfrm>
          <a:prstGeom prst="rect">
            <a:avLst/>
          </a:prstGeom>
          <a:noFill/>
          <a:ln w="0">
            <a:noFill/>
            <a:prstDash val="solid"/>
          </a:ln>
        </p:spPr>
        <p:txBody>
          <a:bodyPr lIns="0" tIns="0" rIns="0" bIns="0" anchor="t"/>
          <a:lstStyle/>
          <a:p/>
        </p:txBody>
      </p:sp>
      <p:sp>
        <p:nvSpPr>
          <p:cNvPr id="23" name="code_hl_32_10"/>
          <p:cNvSpPr>
            <a:spLocks noGrp="1"/>
          </p:cNvSpPr>
          <p:nvPr/>
        </p:nvSpPr>
        <p:spPr>
          <a:xfrm>
            <a:off x="6410325" y="4200525"/>
            <a:ext cx="4895850" cy="238125"/>
          </a:xfrm>
          <a:prstGeom prst="rect">
            <a:avLst/>
          </a:prstGeom>
          <a:solidFill>
            <a:srgbClr val="56362F"/>
          </a:solidFill>
          <a:ln w="0">
            <a:noFill/>
            <a:prstDash val="solid"/>
          </a:ln>
        </p:spPr>
      </p:sp>
      <p:sp>
        <p:nvSpPr>
          <p:cNvPr id="24" name="code_line_32_10"/>
          <p:cNvSpPr>
            <a:spLocks noGrp="1"/>
          </p:cNvSpPr>
          <p:nvPr/>
        </p:nvSpPr>
        <p:spPr>
          <a:xfrm>
            <a:off x="6496050" y="419100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return invColor &amp;&amp; invOrder &amp;&amp;</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32_11"/>
          <p:cNvSpPr>
            <a:spLocks noGrp="1"/>
          </p:cNvSpPr>
          <p:nvPr/>
        </p:nvSpPr>
        <p:spPr>
          <a:xfrm>
            <a:off x="6496050" y="4429125"/>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blackNodeCount &amp;&amp;</a:t>
            </a:r>
            <a:endParaRPr sz="975" b="0">
              <a:solidFill>
                <a:srgbClr val="E7E7EA"/>
              </a:solidFill>
              <a:latin typeface="Consolas" panose="020B0609020204030204"/>
              <a:ea typeface="Consolas" panose="020B0609020204030204"/>
              <a:cs typeface="Consolas" panose="020B0609020204030204"/>
            </a:endParaRPr>
          </a:p>
        </p:txBody>
      </p:sp>
      <p:sp>
        <p:nvSpPr>
          <p:cNvPr id="26" name="code_line_32_12"/>
          <p:cNvSpPr>
            <a:spLocks noGrp="1"/>
          </p:cNvSpPr>
          <p:nvPr/>
        </p:nvSpPr>
        <p:spPr>
          <a:xfrm>
            <a:off x="6496050" y="4667250"/>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left-&gt;invariant() &amp;&amp; right-&gt;invariant();</a:t>
            </a:r>
            <a:endParaRPr sz="975" b="0">
              <a:solidFill>
                <a:srgbClr val="E7E7EA"/>
              </a:solidFill>
              <a:latin typeface="Consolas" panose="020B0609020204030204"/>
              <a:ea typeface="Consolas" panose="020B0609020204030204"/>
              <a:cs typeface="Consolas" panose="020B0609020204030204"/>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3"/>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08 · 正确性验证</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3"/>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invariantBlackNodes：用 -1 让黑高错误一路向上传播</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3"/>
          <p:cNvSpPr>
            <a:spLocks noGrp="1"/>
          </p:cNvSpPr>
          <p:nvPr/>
        </p:nvSpPr>
        <p:spPr>
          <a:xfrm>
            <a:off x="400050" y="1352550"/>
            <a:ext cx="11391900" cy="19050"/>
          </a:xfrm>
          <a:prstGeom prst="rect">
            <a:avLst/>
          </a:prstGeom>
          <a:solidFill>
            <a:srgbClr val="17181C"/>
          </a:solidFill>
          <a:ln w="0">
            <a:noFill/>
            <a:prstDash val="solid"/>
          </a:ln>
        </p:spPr>
      </p:sp>
      <p:sp>
        <p:nvSpPr>
          <p:cNvPr id="5" name="footer_33"/>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33</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3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为什么 NULL 的黑高从 1 开始？</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33_42"/>
          <p:cNvSpPr>
            <a:spLocks noGrp="1"/>
          </p:cNvSpPr>
          <p:nvPr/>
        </p:nvSpPr>
        <p:spPr>
          <a:xfrm>
            <a:off x="400050" y="2305050"/>
            <a:ext cx="66675" cy="3629025"/>
          </a:xfrm>
          <a:prstGeom prst="rect">
            <a:avLst/>
          </a:prstGeom>
          <a:solidFill>
            <a:srgbClr val="DE3840"/>
          </a:solidFill>
          <a:ln w="0">
            <a:noFill/>
            <a:prstDash val="solid"/>
          </a:ln>
        </p:spPr>
      </p:sp>
      <p:sp>
        <p:nvSpPr>
          <p:cNvPr id="8" name="reason_body_33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红黑树定义里，空叶子也视为黑色。递归走到 NULL 时返回 1，父节点再根据自己是否为黑色增加计数。</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当前节点先分别取得 leftCount 与 rightCount。如果两边不同，或者某一边已经返回 -1，就继续返回 -1。这样最底层发现的黑高错误不需要额外的全局变量，会沿递归返回值一直传到 root。</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两边相等时只取 leftCount 即可，因为已经证明 rightCount 与它相同。</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33_665"/>
          <p:cNvSpPr>
            <a:spLocks noGrp="1"/>
          </p:cNvSpPr>
          <p:nvPr/>
        </p:nvSpPr>
        <p:spPr>
          <a:xfrm>
            <a:off x="6334125" y="1809750"/>
            <a:ext cx="5048250" cy="3143250"/>
          </a:xfrm>
          <a:prstGeom prst="rect">
            <a:avLst/>
          </a:prstGeom>
          <a:solidFill>
            <a:srgbClr val="202126"/>
          </a:solidFill>
          <a:ln w="0">
            <a:noFill/>
            <a:prstDash val="solid"/>
          </a:ln>
        </p:spPr>
      </p:sp>
      <p:sp>
        <p:nvSpPr>
          <p:cNvPr id="10" name="code_hl_33_0"/>
          <p:cNvSpPr>
            <a:spLocks noGrp="1"/>
          </p:cNvSpPr>
          <p:nvPr/>
        </p:nvSpPr>
        <p:spPr>
          <a:xfrm>
            <a:off x="6410325" y="1914525"/>
            <a:ext cx="4895850" cy="238125"/>
          </a:xfrm>
          <a:prstGeom prst="rect">
            <a:avLst/>
          </a:prstGeom>
          <a:solidFill>
            <a:srgbClr val="56362F"/>
          </a:solidFill>
          <a:ln w="0">
            <a:noFill/>
            <a:prstDash val="solid"/>
          </a:ln>
        </p:spPr>
      </p:sp>
      <p:sp>
        <p:nvSpPr>
          <p:cNvPr id="11" name="code_line_33_0"/>
          <p:cNvSpPr>
            <a:spLocks noGrp="1"/>
          </p:cNvSpPr>
          <p:nvPr/>
        </p:nvSpPr>
        <p:spPr>
          <a:xfrm>
            <a:off x="6496050" y="190500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int leftCount =</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33_1"/>
          <p:cNvSpPr>
            <a:spLocks noGrp="1"/>
          </p:cNvSpPr>
          <p:nvPr/>
        </p:nvSpPr>
        <p:spPr>
          <a:xfrm>
            <a:off x="6496050" y="2143125"/>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left == NULL ? 1</a:t>
            </a:r>
            <a:endParaRPr sz="975" b="0">
              <a:solidFill>
                <a:srgbClr val="E7E7EA"/>
              </a:solidFill>
              <a:latin typeface="Consolas" panose="020B0609020204030204"/>
              <a:ea typeface="Consolas" panose="020B0609020204030204"/>
              <a:cs typeface="Consolas" panose="020B0609020204030204"/>
            </a:endParaRPr>
          </a:p>
        </p:txBody>
      </p:sp>
      <p:sp>
        <p:nvSpPr>
          <p:cNvPr id="13" name="code_line_33_2"/>
          <p:cNvSpPr>
            <a:spLocks noGrp="1"/>
          </p:cNvSpPr>
          <p:nvPr/>
        </p:nvSpPr>
        <p:spPr>
          <a:xfrm>
            <a:off x="6496050" y="2381250"/>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 left-&gt;invariantBlackNodes();</a:t>
            </a:r>
            <a:endParaRPr sz="975" b="0">
              <a:solidFill>
                <a:srgbClr val="E7E7EA"/>
              </a:solidFill>
              <a:latin typeface="Consolas" panose="020B0609020204030204"/>
              <a:ea typeface="Consolas" panose="020B0609020204030204"/>
              <a:cs typeface="Consolas" panose="020B0609020204030204"/>
            </a:endParaRPr>
          </a:p>
        </p:txBody>
      </p:sp>
      <p:sp>
        <p:nvSpPr>
          <p:cNvPr id="14" name="code_line_33_3"/>
          <p:cNvSpPr>
            <a:spLocks noGrp="1"/>
          </p:cNvSpPr>
          <p:nvPr/>
        </p:nvSpPr>
        <p:spPr>
          <a:xfrm>
            <a:off x="6496050" y="2619375"/>
            <a:ext cx="4762500" cy="238125"/>
          </a:xfrm>
          <a:prstGeom prst="rect">
            <a:avLst/>
          </a:prstGeom>
          <a:noFill/>
          <a:ln w="0">
            <a:noFill/>
            <a:prstDash val="solid"/>
          </a:ln>
        </p:spPr>
        <p:txBody>
          <a:bodyPr lIns="0" tIns="0" rIns="0" bIns="0" anchor="t"/>
          <a:lstStyle/>
          <a:p/>
        </p:txBody>
      </p:sp>
      <p:sp>
        <p:nvSpPr>
          <p:cNvPr id="15" name="code_hl_33_4"/>
          <p:cNvSpPr>
            <a:spLocks noGrp="1"/>
          </p:cNvSpPr>
          <p:nvPr/>
        </p:nvSpPr>
        <p:spPr>
          <a:xfrm>
            <a:off x="6410325" y="2867025"/>
            <a:ext cx="4895850" cy="238125"/>
          </a:xfrm>
          <a:prstGeom prst="rect">
            <a:avLst/>
          </a:prstGeom>
          <a:solidFill>
            <a:srgbClr val="56362F"/>
          </a:solidFill>
          <a:ln w="0">
            <a:noFill/>
            <a:prstDash val="solid"/>
          </a:ln>
        </p:spPr>
      </p:sp>
      <p:sp>
        <p:nvSpPr>
          <p:cNvPr id="16" name="code_line_33_4"/>
          <p:cNvSpPr>
            <a:spLocks noGrp="1"/>
          </p:cNvSpPr>
          <p:nvPr/>
        </p:nvSpPr>
        <p:spPr>
          <a:xfrm>
            <a:off x="6496050" y="285750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int rightCount =</a:t>
            </a:r>
            <a:endParaRPr sz="975" b="0">
              <a:solidFill>
                <a:srgbClr val="FFD1BF"/>
              </a:solidFill>
              <a:latin typeface="Consolas" panose="020B0609020204030204"/>
              <a:ea typeface="Consolas" panose="020B0609020204030204"/>
              <a:cs typeface="Consolas" panose="020B0609020204030204"/>
            </a:endParaRPr>
          </a:p>
        </p:txBody>
      </p:sp>
      <p:sp>
        <p:nvSpPr>
          <p:cNvPr id="17" name="code_line_33_5"/>
          <p:cNvSpPr>
            <a:spLocks noGrp="1"/>
          </p:cNvSpPr>
          <p:nvPr/>
        </p:nvSpPr>
        <p:spPr>
          <a:xfrm>
            <a:off x="6496050" y="3095625"/>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right == NULL ? 1</a:t>
            </a:r>
            <a:endParaRPr sz="975" b="0">
              <a:solidFill>
                <a:srgbClr val="E7E7EA"/>
              </a:solidFill>
              <a:latin typeface="Consolas" panose="020B0609020204030204"/>
              <a:ea typeface="Consolas" panose="020B0609020204030204"/>
              <a:cs typeface="Consolas" panose="020B0609020204030204"/>
            </a:endParaRPr>
          </a:p>
        </p:txBody>
      </p:sp>
      <p:sp>
        <p:nvSpPr>
          <p:cNvPr id="18" name="code_line_33_6"/>
          <p:cNvSpPr>
            <a:spLocks noGrp="1"/>
          </p:cNvSpPr>
          <p:nvPr/>
        </p:nvSpPr>
        <p:spPr>
          <a:xfrm>
            <a:off x="6496050" y="3333750"/>
            <a:ext cx="4762500"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 right-&gt;invariantBlackNodes();</a:t>
            </a:r>
            <a:endParaRPr sz="975" b="0">
              <a:solidFill>
                <a:srgbClr val="E7E7EA"/>
              </a:solidFill>
              <a:latin typeface="Consolas" panose="020B0609020204030204"/>
              <a:ea typeface="Consolas" panose="020B0609020204030204"/>
              <a:cs typeface="Consolas" panose="020B0609020204030204"/>
            </a:endParaRPr>
          </a:p>
        </p:txBody>
      </p:sp>
      <p:sp>
        <p:nvSpPr>
          <p:cNvPr id="19" name="code_line_33_7"/>
          <p:cNvSpPr>
            <a:spLocks noGrp="1"/>
          </p:cNvSpPr>
          <p:nvPr/>
        </p:nvSpPr>
        <p:spPr>
          <a:xfrm>
            <a:off x="6496050" y="3571875"/>
            <a:ext cx="4762500" cy="238125"/>
          </a:xfrm>
          <a:prstGeom prst="rect">
            <a:avLst/>
          </a:prstGeom>
          <a:noFill/>
          <a:ln w="0">
            <a:noFill/>
            <a:prstDash val="solid"/>
          </a:ln>
        </p:spPr>
        <p:txBody>
          <a:bodyPr lIns="0" tIns="0" rIns="0" bIns="0" anchor="t"/>
          <a:lstStyle/>
          <a:p/>
        </p:txBody>
      </p:sp>
      <p:sp>
        <p:nvSpPr>
          <p:cNvPr id="20" name="code_hl_33_8"/>
          <p:cNvSpPr>
            <a:spLocks noGrp="1"/>
          </p:cNvSpPr>
          <p:nvPr/>
        </p:nvSpPr>
        <p:spPr>
          <a:xfrm>
            <a:off x="6410325" y="3819525"/>
            <a:ext cx="4895850" cy="238125"/>
          </a:xfrm>
          <a:prstGeom prst="rect">
            <a:avLst/>
          </a:prstGeom>
          <a:solidFill>
            <a:srgbClr val="56362F"/>
          </a:solidFill>
          <a:ln w="0">
            <a:noFill/>
            <a:prstDash val="solid"/>
          </a:ln>
        </p:spPr>
      </p:sp>
      <p:sp>
        <p:nvSpPr>
          <p:cNvPr id="21" name="code_line_33_8"/>
          <p:cNvSpPr>
            <a:spLocks noGrp="1"/>
          </p:cNvSpPr>
          <p:nvPr/>
        </p:nvSpPr>
        <p:spPr>
          <a:xfrm>
            <a:off x="6496050" y="381000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return leftCount == rightCount &amp;&amp; leftCount != -1</a:t>
            </a:r>
            <a:endParaRPr sz="975" b="0">
              <a:solidFill>
                <a:srgbClr val="FFD1BF"/>
              </a:solidFill>
              <a:latin typeface="Consolas" panose="020B0609020204030204"/>
              <a:ea typeface="Consolas" panose="020B0609020204030204"/>
              <a:cs typeface="Consolas" panose="020B0609020204030204"/>
            </a:endParaRPr>
          </a:p>
        </p:txBody>
      </p:sp>
      <p:sp>
        <p:nvSpPr>
          <p:cNvPr id="22" name="code_hl_33_9"/>
          <p:cNvSpPr>
            <a:spLocks noGrp="1"/>
          </p:cNvSpPr>
          <p:nvPr/>
        </p:nvSpPr>
        <p:spPr>
          <a:xfrm>
            <a:off x="6410325" y="4057650"/>
            <a:ext cx="4895850" cy="238125"/>
          </a:xfrm>
          <a:prstGeom prst="rect">
            <a:avLst/>
          </a:prstGeom>
          <a:solidFill>
            <a:srgbClr val="56362F"/>
          </a:solidFill>
          <a:ln w="0">
            <a:noFill/>
            <a:prstDash val="solid"/>
          </a:ln>
        </p:spPr>
      </p:sp>
      <p:sp>
        <p:nvSpPr>
          <p:cNvPr id="23" name="code_line_33_9"/>
          <p:cNvSpPr>
            <a:spLocks noGrp="1"/>
          </p:cNvSpPr>
          <p:nvPr/>
        </p:nvSpPr>
        <p:spPr>
          <a:xfrm>
            <a:off x="6496050" y="4048125"/>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 leftCount + this-&gt;color</a:t>
            </a:r>
            <a:endParaRPr sz="975" b="0">
              <a:solidFill>
                <a:srgbClr val="FFD1BF"/>
              </a:solidFill>
              <a:latin typeface="Consolas" panose="020B0609020204030204"/>
              <a:ea typeface="Consolas" panose="020B0609020204030204"/>
              <a:cs typeface="Consolas" panose="020B0609020204030204"/>
            </a:endParaRPr>
          </a:p>
        </p:txBody>
      </p:sp>
      <p:sp>
        <p:nvSpPr>
          <p:cNvPr id="24" name="code_hl_33_10"/>
          <p:cNvSpPr>
            <a:spLocks noGrp="1"/>
          </p:cNvSpPr>
          <p:nvPr/>
        </p:nvSpPr>
        <p:spPr>
          <a:xfrm>
            <a:off x="6410325" y="4295775"/>
            <a:ext cx="4895850" cy="238125"/>
          </a:xfrm>
          <a:prstGeom prst="rect">
            <a:avLst/>
          </a:prstGeom>
          <a:solidFill>
            <a:srgbClr val="56362F"/>
          </a:solidFill>
          <a:ln w="0">
            <a:noFill/>
            <a:prstDash val="solid"/>
          </a:ln>
        </p:spPr>
      </p:sp>
      <p:sp>
        <p:nvSpPr>
          <p:cNvPr id="25" name="code_line_33_10"/>
          <p:cNvSpPr>
            <a:spLocks noGrp="1"/>
          </p:cNvSpPr>
          <p:nvPr/>
        </p:nvSpPr>
        <p:spPr>
          <a:xfrm>
            <a:off x="6496050" y="4286250"/>
            <a:ext cx="4762500"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 -1;</a:t>
            </a:r>
            <a:endParaRPr sz="975" b="0">
              <a:solidFill>
                <a:srgbClr val="FFD1BF"/>
              </a:solidFill>
              <a:latin typeface="Consolas" panose="020B0609020204030204"/>
              <a:ea typeface="Consolas" panose="020B0609020204030204"/>
              <a:cs typeface="Consolas" panose="020B0609020204030204"/>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4"/>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09 · 运行演示</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4"/>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2700">
                <a:solidFill>
                  <a:srgbClr val="5D626C"/>
                </a:solidFill>
                <a:sym typeface="+mn-ea"/>
              </a:rPr>
              <a:t>运行演示</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4"/>
          <p:cNvSpPr>
            <a:spLocks noGrp="1"/>
          </p:cNvSpPr>
          <p:nvPr/>
        </p:nvSpPr>
        <p:spPr>
          <a:xfrm>
            <a:off x="400050" y="1352550"/>
            <a:ext cx="11391900" cy="19050"/>
          </a:xfrm>
          <a:prstGeom prst="rect">
            <a:avLst/>
          </a:prstGeom>
          <a:solidFill>
            <a:srgbClr val="17181C"/>
          </a:solidFill>
          <a:ln w="0">
            <a:noFill/>
            <a:prstDash val="solid"/>
          </a:ln>
        </p:spPr>
      </p:sp>
      <p:sp>
        <p:nvSpPr>
          <p:cNvPr id="5" name="footer_34"/>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34</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7" name="reason_bar_34_42"/>
          <p:cNvSpPr>
            <a:spLocks noGrp="1"/>
          </p:cNvSpPr>
          <p:nvPr/>
        </p:nvSpPr>
        <p:spPr>
          <a:xfrm>
            <a:off x="400050" y="2305050"/>
            <a:ext cx="66675" cy="3390900"/>
          </a:xfrm>
          <a:prstGeom prst="rect">
            <a:avLst/>
          </a:prstGeom>
          <a:solidFill>
            <a:srgbClr val="DE3840"/>
          </a:solidFill>
          <a:ln w="0">
            <a:noFill/>
            <a:prstDash val="solid"/>
          </a:ln>
        </p:spPr>
      </p:sp>
      <p:sp>
        <p:nvSpPr>
          <p:cNvPr id="9" name="easyx_scope"/>
          <p:cNvSpPr>
            <a:spLocks noGrp="1"/>
          </p:cNvSpPr>
          <p:nvPr/>
        </p:nvSpPr>
        <p:spPr>
          <a:xfrm>
            <a:off x="7810500" y="2143125"/>
            <a:ext cx="2571750" cy="2095500"/>
          </a:xfrm>
          <a:prstGeom prst="rect">
            <a:avLst/>
          </a:prstGeom>
          <a:solidFill>
            <a:srgbClr val="F2F3F5"/>
          </a:solidFill>
          <a:ln w="0">
            <a:noFill/>
            <a:prstDash val="solid"/>
          </a:ln>
        </p:spPr>
        <p:txBody>
          <a:bodyPr lIns="0" tIns="0" rIns="0" bIns="0" anchor="t"/>
          <a:lstStyle/>
          <a:p>
            <a:pPr algn="ctr">
              <a:defRPr sz="1875" b="1">
                <a:solidFill>
                  <a:srgbClr val="17181C"/>
                </a:solidFill>
                <a:latin typeface="微软雅黑" panose="020B0503020204020204" charset="-122"/>
                <a:ea typeface="微软雅黑" panose="020B0503020204020204" charset="-122"/>
                <a:cs typeface="微软雅黑" panose="020B0503020204020204" charset="-122"/>
              </a:defRPr>
            </a:pPr>
            <a:r>
              <a:rPr sz="1875" b="1">
                <a:solidFill>
                  <a:srgbClr val="17181C"/>
                </a:solidFill>
                <a:latin typeface="微软雅黑" panose="020B0503020204020204" charset="-122"/>
                <a:ea typeface="微软雅黑" panose="020B0503020204020204" charset="-122"/>
                <a:cs typeface="微软雅黑" panose="020B0503020204020204" charset="-122"/>
              </a:rPr>
              <a:t>演示操作</a:t>
            </a:r>
            <a:endParaRPr sz="1875" b="1">
              <a:solidFill>
                <a:srgbClr val="17181C"/>
              </a:solidFill>
              <a:latin typeface="微软雅黑" panose="020B0503020204020204" charset="-122"/>
              <a:ea typeface="微软雅黑" panose="020B0503020204020204" charset="-122"/>
              <a:cs typeface="微软雅黑" panose="020B0503020204020204" charset="-122"/>
            </a:endParaRPr>
          </a:p>
          <a:p>
            <a:endParaRPr sz="1875"/>
          </a:p>
          <a:p>
            <a:pPr algn="ctr">
              <a:defRPr sz="1875" b="1">
                <a:solidFill>
                  <a:srgbClr val="17181C"/>
                </a:solidFill>
                <a:latin typeface="微软雅黑" panose="020B0503020204020204" charset="-122"/>
                <a:ea typeface="微软雅黑" panose="020B0503020204020204" charset="-122"/>
                <a:cs typeface="微软雅黑" panose="020B0503020204020204" charset="-122"/>
              </a:defRPr>
            </a:pPr>
            <a:r>
              <a:rPr sz="1875" b="1">
                <a:solidFill>
                  <a:srgbClr val="17181C"/>
                </a:solidFill>
                <a:latin typeface="微软雅黑" panose="020B0503020204020204" charset="-122"/>
                <a:ea typeface="微软雅黑" panose="020B0503020204020204" charset="-122"/>
                <a:cs typeface="微软雅黑" panose="020B0503020204020204" charset="-122"/>
              </a:rPr>
              <a:t>插入 key</a:t>
            </a:r>
            <a:endParaRPr sz="1875" b="1">
              <a:solidFill>
                <a:srgbClr val="17181C"/>
              </a:solidFill>
              <a:latin typeface="微软雅黑" panose="020B0503020204020204" charset="-122"/>
              <a:ea typeface="微软雅黑" panose="020B0503020204020204" charset="-122"/>
              <a:cs typeface="微软雅黑" panose="020B0503020204020204" charset="-122"/>
            </a:endParaRPr>
          </a:p>
          <a:p>
            <a:pPr algn="ctr">
              <a:defRPr sz="1875" b="1">
                <a:solidFill>
                  <a:srgbClr val="17181C"/>
                </a:solidFill>
                <a:latin typeface="微软雅黑" panose="020B0503020204020204" charset="-122"/>
                <a:ea typeface="微软雅黑" panose="020B0503020204020204" charset="-122"/>
                <a:cs typeface="微软雅黑" panose="020B0503020204020204" charset="-122"/>
              </a:defRPr>
            </a:pPr>
            <a:r>
              <a:rPr sz="1875" b="1">
                <a:solidFill>
                  <a:srgbClr val="17181C"/>
                </a:solidFill>
                <a:latin typeface="微软雅黑" panose="020B0503020204020204" charset="-122"/>
                <a:ea typeface="微软雅黑" panose="020B0503020204020204" charset="-122"/>
                <a:cs typeface="微软雅黑" panose="020B0503020204020204" charset="-122"/>
              </a:rPr>
              <a:t>删除 key</a:t>
            </a:r>
            <a:endParaRPr sz="1875" b="1">
              <a:solidFill>
                <a:srgbClr val="17181C"/>
              </a:solidFill>
              <a:latin typeface="微软雅黑" panose="020B0503020204020204" charset="-122"/>
              <a:ea typeface="微软雅黑" panose="020B0503020204020204" charset="-122"/>
              <a:cs typeface="微软雅黑" panose="020B0503020204020204" charset="-122"/>
            </a:endParaRPr>
          </a:p>
          <a:p>
            <a:pPr algn="ctr">
              <a:defRPr sz="1875" b="1">
                <a:solidFill>
                  <a:srgbClr val="17181C"/>
                </a:solidFill>
                <a:latin typeface="微软雅黑" panose="020B0503020204020204" charset="-122"/>
                <a:ea typeface="微软雅黑" panose="020B0503020204020204" charset="-122"/>
                <a:cs typeface="微软雅黑" panose="020B0503020204020204" charset="-122"/>
              </a:defRPr>
            </a:pPr>
            <a:r>
              <a:rPr sz="1875" b="1">
                <a:solidFill>
                  <a:srgbClr val="17181C"/>
                </a:solidFill>
                <a:latin typeface="微软雅黑" panose="020B0503020204020204" charset="-122"/>
                <a:ea typeface="微软雅黑" panose="020B0503020204020204" charset="-122"/>
                <a:cs typeface="微软雅黑" panose="020B0503020204020204" charset="-122"/>
              </a:rPr>
              <a:t>重置示例树</a:t>
            </a:r>
            <a:endParaRPr sz="1875" b="1">
              <a:solidFill>
                <a:srgbClr val="17181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5"/>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10 · 迭代器</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5"/>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begin 为什么一路向左、再向右：这个迭代器走的是后序，不是升序</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5"/>
          <p:cNvSpPr>
            <a:spLocks noGrp="1"/>
          </p:cNvSpPr>
          <p:nvPr/>
        </p:nvSpPr>
        <p:spPr>
          <a:xfrm>
            <a:off x="400050" y="1352550"/>
            <a:ext cx="11391900" cy="19050"/>
          </a:xfrm>
          <a:prstGeom prst="rect">
            <a:avLst/>
          </a:prstGeom>
          <a:solidFill>
            <a:srgbClr val="17181C"/>
          </a:solidFill>
          <a:ln w="0">
            <a:noFill/>
            <a:prstDash val="solid"/>
          </a:ln>
        </p:spPr>
      </p:sp>
      <p:sp>
        <p:nvSpPr>
          <p:cNvPr id="5" name="footer_35"/>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35</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5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后序遍历第一个节点在哪里？</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35_42"/>
          <p:cNvSpPr>
            <a:spLocks noGrp="1"/>
          </p:cNvSpPr>
          <p:nvPr/>
        </p:nvSpPr>
        <p:spPr>
          <a:xfrm>
            <a:off x="400050" y="2305050"/>
            <a:ext cx="66675" cy="3629025"/>
          </a:xfrm>
          <a:prstGeom prst="rect">
            <a:avLst/>
          </a:prstGeom>
          <a:solidFill>
            <a:srgbClr val="DE3840"/>
          </a:solidFill>
          <a:ln w="0">
            <a:noFill/>
            <a:prstDash val="solid"/>
          </a:ln>
        </p:spPr>
      </p:sp>
      <p:sp>
        <p:nvSpPr>
          <p:cNvPr id="8" name="reason_body_35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后序顺序是左子树、右子树、根。因此 begin 不能直接返回最小 key，也不能直接返回 root。</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它从 root 开始尽量走 left；某一层没有 left 但有 right，就继续走 right，直到落到叶子。这个叶子正是整棵树后序遍历最先访问的位置。</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这也解释了为什么项目测试只验证“每个值都被访问一次”，而没有要求 iterator 输出升序。它不是 std::set 那种中序迭代器。</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35_665"/>
          <p:cNvSpPr>
            <a:spLocks noGrp="1"/>
          </p:cNvSpPr>
          <p:nvPr/>
        </p:nvSpPr>
        <p:spPr>
          <a:xfrm>
            <a:off x="6334125" y="1857375"/>
            <a:ext cx="5000625" cy="2571750"/>
          </a:xfrm>
          <a:prstGeom prst="rect">
            <a:avLst/>
          </a:prstGeom>
          <a:solidFill>
            <a:srgbClr val="202126"/>
          </a:solidFill>
          <a:ln w="0">
            <a:noFill/>
            <a:prstDash val="solid"/>
          </a:ln>
        </p:spPr>
      </p:sp>
      <p:sp>
        <p:nvSpPr>
          <p:cNvPr id="10" name="code_hl_35_0"/>
          <p:cNvSpPr>
            <a:spLocks noGrp="1"/>
          </p:cNvSpPr>
          <p:nvPr/>
        </p:nvSpPr>
        <p:spPr>
          <a:xfrm>
            <a:off x="6410325" y="1962150"/>
            <a:ext cx="4848225" cy="238125"/>
          </a:xfrm>
          <a:prstGeom prst="rect">
            <a:avLst/>
          </a:prstGeom>
          <a:solidFill>
            <a:srgbClr val="56362F"/>
          </a:solidFill>
          <a:ln w="0">
            <a:noFill/>
            <a:prstDash val="solid"/>
          </a:ln>
        </p:spPr>
      </p:sp>
      <p:sp>
        <p:nvSpPr>
          <p:cNvPr id="11" name="code_line_35_0"/>
          <p:cNvSpPr>
            <a:spLocks noGrp="1"/>
          </p:cNvSpPr>
          <p:nvPr/>
        </p:nvSpPr>
        <p:spPr>
          <a:xfrm>
            <a:off x="6496050" y="1952625"/>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RBTreeNode* node = root;</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35_1"/>
          <p:cNvSpPr>
            <a:spLocks noGrp="1"/>
          </p:cNvSpPr>
          <p:nvPr/>
        </p:nvSpPr>
        <p:spPr>
          <a:xfrm>
            <a:off x="6496050" y="2190750"/>
            <a:ext cx="4714875" cy="238125"/>
          </a:xfrm>
          <a:prstGeom prst="rect">
            <a:avLst/>
          </a:prstGeom>
          <a:noFill/>
          <a:ln w="0">
            <a:noFill/>
            <a:prstDash val="solid"/>
          </a:ln>
        </p:spPr>
        <p:txBody>
          <a:bodyPr lIns="0" tIns="0" rIns="0" bIns="0" anchor="t"/>
          <a:lstStyle/>
          <a:p/>
        </p:txBody>
      </p:sp>
      <p:sp>
        <p:nvSpPr>
          <p:cNvPr id="13" name="code_hl_35_2"/>
          <p:cNvSpPr>
            <a:spLocks noGrp="1"/>
          </p:cNvSpPr>
          <p:nvPr/>
        </p:nvSpPr>
        <p:spPr>
          <a:xfrm>
            <a:off x="6410325" y="2438400"/>
            <a:ext cx="4848225" cy="238125"/>
          </a:xfrm>
          <a:prstGeom prst="rect">
            <a:avLst/>
          </a:prstGeom>
          <a:solidFill>
            <a:srgbClr val="56362F"/>
          </a:solidFill>
          <a:ln w="0">
            <a:noFill/>
            <a:prstDash val="solid"/>
          </a:ln>
        </p:spPr>
      </p:sp>
      <p:sp>
        <p:nvSpPr>
          <p:cNvPr id="14" name="code_line_35_2"/>
          <p:cNvSpPr>
            <a:spLocks noGrp="1"/>
          </p:cNvSpPr>
          <p:nvPr/>
        </p:nvSpPr>
        <p:spPr>
          <a:xfrm>
            <a:off x="6496050" y="2428875"/>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while (node-&gt;left != NULL)</a:t>
            </a:r>
            <a:endParaRPr sz="975" b="0">
              <a:solidFill>
                <a:srgbClr val="FFD1BF"/>
              </a:solidFill>
              <a:latin typeface="Consolas" panose="020B0609020204030204"/>
              <a:ea typeface="Consolas" panose="020B0609020204030204"/>
              <a:cs typeface="Consolas" panose="020B0609020204030204"/>
            </a:endParaRPr>
          </a:p>
        </p:txBody>
      </p:sp>
      <p:sp>
        <p:nvSpPr>
          <p:cNvPr id="15" name="code_line_35_3"/>
          <p:cNvSpPr>
            <a:spLocks noGrp="1"/>
          </p:cNvSpPr>
          <p:nvPr/>
        </p:nvSpPr>
        <p:spPr>
          <a:xfrm>
            <a:off x="6496050" y="2667000"/>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node = node-&gt;left;</a:t>
            </a:r>
            <a:endParaRPr sz="975" b="0">
              <a:solidFill>
                <a:srgbClr val="E7E7EA"/>
              </a:solidFill>
              <a:latin typeface="Consolas" panose="020B0609020204030204"/>
              <a:ea typeface="Consolas" panose="020B0609020204030204"/>
              <a:cs typeface="Consolas" panose="020B0609020204030204"/>
            </a:endParaRPr>
          </a:p>
        </p:txBody>
      </p:sp>
      <p:sp>
        <p:nvSpPr>
          <p:cNvPr id="16" name="code_line_35_4"/>
          <p:cNvSpPr>
            <a:spLocks noGrp="1"/>
          </p:cNvSpPr>
          <p:nvPr/>
        </p:nvSpPr>
        <p:spPr>
          <a:xfrm>
            <a:off x="6496050" y="2905125"/>
            <a:ext cx="4714875" cy="238125"/>
          </a:xfrm>
          <a:prstGeom prst="rect">
            <a:avLst/>
          </a:prstGeom>
          <a:noFill/>
          <a:ln w="0">
            <a:noFill/>
            <a:prstDash val="solid"/>
          </a:ln>
        </p:spPr>
        <p:txBody>
          <a:bodyPr lIns="0" tIns="0" rIns="0" bIns="0" anchor="t"/>
          <a:lstStyle/>
          <a:p/>
        </p:txBody>
      </p:sp>
      <p:sp>
        <p:nvSpPr>
          <p:cNvPr id="17" name="code_hl_35_5"/>
          <p:cNvSpPr>
            <a:spLocks noGrp="1"/>
          </p:cNvSpPr>
          <p:nvPr/>
        </p:nvSpPr>
        <p:spPr>
          <a:xfrm>
            <a:off x="6410325" y="3152775"/>
            <a:ext cx="4848225" cy="238125"/>
          </a:xfrm>
          <a:prstGeom prst="rect">
            <a:avLst/>
          </a:prstGeom>
          <a:solidFill>
            <a:srgbClr val="56362F"/>
          </a:solidFill>
          <a:ln w="0">
            <a:noFill/>
            <a:prstDash val="solid"/>
          </a:ln>
        </p:spPr>
      </p:sp>
      <p:sp>
        <p:nvSpPr>
          <p:cNvPr id="18" name="code_line_35_5"/>
          <p:cNvSpPr>
            <a:spLocks noGrp="1"/>
          </p:cNvSpPr>
          <p:nvPr/>
        </p:nvSpPr>
        <p:spPr>
          <a:xfrm>
            <a:off x="6496050" y="314325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while (node-&gt;right != NULL)</a:t>
            </a:r>
            <a:endParaRPr sz="975" b="0">
              <a:solidFill>
                <a:srgbClr val="FFD1BF"/>
              </a:solidFill>
              <a:latin typeface="Consolas" panose="020B0609020204030204"/>
              <a:ea typeface="Consolas" panose="020B0609020204030204"/>
              <a:cs typeface="Consolas" panose="020B0609020204030204"/>
            </a:endParaRPr>
          </a:p>
        </p:txBody>
      </p:sp>
      <p:sp>
        <p:nvSpPr>
          <p:cNvPr id="19" name="code_line_35_6"/>
          <p:cNvSpPr>
            <a:spLocks noGrp="1"/>
          </p:cNvSpPr>
          <p:nvPr/>
        </p:nvSpPr>
        <p:spPr>
          <a:xfrm>
            <a:off x="6496050" y="338137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node = node-&gt;right;</a:t>
            </a:r>
            <a:endParaRPr sz="975" b="0">
              <a:solidFill>
                <a:srgbClr val="E7E7EA"/>
              </a:solidFill>
              <a:latin typeface="Consolas" panose="020B0609020204030204"/>
              <a:ea typeface="Consolas" panose="020B0609020204030204"/>
              <a:cs typeface="Consolas" panose="020B0609020204030204"/>
            </a:endParaRPr>
          </a:p>
        </p:txBody>
      </p:sp>
      <p:sp>
        <p:nvSpPr>
          <p:cNvPr id="20" name="code_line_35_7"/>
          <p:cNvSpPr>
            <a:spLocks noGrp="1"/>
          </p:cNvSpPr>
          <p:nvPr/>
        </p:nvSpPr>
        <p:spPr>
          <a:xfrm>
            <a:off x="6496050" y="3619500"/>
            <a:ext cx="4714875" cy="238125"/>
          </a:xfrm>
          <a:prstGeom prst="rect">
            <a:avLst/>
          </a:prstGeom>
          <a:noFill/>
          <a:ln w="0">
            <a:noFill/>
            <a:prstDash val="solid"/>
          </a:ln>
        </p:spPr>
        <p:txBody>
          <a:bodyPr lIns="0" tIns="0" rIns="0" bIns="0" anchor="t"/>
          <a:lstStyle/>
          <a:p/>
        </p:txBody>
      </p:sp>
      <p:sp>
        <p:nvSpPr>
          <p:cNvPr id="21" name="code_hl_35_8"/>
          <p:cNvSpPr>
            <a:spLocks noGrp="1"/>
          </p:cNvSpPr>
          <p:nvPr/>
        </p:nvSpPr>
        <p:spPr>
          <a:xfrm>
            <a:off x="6410325" y="3867150"/>
            <a:ext cx="4848225" cy="238125"/>
          </a:xfrm>
          <a:prstGeom prst="rect">
            <a:avLst/>
          </a:prstGeom>
          <a:solidFill>
            <a:srgbClr val="56362F"/>
          </a:solidFill>
          <a:ln w="0">
            <a:noFill/>
            <a:prstDash val="solid"/>
          </a:ln>
        </p:spPr>
      </p:sp>
      <p:sp>
        <p:nvSpPr>
          <p:cNvPr id="22" name="code_line_35_8"/>
          <p:cNvSpPr>
            <a:spLocks noGrp="1"/>
          </p:cNvSpPr>
          <p:nvPr/>
        </p:nvSpPr>
        <p:spPr>
          <a:xfrm>
            <a:off x="6496050" y="3857625"/>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return iterator(node);</a:t>
            </a:r>
            <a:endParaRPr sz="975" b="0">
              <a:solidFill>
                <a:srgbClr val="FFD1BF"/>
              </a:solidFill>
              <a:latin typeface="Consolas" panose="020B0609020204030204"/>
              <a:ea typeface="Consolas" panose="020B0609020204030204"/>
              <a:cs typeface="Consolas" panose="020B0609020204030204"/>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6"/>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10 · 迭代器</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6"/>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operator++：什么时候去右兄弟，什么时候回到父亲</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6"/>
          <p:cNvSpPr>
            <a:spLocks noGrp="1"/>
          </p:cNvSpPr>
          <p:nvPr/>
        </p:nvSpPr>
        <p:spPr>
          <a:xfrm>
            <a:off x="400050" y="1352550"/>
            <a:ext cx="11391900" cy="19050"/>
          </a:xfrm>
          <a:prstGeom prst="rect">
            <a:avLst/>
          </a:prstGeom>
          <a:solidFill>
            <a:srgbClr val="17181C"/>
          </a:solidFill>
          <a:ln w="0">
            <a:noFill/>
            <a:prstDash val="solid"/>
          </a:ln>
        </p:spPr>
      </p:sp>
      <p:sp>
        <p:nvSpPr>
          <p:cNvPr id="5" name="footer_36"/>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36</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6_42"/>
          <p:cNvSpPr>
            <a:spLocks noGrp="1"/>
          </p:cNvSpPr>
          <p:nvPr/>
        </p:nvSpPr>
        <p:spPr>
          <a:xfrm>
            <a:off x="400050" y="1695450"/>
            <a:ext cx="571500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当前子树走完以后，下一个节点是谁？</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36_42"/>
          <p:cNvSpPr>
            <a:spLocks noGrp="1"/>
          </p:cNvSpPr>
          <p:nvPr/>
        </p:nvSpPr>
        <p:spPr>
          <a:xfrm>
            <a:off x="400050" y="2305050"/>
            <a:ext cx="66675" cy="3629025"/>
          </a:xfrm>
          <a:prstGeom prst="rect">
            <a:avLst/>
          </a:prstGeom>
          <a:solidFill>
            <a:srgbClr val="DE3840"/>
          </a:solidFill>
          <a:ln w="0">
            <a:noFill/>
            <a:prstDash val="solid"/>
          </a:ln>
        </p:spPr>
      </p:sp>
      <p:sp>
        <p:nvSpPr>
          <p:cNvPr id="8" name="reason_body_36_42"/>
          <p:cNvSpPr>
            <a:spLocks noGrp="1"/>
          </p:cNvSpPr>
          <p:nvPr/>
        </p:nvSpPr>
        <p:spPr>
          <a:xfrm>
            <a:off x="628650" y="2419350"/>
            <a:ext cx="542925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如果当前 node 是父亲的左孩子，而且父亲还有右孩子，说明左子树刚走完，后序遍历下一步应该进入右子树。</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进入右子树后，仍然要一路寻找该子树最先访问的叶子：优先 left，没有 left 才走 right。</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如果当前 node 不是这种情况，就说明右子树也已经完成，或者自己本来就是右孩子。此时下一个访问对象就是 parent。</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走到没有 parent 的 root 后，下一位置就是 end，也就是 node = NULL。</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code_bg_36_665"/>
          <p:cNvSpPr>
            <a:spLocks noGrp="1"/>
          </p:cNvSpPr>
          <p:nvPr/>
        </p:nvSpPr>
        <p:spPr>
          <a:xfrm>
            <a:off x="6334125" y="1666875"/>
            <a:ext cx="5000625" cy="3905250"/>
          </a:xfrm>
          <a:prstGeom prst="rect">
            <a:avLst/>
          </a:prstGeom>
          <a:solidFill>
            <a:srgbClr val="202126"/>
          </a:solidFill>
          <a:ln w="0">
            <a:noFill/>
            <a:prstDash val="solid"/>
          </a:ln>
        </p:spPr>
      </p:sp>
      <p:sp>
        <p:nvSpPr>
          <p:cNvPr id="10" name="code_hl_36_0"/>
          <p:cNvSpPr>
            <a:spLocks noGrp="1"/>
          </p:cNvSpPr>
          <p:nvPr/>
        </p:nvSpPr>
        <p:spPr>
          <a:xfrm>
            <a:off x="6410325" y="1771650"/>
            <a:ext cx="4848225" cy="238125"/>
          </a:xfrm>
          <a:prstGeom prst="rect">
            <a:avLst/>
          </a:prstGeom>
          <a:solidFill>
            <a:srgbClr val="56362F"/>
          </a:solidFill>
          <a:ln w="0">
            <a:noFill/>
            <a:prstDash val="solid"/>
          </a:ln>
        </p:spPr>
      </p:sp>
      <p:sp>
        <p:nvSpPr>
          <p:cNvPr id="11" name="code_line_36_0"/>
          <p:cNvSpPr>
            <a:spLocks noGrp="1"/>
          </p:cNvSpPr>
          <p:nvPr/>
        </p:nvSpPr>
        <p:spPr>
          <a:xfrm>
            <a:off x="6496050" y="1762125"/>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(node-&gt;parent == NULL)</a:t>
            </a:r>
            <a:endParaRPr sz="975" b="0">
              <a:solidFill>
                <a:srgbClr val="FFD1BF"/>
              </a:solidFill>
              <a:latin typeface="Consolas" panose="020B0609020204030204"/>
              <a:ea typeface="Consolas" panose="020B0609020204030204"/>
              <a:cs typeface="Consolas" panose="020B0609020204030204"/>
            </a:endParaRPr>
          </a:p>
        </p:txBody>
      </p:sp>
      <p:sp>
        <p:nvSpPr>
          <p:cNvPr id="12" name="code_line_36_1"/>
          <p:cNvSpPr>
            <a:spLocks noGrp="1"/>
          </p:cNvSpPr>
          <p:nvPr/>
        </p:nvSpPr>
        <p:spPr>
          <a:xfrm>
            <a:off x="6496050" y="2000250"/>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this-&gt;node = NULL;</a:t>
            </a:r>
            <a:endParaRPr sz="975" b="0">
              <a:solidFill>
                <a:srgbClr val="E7E7EA"/>
              </a:solidFill>
              <a:latin typeface="Consolas" panose="020B0609020204030204"/>
              <a:ea typeface="Consolas" panose="020B0609020204030204"/>
              <a:cs typeface="Consolas" panose="020B0609020204030204"/>
            </a:endParaRPr>
          </a:p>
        </p:txBody>
      </p:sp>
      <p:sp>
        <p:nvSpPr>
          <p:cNvPr id="13" name="code_line_36_2"/>
          <p:cNvSpPr>
            <a:spLocks noGrp="1"/>
          </p:cNvSpPr>
          <p:nvPr/>
        </p:nvSpPr>
        <p:spPr>
          <a:xfrm>
            <a:off x="6496050" y="2238375"/>
            <a:ext cx="4714875" cy="238125"/>
          </a:xfrm>
          <a:prstGeom prst="rect">
            <a:avLst/>
          </a:prstGeom>
          <a:noFill/>
          <a:ln w="0">
            <a:noFill/>
            <a:prstDash val="solid"/>
          </a:ln>
        </p:spPr>
        <p:txBody>
          <a:bodyPr lIns="0" tIns="0" rIns="0" bIns="0" anchor="t"/>
          <a:lstStyle/>
          <a:p/>
        </p:txBody>
      </p:sp>
      <p:sp>
        <p:nvSpPr>
          <p:cNvPr id="14" name="code_hl_36_3"/>
          <p:cNvSpPr>
            <a:spLocks noGrp="1"/>
          </p:cNvSpPr>
          <p:nvPr/>
        </p:nvSpPr>
        <p:spPr>
          <a:xfrm>
            <a:off x="6410325" y="2486025"/>
            <a:ext cx="4848225" cy="238125"/>
          </a:xfrm>
          <a:prstGeom prst="rect">
            <a:avLst/>
          </a:prstGeom>
          <a:solidFill>
            <a:srgbClr val="56362F"/>
          </a:solidFill>
          <a:ln w="0">
            <a:noFill/>
            <a:prstDash val="solid"/>
          </a:ln>
        </p:spPr>
      </p:sp>
      <p:sp>
        <p:nvSpPr>
          <p:cNvPr id="15" name="code_line_36_3"/>
          <p:cNvSpPr>
            <a:spLocks noGrp="1"/>
          </p:cNvSpPr>
          <p:nvPr/>
        </p:nvSpPr>
        <p:spPr>
          <a:xfrm>
            <a:off x="6496050" y="247650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if (node == node-&gt;parent-&gt;left &amp;&amp;</a:t>
            </a:r>
            <a:endParaRPr sz="975" b="0">
              <a:solidFill>
                <a:srgbClr val="FFD1BF"/>
              </a:solidFill>
              <a:latin typeface="Consolas" panose="020B0609020204030204"/>
              <a:ea typeface="Consolas" panose="020B0609020204030204"/>
              <a:cs typeface="Consolas" panose="020B0609020204030204"/>
            </a:endParaRPr>
          </a:p>
        </p:txBody>
      </p:sp>
      <p:sp>
        <p:nvSpPr>
          <p:cNvPr id="16" name="code_line_36_4"/>
          <p:cNvSpPr>
            <a:spLocks noGrp="1"/>
          </p:cNvSpPr>
          <p:nvPr/>
        </p:nvSpPr>
        <p:spPr>
          <a:xfrm>
            <a:off x="6496050" y="271462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node-&gt;parent-&gt;right != NULL)</a:t>
            </a:r>
            <a:endParaRPr sz="975" b="0">
              <a:solidFill>
                <a:srgbClr val="E7E7EA"/>
              </a:solidFill>
              <a:latin typeface="Consolas" panose="020B0609020204030204"/>
              <a:ea typeface="Consolas" panose="020B0609020204030204"/>
              <a:cs typeface="Consolas" panose="020B0609020204030204"/>
            </a:endParaRPr>
          </a:p>
        </p:txBody>
      </p:sp>
      <p:sp>
        <p:nvSpPr>
          <p:cNvPr id="17" name="code_hl_36_5"/>
          <p:cNvSpPr>
            <a:spLocks noGrp="1"/>
          </p:cNvSpPr>
          <p:nvPr/>
        </p:nvSpPr>
        <p:spPr>
          <a:xfrm>
            <a:off x="6410325" y="2962275"/>
            <a:ext cx="4848225" cy="238125"/>
          </a:xfrm>
          <a:prstGeom prst="rect">
            <a:avLst/>
          </a:prstGeom>
          <a:solidFill>
            <a:srgbClr val="56362F"/>
          </a:solidFill>
          <a:ln w="0">
            <a:noFill/>
            <a:prstDash val="solid"/>
          </a:ln>
        </p:spPr>
      </p:sp>
      <p:sp>
        <p:nvSpPr>
          <p:cNvPr id="18" name="code_line_36_5"/>
          <p:cNvSpPr>
            <a:spLocks noGrp="1"/>
          </p:cNvSpPr>
          <p:nvPr/>
        </p:nvSpPr>
        <p:spPr>
          <a:xfrm>
            <a:off x="6496050" y="295275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node = node-&gt;parent-&gt;right;</a:t>
            </a:r>
            <a:endParaRPr sz="975" b="0">
              <a:solidFill>
                <a:srgbClr val="FFD1BF"/>
              </a:solidFill>
              <a:latin typeface="Consolas" panose="020B0609020204030204"/>
              <a:ea typeface="Consolas" panose="020B0609020204030204"/>
              <a:cs typeface="Consolas" panose="020B0609020204030204"/>
            </a:endParaRPr>
          </a:p>
        </p:txBody>
      </p:sp>
      <p:sp>
        <p:nvSpPr>
          <p:cNvPr id="19" name="code_line_36_6"/>
          <p:cNvSpPr>
            <a:spLocks noGrp="1"/>
          </p:cNvSpPr>
          <p:nvPr/>
        </p:nvSpPr>
        <p:spPr>
          <a:xfrm>
            <a:off x="6496050" y="319087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else</a:t>
            </a:r>
            <a:endParaRPr sz="975" b="0">
              <a:solidFill>
                <a:srgbClr val="E7E7EA"/>
              </a:solidFill>
              <a:latin typeface="Consolas" panose="020B0609020204030204"/>
              <a:ea typeface="Consolas" panose="020B0609020204030204"/>
              <a:cs typeface="Consolas" panose="020B0609020204030204"/>
            </a:endParaRPr>
          </a:p>
        </p:txBody>
      </p:sp>
      <p:sp>
        <p:nvSpPr>
          <p:cNvPr id="20" name="code_hl_36_7"/>
          <p:cNvSpPr>
            <a:spLocks noGrp="1"/>
          </p:cNvSpPr>
          <p:nvPr/>
        </p:nvSpPr>
        <p:spPr>
          <a:xfrm>
            <a:off x="6410325" y="3438525"/>
            <a:ext cx="4848225" cy="238125"/>
          </a:xfrm>
          <a:prstGeom prst="rect">
            <a:avLst/>
          </a:prstGeom>
          <a:solidFill>
            <a:srgbClr val="56362F"/>
          </a:solidFill>
          <a:ln w="0">
            <a:noFill/>
            <a:prstDash val="solid"/>
          </a:ln>
        </p:spPr>
      </p:sp>
      <p:sp>
        <p:nvSpPr>
          <p:cNvPr id="21" name="code_line_36_7"/>
          <p:cNvSpPr>
            <a:spLocks noGrp="1"/>
          </p:cNvSpPr>
          <p:nvPr/>
        </p:nvSpPr>
        <p:spPr>
          <a:xfrm>
            <a:off x="6496050" y="342900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    this-&gt;node = node-&gt;parent;</a:t>
            </a:r>
            <a:endParaRPr sz="975" b="0">
              <a:solidFill>
                <a:srgbClr val="FFD1BF"/>
              </a:solidFill>
              <a:latin typeface="Consolas" panose="020B0609020204030204"/>
              <a:ea typeface="Consolas" panose="020B0609020204030204"/>
              <a:cs typeface="Consolas" panose="020B0609020204030204"/>
            </a:endParaRPr>
          </a:p>
        </p:txBody>
      </p:sp>
      <p:sp>
        <p:nvSpPr>
          <p:cNvPr id="22" name="code_line_36_8"/>
          <p:cNvSpPr>
            <a:spLocks noGrp="1"/>
          </p:cNvSpPr>
          <p:nvPr/>
        </p:nvSpPr>
        <p:spPr>
          <a:xfrm>
            <a:off x="6496050" y="3667125"/>
            <a:ext cx="4714875" cy="238125"/>
          </a:xfrm>
          <a:prstGeom prst="rect">
            <a:avLst/>
          </a:prstGeom>
          <a:noFill/>
          <a:ln w="0">
            <a:noFill/>
            <a:prstDash val="solid"/>
          </a:ln>
        </p:spPr>
        <p:txBody>
          <a:bodyPr lIns="0" tIns="0" rIns="0" bIns="0" anchor="t"/>
          <a:lstStyle/>
          <a:p/>
        </p:txBody>
      </p:sp>
      <p:sp>
        <p:nvSpPr>
          <p:cNvPr id="23" name="code_hl_36_9"/>
          <p:cNvSpPr>
            <a:spLocks noGrp="1"/>
          </p:cNvSpPr>
          <p:nvPr/>
        </p:nvSpPr>
        <p:spPr>
          <a:xfrm>
            <a:off x="6410325" y="3914775"/>
            <a:ext cx="4848225" cy="238125"/>
          </a:xfrm>
          <a:prstGeom prst="rect">
            <a:avLst/>
          </a:prstGeom>
          <a:solidFill>
            <a:srgbClr val="56362F"/>
          </a:solidFill>
          <a:ln w="0">
            <a:noFill/>
            <a:prstDash val="solid"/>
          </a:ln>
        </p:spPr>
      </p:sp>
      <p:sp>
        <p:nvSpPr>
          <p:cNvPr id="24" name="code_line_36_9"/>
          <p:cNvSpPr>
            <a:spLocks noGrp="1"/>
          </p:cNvSpPr>
          <p:nvPr/>
        </p:nvSpPr>
        <p:spPr>
          <a:xfrm>
            <a:off x="6496050" y="3905250"/>
            <a:ext cx="4714875" cy="238125"/>
          </a:xfrm>
          <a:prstGeom prst="rect">
            <a:avLst/>
          </a:prstGeom>
          <a:noFill/>
          <a:ln w="0">
            <a:noFill/>
            <a:prstDash val="solid"/>
          </a:ln>
        </p:spPr>
        <p:txBody>
          <a:bodyPr lIns="0" tIns="0" rIns="0" bIns="0" anchor="t"/>
          <a:lstStyle/>
          <a:p>
            <a:pPr algn="l">
              <a:defRPr sz="975" b="0">
                <a:solidFill>
                  <a:srgbClr val="FFD1BF"/>
                </a:solidFill>
                <a:latin typeface="Consolas" panose="020B0609020204030204"/>
                <a:ea typeface="Consolas" panose="020B0609020204030204"/>
                <a:cs typeface="Consolas" panose="020B0609020204030204"/>
              </a:defRPr>
            </a:pPr>
            <a:r>
              <a:rPr sz="975" b="0">
                <a:solidFill>
                  <a:srgbClr val="FFD1BF"/>
                </a:solidFill>
                <a:latin typeface="Consolas" panose="020B0609020204030204"/>
                <a:ea typeface="Consolas" panose="020B0609020204030204"/>
                <a:cs typeface="Consolas" panose="020B0609020204030204"/>
              </a:rPr>
              <a:t>while (true)</a:t>
            </a:r>
            <a:endParaRPr sz="975" b="0">
              <a:solidFill>
                <a:srgbClr val="FFD1BF"/>
              </a:solidFill>
              <a:latin typeface="Consolas" panose="020B0609020204030204"/>
              <a:ea typeface="Consolas" panose="020B0609020204030204"/>
              <a:cs typeface="Consolas" panose="020B0609020204030204"/>
            </a:endParaRPr>
          </a:p>
        </p:txBody>
      </p:sp>
      <p:sp>
        <p:nvSpPr>
          <p:cNvPr id="25" name="code_line_36_10"/>
          <p:cNvSpPr>
            <a:spLocks noGrp="1"/>
          </p:cNvSpPr>
          <p:nvPr/>
        </p:nvSpPr>
        <p:spPr>
          <a:xfrm>
            <a:off x="6496050" y="414337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if (node-&gt;left) node = node-&gt;left;</a:t>
            </a:r>
            <a:endParaRPr sz="975" b="0">
              <a:solidFill>
                <a:srgbClr val="E7E7EA"/>
              </a:solidFill>
              <a:latin typeface="Consolas" panose="020B0609020204030204"/>
              <a:ea typeface="Consolas" panose="020B0609020204030204"/>
              <a:cs typeface="Consolas" panose="020B0609020204030204"/>
            </a:endParaRPr>
          </a:p>
        </p:txBody>
      </p:sp>
      <p:sp>
        <p:nvSpPr>
          <p:cNvPr id="26" name="code_line_36_11"/>
          <p:cNvSpPr>
            <a:spLocks noGrp="1"/>
          </p:cNvSpPr>
          <p:nvPr/>
        </p:nvSpPr>
        <p:spPr>
          <a:xfrm>
            <a:off x="6496050" y="4381500"/>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else if (node-&gt;right) node = node-&gt;right;</a:t>
            </a:r>
            <a:endParaRPr sz="975" b="0">
              <a:solidFill>
                <a:srgbClr val="E7E7EA"/>
              </a:solidFill>
              <a:latin typeface="Consolas" panose="020B0609020204030204"/>
              <a:ea typeface="Consolas" panose="020B0609020204030204"/>
              <a:cs typeface="Consolas" panose="020B0609020204030204"/>
            </a:endParaRPr>
          </a:p>
        </p:txBody>
      </p:sp>
      <p:sp>
        <p:nvSpPr>
          <p:cNvPr id="27" name="code_line_36_12"/>
          <p:cNvSpPr>
            <a:spLocks noGrp="1"/>
          </p:cNvSpPr>
          <p:nvPr/>
        </p:nvSpPr>
        <p:spPr>
          <a:xfrm>
            <a:off x="6496050" y="4619625"/>
            <a:ext cx="4714875" cy="238125"/>
          </a:xfrm>
          <a:prstGeom prst="rect">
            <a:avLst/>
          </a:prstGeom>
          <a:noFill/>
          <a:ln w="0">
            <a:noFill/>
            <a:prstDash val="solid"/>
          </a:ln>
        </p:spPr>
        <p:txBody>
          <a:bodyPr lIns="0" tIns="0" rIns="0" bIns="0" anchor="t"/>
          <a:lstStyle/>
          <a:p>
            <a:pPr algn="l">
              <a:defRPr sz="975" b="0">
                <a:solidFill>
                  <a:srgbClr val="E7E7EA"/>
                </a:solidFill>
                <a:latin typeface="Consolas" panose="020B0609020204030204"/>
                <a:ea typeface="Consolas" panose="020B0609020204030204"/>
                <a:cs typeface="Consolas" panose="020B0609020204030204"/>
              </a:defRPr>
            </a:pPr>
            <a:r>
              <a:rPr sz="975" b="0">
                <a:solidFill>
                  <a:srgbClr val="E7E7EA"/>
                </a:solidFill>
                <a:latin typeface="Consolas" panose="020B0609020204030204"/>
                <a:ea typeface="Consolas" panose="020B0609020204030204"/>
                <a:cs typeface="Consolas" panose="020B0609020204030204"/>
              </a:rPr>
              <a:t>    else return this-&gt;node = node;</a:t>
            </a:r>
            <a:endParaRPr sz="975" b="0">
              <a:solidFill>
                <a:srgbClr val="E7E7EA"/>
              </a:solidFill>
              <a:latin typeface="Consolas" panose="020B0609020204030204"/>
              <a:ea typeface="Consolas" panose="020B0609020204030204"/>
              <a:cs typeface="Consolas" panose="020B0609020204030204"/>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section_37"/>
          <p:cNvSpPr>
            <a:spLocks noGrp="1"/>
          </p:cNvSpPr>
          <p:nvPr/>
        </p:nvSpPr>
        <p:spPr>
          <a:xfrm>
            <a:off x="400050" y="257175"/>
            <a:ext cx="30480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11 · 测试</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heading_37"/>
          <p:cNvSpPr>
            <a:spLocks noGrp="1"/>
          </p:cNvSpPr>
          <p:nvPr/>
        </p:nvSpPr>
        <p:spPr>
          <a:xfrm>
            <a:off x="400050" y="590550"/>
            <a:ext cx="11287125" cy="552450"/>
          </a:xfrm>
          <a:prstGeom prst="rect">
            <a:avLst/>
          </a:prstGeom>
          <a:noFill/>
          <a:ln w="0">
            <a:noFill/>
            <a:prstDash val="solid"/>
          </a:ln>
        </p:spPr>
        <p:txBody>
          <a:bodyPr lIns="0" tIns="0" rIns="0" bIns="0" anchor="t"/>
          <a:lstStyle/>
          <a:p>
            <a:pPr algn="l">
              <a:defRPr sz="2700" b="1">
                <a:solidFill>
                  <a:srgbClr val="17181C"/>
                </a:solidFill>
                <a:latin typeface="微软雅黑" panose="020B0503020204020204" charset="-122"/>
                <a:ea typeface="微软雅黑" panose="020B0503020204020204" charset="-122"/>
                <a:cs typeface="微软雅黑" panose="020B0503020204020204" charset="-122"/>
              </a:defRPr>
            </a:pPr>
            <a:r>
              <a:rPr sz="2700" b="1">
                <a:solidFill>
                  <a:srgbClr val="17181C"/>
                </a:solidFill>
                <a:latin typeface="微软雅黑" panose="020B0503020204020204" charset="-122"/>
                <a:ea typeface="微软雅黑" panose="020B0503020204020204" charset="-122"/>
                <a:cs typeface="微软雅黑" panose="020B0503020204020204" charset="-122"/>
              </a:rPr>
              <a:t>39 项测试为什么不是只看最后一句 Tests passed: 100%</a:t>
            </a:r>
            <a:endParaRPr sz="27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rule_37"/>
          <p:cNvSpPr>
            <a:spLocks noGrp="1"/>
          </p:cNvSpPr>
          <p:nvPr/>
        </p:nvSpPr>
        <p:spPr>
          <a:xfrm>
            <a:off x="400050" y="1352550"/>
            <a:ext cx="11391900" cy="19050"/>
          </a:xfrm>
          <a:prstGeom prst="rect">
            <a:avLst/>
          </a:prstGeom>
          <a:solidFill>
            <a:srgbClr val="17181C"/>
          </a:solidFill>
          <a:ln w="0">
            <a:noFill/>
            <a:prstDash val="solid"/>
          </a:ln>
        </p:spPr>
      </p:sp>
      <p:sp>
        <p:nvSpPr>
          <p:cNvPr id="5" name="footer_37"/>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37</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6" name="question_37_42"/>
          <p:cNvSpPr>
            <a:spLocks noGrp="1"/>
          </p:cNvSpPr>
          <p:nvPr/>
        </p:nvSpPr>
        <p:spPr>
          <a:xfrm>
            <a:off x="400050" y="1695450"/>
            <a:ext cx="5381625"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固定小树负责命中明确分支</a:t>
            </a:r>
            <a:endParaRPr sz="1800" b="1">
              <a:solidFill>
                <a:srgbClr val="DE3840"/>
              </a:solidFill>
              <a:latin typeface="微软雅黑" panose="020B0503020204020204" charset="-122"/>
              <a:ea typeface="微软雅黑" panose="020B0503020204020204" charset="-122"/>
              <a:cs typeface="微软雅黑" panose="020B0503020204020204" charset="-122"/>
            </a:endParaRPr>
          </a:p>
        </p:txBody>
      </p:sp>
      <p:sp>
        <p:nvSpPr>
          <p:cNvPr id="7" name="reason_bar_37_42"/>
          <p:cNvSpPr>
            <a:spLocks noGrp="1"/>
          </p:cNvSpPr>
          <p:nvPr/>
        </p:nvSpPr>
        <p:spPr>
          <a:xfrm>
            <a:off x="400050" y="2305050"/>
            <a:ext cx="66675" cy="3629025"/>
          </a:xfrm>
          <a:prstGeom prst="rect">
            <a:avLst/>
          </a:prstGeom>
          <a:solidFill>
            <a:srgbClr val="DE3840"/>
          </a:solidFill>
          <a:ln w="0">
            <a:noFill/>
            <a:prstDash val="solid"/>
          </a:ln>
        </p:spPr>
      </p:sp>
      <p:sp>
        <p:nvSpPr>
          <p:cNvPr id="8" name="reason_body_37_42"/>
          <p:cNvSpPr>
            <a:spLocks noGrp="1"/>
          </p:cNvSpPr>
          <p:nvPr/>
        </p:nvSpPr>
        <p:spPr>
          <a:xfrm>
            <a:off x="628650" y="2419350"/>
            <a:ext cx="5095875"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插入案例主动制造叔叔红、折线、直线；删除案例主动制造红兄弟、双侄黑、近侄红、远侄红，并同时准备左右镜像。</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这些测试不仅调用 invariant，还比较 toString 的精确树形。哪怕 key 都能找到，只要颜色或父子位置不同，字符串就会暴露差异。</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9" name="question_37_665"/>
          <p:cNvSpPr>
            <a:spLocks noGrp="1"/>
          </p:cNvSpPr>
          <p:nvPr/>
        </p:nvSpPr>
        <p:spPr>
          <a:xfrm>
            <a:off x="6334125" y="1695450"/>
            <a:ext cx="5238750" cy="533400"/>
          </a:xfrm>
          <a:prstGeom prst="rect">
            <a:avLst/>
          </a:prstGeom>
          <a:noFill/>
          <a:ln w="0">
            <a:noFill/>
            <a:prstDash val="solid"/>
          </a:ln>
        </p:spPr>
        <p:txBody>
          <a:bodyPr lIns="0" tIns="0" rIns="0" bIns="0" anchor="t"/>
          <a:lstStyle/>
          <a:p>
            <a:pPr algn="l">
              <a:defRPr sz="1800" b="1">
                <a:solidFill>
                  <a:srgbClr val="486A9A"/>
                </a:solidFill>
                <a:latin typeface="微软雅黑" panose="020B0503020204020204" charset="-122"/>
                <a:ea typeface="微软雅黑" panose="020B0503020204020204" charset="-122"/>
                <a:cs typeface="微软雅黑" panose="020B0503020204020204" charset="-122"/>
              </a:defRPr>
            </a:pPr>
            <a:r>
              <a:rPr sz="1800" b="1">
                <a:solidFill>
                  <a:srgbClr val="486A9A"/>
                </a:solidFill>
                <a:latin typeface="微软雅黑" panose="020B0503020204020204" charset="-122"/>
                <a:ea typeface="微软雅黑" panose="020B0503020204020204" charset="-122"/>
                <a:cs typeface="微软雅黑" panose="020B0503020204020204" charset="-122"/>
              </a:rPr>
              <a:t>随机压力负责组合连续修复</a:t>
            </a:r>
            <a:endParaRPr sz="1800" b="1">
              <a:solidFill>
                <a:srgbClr val="486A9A"/>
              </a:solidFill>
              <a:latin typeface="微软雅黑" panose="020B0503020204020204" charset="-122"/>
              <a:ea typeface="微软雅黑" panose="020B0503020204020204" charset="-122"/>
              <a:cs typeface="微软雅黑" panose="020B0503020204020204" charset="-122"/>
            </a:endParaRPr>
          </a:p>
        </p:txBody>
      </p:sp>
      <p:sp>
        <p:nvSpPr>
          <p:cNvPr id="10" name="reason_bar_37_665"/>
          <p:cNvSpPr>
            <a:spLocks noGrp="1"/>
          </p:cNvSpPr>
          <p:nvPr/>
        </p:nvSpPr>
        <p:spPr>
          <a:xfrm>
            <a:off x="6334125" y="2305050"/>
            <a:ext cx="66675" cy="3629025"/>
          </a:xfrm>
          <a:prstGeom prst="rect">
            <a:avLst/>
          </a:prstGeom>
          <a:solidFill>
            <a:srgbClr val="486A9A"/>
          </a:solidFill>
          <a:ln w="0">
            <a:noFill/>
            <a:prstDash val="solid"/>
          </a:ln>
        </p:spPr>
      </p:sp>
      <p:sp>
        <p:nvSpPr>
          <p:cNvPr id="11" name="reason_body_37_665"/>
          <p:cNvSpPr>
            <a:spLocks noGrp="1"/>
          </p:cNvSpPr>
          <p:nvPr/>
        </p:nvSpPr>
        <p:spPr>
          <a:xfrm>
            <a:off x="6562725" y="2419350"/>
            <a:ext cx="4953000" cy="3476625"/>
          </a:xfrm>
          <a:prstGeom prst="rect">
            <a:avLst/>
          </a:prstGeom>
          <a:noFill/>
          <a:ln w="0">
            <a:noFill/>
            <a:prstDash val="solid"/>
          </a:ln>
        </p:spPr>
        <p:txBody>
          <a:bodyPr lIns="0" tIns="0" rIns="0" bIns="0" anchor="t"/>
          <a:lstStyle/>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固定案例只能覆盖设计者想到的局部。随机插入包含 100 万个元素，用来证明有序性和高度控制没有在大规模下崩坏。</a:t>
            </a:r>
            <a:endParaRPr sz="1350" b="0">
              <a:solidFill>
                <a:srgbClr val="5D626C"/>
              </a:solidFill>
              <a:latin typeface="微软雅黑" panose="020B0503020204020204" charset="-122"/>
              <a:ea typeface="微软雅黑" panose="020B0503020204020204" charset="-122"/>
              <a:cs typeface="微软雅黑" panose="020B0503020204020204" charset="-122"/>
            </a:endParaRPr>
          </a:p>
          <a:p>
            <a:endParaRPr sz="1350"/>
          </a:p>
          <a:p>
            <a:pPr algn="l">
              <a:defRPr sz="1350" b="0">
                <a:solidFill>
                  <a:srgbClr val="5D626C"/>
                </a:solidFill>
                <a:latin typeface="微软雅黑" panose="020B0503020204020204" charset="-122"/>
                <a:ea typeface="微软雅黑" panose="020B0503020204020204" charset="-122"/>
                <a:cs typeface="微软雅黑" panose="020B0503020204020204" charset="-122"/>
              </a:defRPr>
            </a:pPr>
            <a:r>
              <a:rPr sz="1350" b="0">
                <a:solidFill>
                  <a:srgbClr val="5D626C"/>
                </a:solidFill>
                <a:latin typeface="微软雅黑" panose="020B0503020204020204" charset="-122"/>
                <a:ea typeface="微软雅黑" panose="020B0503020204020204" charset="-122"/>
                <a:cs typeface="微软雅黑" panose="020B0503020204020204" charset="-122"/>
              </a:rPr>
              <a:t>随机删除则每删一个值就检查 invariant，并确认该值确实不存在。这样可以定位第一次破坏性质的操作，而不是只看全部删完后的空树。</a:t>
            </a:r>
            <a:endParaRPr sz="1350" b="0">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12" name="takeaway_37"/>
          <p:cNvSpPr>
            <a:spLocks noGrp="1"/>
          </p:cNvSpPr>
          <p:nvPr/>
        </p:nvSpPr>
        <p:spPr>
          <a:xfrm>
            <a:off x="1047750" y="5953125"/>
            <a:ext cx="10096500" cy="400050"/>
          </a:xfrm>
          <a:prstGeom prst="rect">
            <a:avLst/>
          </a:prstGeom>
          <a:noFill/>
          <a:ln w="0">
            <a:noFill/>
            <a:prstDash val="solid"/>
          </a:ln>
        </p:spPr>
        <p:txBody>
          <a:bodyPr lIns="0" tIns="0" rIns="0" bIns="0" anchor="t"/>
          <a:lstStyle/>
          <a:p>
            <a:pPr algn="ctr">
              <a:defRPr sz="1575" b="1">
                <a:solidFill>
                  <a:srgbClr val="DE3840"/>
                </a:solidFill>
                <a:latin typeface="微软雅黑" panose="020B0503020204020204" charset="-122"/>
                <a:ea typeface="微软雅黑" panose="020B0503020204020204" charset="-122"/>
                <a:cs typeface="微软雅黑" panose="020B0503020204020204" charset="-122"/>
              </a:defRPr>
            </a:pPr>
            <a:r>
              <a:rPr sz="1575" b="1">
                <a:solidFill>
                  <a:srgbClr val="DE3840"/>
                </a:solidFill>
                <a:latin typeface="微软雅黑" panose="020B0503020204020204" charset="-122"/>
                <a:ea typeface="微软雅黑" panose="020B0503020204020204" charset="-122"/>
                <a:cs typeface="微软雅黑" panose="020B0503020204020204" charset="-122"/>
              </a:rPr>
              <a:t>本次环境实测：39 / 39 通过；完整测试一次运行约 717.71 ms。</a:t>
            </a:r>
            <a:endParaRPr sz="1575" b="1">
              <a:solidFill>
                <a:srgbClr val="DE3840"/>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end_section"/>
          <p:cNvSpPr>
            <a:spLocks noGrp="1"/>
          </p:cNvSpPr>
          <p:nvPr/>
        </p:nvSpPr>
        <p:spPr>
          <a:xfrm>
            <a:off x="400050" y="381000"/>
            <a:ext cx="2476500" cy="228600"/>
          </a:xfrm>
          <a:prstGeom prst="rect">
            <a:avLst/>
          </a:prstGeom>
          <a:noFill/>
          <a:ln w="0">
            <a:noFill/>
            <a:prstDash val="solid"/>
          </a:ln>
        </p:spPr>
        <p:txBody>
          <a:bodyPr lIns="0" tIns="0" rIns="0" bIns="0" anchor="t"/>
          <a:lstStyle/>
          <a:p>
            <a:pPr algn="l">
              <a:defRPr sz="1050" b="1">
                <a:solidFill>
                  <a:srgbClr val="5D626C"/>
                </a:solidFill>
                <a:latin typeface="微软雅黑" panose="020B0503020204020204" charset="-122"/>
                <a:ea typeface="微软雅黑" panose="020B0503020204020204" charset="-122"/>
                <a:cs typeface="微软雅黑" panose="020B0503020204020204" charset="-122"/>
              </a:defRPr>
            </a:pPr>
            <a:r>
              <a:rPr sz="1050" b="1">
                <a:solidFill>
                  <a:srgbClr val="5D626C"/>
                </a:solidFill>
                <a:latin typeface="微软雅黑" panose="020B0503020204020204" charset="-122"/>
                <a:ea typeface="微软雅黑" panose="020B0503020204020204" charset="-122"/>
                <a:cs typeface="微软雅黑" panose="020B0503020204020204" charset="-122"/>
              </a:rPr>
              <a:t>1</a:t>
            </a:r>
            <a:r>
              <a:rPr lang="en-US" sz="1050" b="1">
                <a:solidFill>
                  <a:srgbClr val="5D626C"/>
                </a:solidFill>
                <a:latin typeface="微软雅黑" panose="020B0503020204020204" charset="-122"/>
                <a:ea typeface="微软雅黑" panose="020B0503020204020204" charset="-122"/>
                <a:cs typeface="微软雅黑" panose="020B0503020204020204" charset="-122"/>
              </a:rPr>
              <a:t>2</a:t>
            </a:r>
            <a:r>
              <a:rPr sz="1050" b="1">
                <a:solidFill>
                  <a:srgbClr val="5D626C"/>
                </a:solidFill>
                <a:latin typeface="微软雅黑" panose="020B0503020204020204" charset="-122"/>
                <a:ea typeface="微软雅黑" panose="020B0503020204020204" charset="-122"/>
                <a:cs typeface="微软雅黑" panose="020B0503020204020204" charset="-122"/>
              </a:rPr>
              <a:t> · 总结</a:t>
            </a:r>
            <a:endParaRPr sz="1050" b="1">
              <a:solidFill>
                <a:srgbClr val="5D626C"/>
              </a:solidFill>
              <a:latin typeface="微软雅黑" panose="020B0503020204020204" charset="-122"/>
              <a:ea typeface="微软雅黑" panose="020B0503020204020204" charset="-122"/>
              <a:cs typeface="微软雅黑" panose="020B0503020204020204" charset="-122"/>
            </a:endParaRPr>
          </a:p>
        </p:txBody>
      </p:sp>
      <p:sp>
        <p:nvSpPr>
          <p:cNvPr id="3" name="end_title"/>
          <p:cNvSpPr>
            <a:spLocks noGrp="1"/>
          </p:cNvSpPr>
          <p:nvPr/>
        </p:nvSpPr>
        <p:spPr>
          <a:xfrm>
            <a:off x="400050" y="1000125"/>
            <a:ext cx="8096250" cy="619125"/>
          </a:xfrm>
          <a:prstGeom prst="rect">
            <a:avLst/>
          </a:prstGeom>
          <a:noFill/>
          <a:ln w="0">
            <a:noFill/>
            <a:prstDash val="solid"/>
          </a:ln>
        </p:spPr>
        <p:txBody>
          <a:bodyPr lIns="0" tIns="0" rIns="0" bIns="0" anchor="t"/>
          <a:lstStyle/>
          <a:p>
            <a:pPr algn="l">
              <a:defRPr sz="3300" b="1">
                <a:solidFill>
                  <a:srgbClr val="17181C"/>
                </a:solidFill>
                <a:latin typeface="微软雅黑" panose="020B0503020204020204" charset="-122"/>
                <a:ea typeface="微软雅黑" panose="020B0503020204020204" charset="-122"/>
                <a:cs typeface="微软雅黑" panose="020B0503020204020204" charset="-122"/>
              </a:defRPr>
            </a:pPr>
            <a:endParaRPr sz="3300" b="1">
              <a:solidFill>
                <a:srgbClr val="17181C"/>
              </a:solidFill>
              <a:latin typeface="微软雅黑" panose="020B0503020204020204" charset="-122"/>
              <a:ea typeface="微软雅黑" panose="020B0503020204020204" charset="-122"/>
              <a:cs typeface="微软雅黑" panose="020B0503020204020204" charset="-122"/>
            </a:endParaRPr>
          </a:p>
        </p:txBody>
      </p:sp>
      <p:sp>
        <p:nvSpPr>
          <p:cNvPr id="4" name="question_40_42"/>
          <p:cNvSpPr>
            <a:spLocks noGrp="1"/>
          </p:cNvSpPr>
          <p:nvPr/>
        </p:nvSpPr>
        <p:spPr>
          <a:xfrm>
            <a:off x="695325" y="1988820"/>
            <a:ext cx="7143750" cy="533400"/>
          </a:xfrm>
          <a:prstGeom prst="rect">
            <a:avLst/>
          </a:prstGeom>
          <a:noFill/>
          <a:ln w="0">
            <a:noFill/>
            <a:prstDash val="solid"/>
          </a:ln>
        </p:spPr>
        <p:txBody>
          <a:bodyPr lIns="0" tIns="0" rIns="0" bIns="0" anchor="t"/>
          <a:lstStyle/>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sz="1800" b="1">
                <a:solidFill>
                  <a:srgbClr val="DE3840"/>
                </a:solidFill>
                <a:latin typeface="微软雅黑" panose="020B0503020204020204" charset="-122"/>
                <a:ea typeface="微软雅黑" panose="020B0503020204020204" charset="-122"/>
                <a:cs typeface="微软雅黑" panose="020B0503020204020204" charset="-122"/>
              </a:rPr>
              <a:t>红黑树</a:t>
            </a:r>
            <a:r>
              <a:rPr lang="zh-CN" sz="1800" b="1">
                <a:solidFill>
                  <a:srgbClr val="DE3840"/>
                </a:solidFill>
                <a:latin typeface="微软雅黑" panose="020B0503020204020204" charset="-122"/>
                <a:ea typeface="微软雅黑" panose="020B0503020204020204" charset="-122"/>
                <a:cs typeface="微软雅黑" panose="020B0503020204020204" charset="-122"/>
              </a:rPr>
              <a:t>作为最难掌握的高级数据结构之一，</a:t>
            </a:r>
            <a:r>
              <a:rPr lang="zh-CN" altLang="en-US">
                <a:latin typeface="Google Sans"/>
                <a:ea typeface="Google Sans"/>
                <a:sym typeface="+mn-ea"/>
              </a:rPr>
              <a:t>理论晦涩</a:t>
            </a:r>
            <a:r>
              <a:rPr lang="zh-CN" altLang="en-US">
                <a:sym typeface="+mn-ea"/>
              </a:rPr>
              <a:t>、</a:t>
            </a:r>
            <a:r>
              <a:rPr lang="zh-CN" altLang="en-US">
                <a:latin typeface="Google Sans"/>
                <a:ea typeface="Google Sans"/>
                <a:sym typeface="+mn-ea"/>
              </a:rPr>
              <a:t>边缘情况繁多</a:t>
            </a:r>
            <a:r>
              <a:rPr lang="zh-CN" altLang="en-US">
                <a:sym typeface="+mn-ea"/>
              </a:rPr>
              <a:t>以及</a:t>
            </a:r>
            <a:r>
              <a:rPr lang="zh-CN" altLang="en-US">
                <a:latin typeface="Google Sans"/>
                <a:ea typeface="Google Sans"/>
                <a:sym typeface="+mn-ea"/>
              </a:rPr>
              <a:t>代码实现极易出错。</a:t>
            </a:r>
            <a:endParaRPr lang="zh-CN" altLang="en-US">
              <a:latin typeface="Google Sans"/>
              <a:ea typeface="Google Sans"/>
              <a:sym typeface="+mn-ea"/>
            </a:endParaRPr>
          </a:p>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endParaRPr lang="zh-CN" altLang="en-US">
              <a:latin typeface="Google Sans"/>
              <a:ea typeface="Google Sans"/>
              <a:sym typeface="+mn-ea"/>
            </a:endParaRPr>
          </a:p>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lang="zh-CN" altLang="en-US">
                <a:latin typeface="Google Sans"/>
                <a:ea typeface="Google Sans"/>
                <a:sym typeface="+mn-ea"/>
              </a:rPr>
              <a:t>完成这次课程设计的过程中我学会了很多新知识，比如积极使用宏调试才能在这样庞大的代码量中准确发现某处的判断错误，这让我不再只是在源码的逻辑上排查，而是站在一个完整的项目上进行思考。</a:t>
            </a:r>
            <a:endParaRPr lang="zh-CN" altLang="en-US">
              <a:latin typeface="Google Sans"/>
              <a:ea typeface="Google Sans"/>
              <a:sym typeface="+mn-ea"/>
            </a:endParaRPr>
          </a:p>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endParaRPr lang="zh-CN" altLang="en-US">
              <a:latin typeface="Google Sans"/>
              <a:ea typeface="Google Sans"/>
              <a:sym typeface="+mn-ea"/>
            </a:endParaRPr>
          </a:p>
          <a:p>
            <a:pPr algn="l">
              <a:defRPr sz="1800" b="1">
                <a:solidFill>
                  <a:srgbClr val="DE3840"/>
                </a:solidFill>
                <a:latin typeface="微软雅黑" panose="020B0503020204020204" charset="-122"/>
                <a:ea typeface="微软雅黑" panose="020B0503020204020204" charset="-122"/>
                <a:cs typeface="微软雅黑" panose="020B0503020204020204" charset="-122"/>
              </a:defRPr>
            </a:pPr>
            <a:r>
              <a:rPr lang="zh-CN" altLang="en-US">
                <a:latin typeface="Google Sans"/>
                <a:ea typeface="Google Sans"/>
                <a:sym typeface="+mn-ea"/>
              </a:rPr>
              <a:t>同时我</a:t>
            </a:r>
            <a:r>
              <a:rPr lang="zh-CN" altLang="en-US">
                <a:latin typeface="Google Sans"/>
                <a:ea typeface="Google Sans"/>
                <a:sym typeface="+mn-ea"/>
              </a:rPr>
              <a:t>也接触到了红黑树的美妙的设计，比如黑</a:t>
            </a:r>
            <a:r>
              <a:rPr lang="en-US" altLang="zh-CN">
                <a:latin typeface="Google Sans"/>
                <a:ea typeface="Google Sans"/>
                <a:sym typeface="+mn-ea"/>
              </a:rPr>
              <a:t>1</a:t>
            </a:r>
            <a:r>
              <a:rPr lang="zh-CN" altLang="en-US">
                <a:latin typeface="Google Sans"/>
                <a:ea typeface="Google Sans"/>
                <a:sym typeface="+mn-ea"/>
              </a:rPr>
              <a:t>红</a:t>
            </a:r>
            <a:r>
              <a:rPr lang="en-US" altLang="zh-CN">
                <a:latin typeface="Google Sans"/>
                <a:ea typeface="Google Sans"/>
                <a:sym typeface="+mn-ea"/>
              </a:rPr>
              <a:t>0</a:t>
            </a:r>
            <a:r>
              <a:rPr lang="zh-CN" altLang="en-US">
                <a:latin typeface="Google Sans"/>
                <a:ea typeface="Google Sans"/>
                <a:sym typeface="+mn-ea"/>
              </a:rPr>
              <a:t>的数值来计算树的黑高，</a:t>
            </a:r>
            <a:r>
              <a:rPr lang="zh-CN" altLang="en-US">
                <a:latin typeface="Google Sans"/>
                <a:ea typeface="Google Sans"/>
                <a:sym typeface="+mn-ea"/>
              </a:rPr>
              <a:t>以及通过简单的五条规则设计来极大地减少了旋转的频率，每条规则之间都相互联系相互制约，构成了这个复杂的系统的根基。</a:t>
            </a:r>
            <a:endParaRPr lang="en-US" altLang="zh-CN">
              <a:latin typeface="Google Sans"/>
              <a:ea typeface="Google Sans"/>
              <a:sym typeface="+mn-ea"/>
            </a:endParaRPr>
          </a:p>
        </p:txBody>
      </p:sp>
      <p:sp>
        <p:nvSpPr>
          <p:cNvPr id="5" name="reason_bar_40_42"/>
          <p:cNvSpPr>
            <a:spLocks noGrp="1"/>
          </p:cNvSpPr>
          <p:nvPr/>
        </p:nvSpPr>
        <p:spPr>
          <a:xfrm>
            <a:off x="400050" y="2562225"/>
            <a:ext cx="66675" cy="3105150"/>
          </a:xfrm>
          <a:prstGeom prst="rect">
            <a:avLst/>
          </a:prstGeom>
          <a:solidFill>
            <a:srgbClr val="DE3840"/>
          </a:solidFill>
          <a:ln w="0">
            <a:noFill/>
            <a:prstDash val="solid"/>
          </a:ln>
        </p:spPr>
      </p:sp>
      <p:sp>
        <p:nvSpPr>
          <p:cNvPr id="9" name="end_footer"/>
          <p:cNvSpPr>
            <a:spLocks noGrp="1"/>
          </p:cNvSpPr>
          <p:nvPr/>
        </p:nvSpPr>
        <p:spPr>
          <a:xfrm>
            <a:off x="11258550" y="6438900"/>
            <a:ext cx="523875" cy="190500"/>
          </a:xfrm>
          <a:prstGeom prst="rect">
            <a:avLst/>
          </a:prstGeom>
          <a:noFill/>
          <a:ln w="0">
            <a:noFill/>
            <a:prstDash val="solid"/>
          </a:ln>
        </p:spPr>
        <p:txBody>
          <a:bodyPr lIns="0" tIns="0" rIns="0" bIns="0" anchor="t"/>
          <a:lstStyle/>
          <a:p>
            <a:pPr algn="r">
              <a:defRPr sz="900" b="0">
                <a:solidFill>
                  <a:srgbClr val="5D626C"/>
                </a:solidFill>
                <a:latin typeface="微软雅黑" panose="020B0503020204020204" charset="-122"/>
                <a:ea typeface="微软雅黑" panose="020B0503020204020204" charset="-122"/>
                <a:cs typeface="微软雅黑" panose="020B0503020204020204" charset="-122"/>
              </a:defRPr>
            </a:pPr>
            <a:r>
              <a:rPr sz="900" b="0">
                <a:solidFill>
                  <a:srgbClr val="5D626C"/>
                </a:solidFill>
                <a:latin typeface="微软雅黑" panose="020B0503020204020204" charset="-122"/>
                <a:ea typeface="微软雅黑" panose="020B0503020204020204" charset="-122"/>
                <a:cs typeface="微软雅黑" panose="020B0503020204020204" charset="-122"/>
              </a:rPr>
              <a:t>40</a:t>
            </a:r>
            <a:endParaRPr sz="900" b="0">
              <a:solidFill>
                <a:srgbClr val="5D626C"/>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11996</Words>
  <Application>WPS 演示</Application>
  <PresentationFormat>Converted Presentation</PresentationFormat>
  <Paragraphs>1069</Paragraphs>
  <Slides>38</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38</vt:i4>
      </vt:variant>
    </vt:vector>
  </HeadingPairs>
  <TitlesOfParts>
    <vt:vector size="49" baseType="lpstr">
      <vt:lpstr>Arial</vt:lpstr>
      <vt:lpstr>宋体</vt:lpstr>
      <vt:lpstr>Wingdings</vt:lpstr>
      <vt:lpstr>微软雅黑</vt:lpstr>
      <vt:lpstr>Consolas</vt:lpstr>
      <vt:lpstr>Arial Unicode MS</vt:lpstr>
      <vt:lpstr>Calibri</vt:lpstr>
      <vt:lpstr>Google Sans</vt:lpstr>
      <vt:lpstr>Segoe Print</vt:lpstr>
      <vt:lpstr>Fira Sans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WPS_1629428613</cp:lastModifiedBy>
  <cp:revision>30</cp:revision>
  <dcterms:created xsi:type="dcterms:W3CDTF">2026-06-24T15:27:12Z</dcterms:created>
  <dcterms:modified xsi:type="dcterms:W3CDTF">2026-06-24T19:07:02Z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DFB2AFC4D2634BFF8985F02B7ECFAB2D_12</vt:lpwstr>
  </property>
</Properties>
</file>