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_eyebrow"/>
          <p:cNvSpPr>
            <a:spLocks noGrp="1"/>
          </p:cNvSpPr>
          <p:nvPr/>
        </p:nvSpPr>
        <p:spPr>
          <a:xfrm>
            <a:off x="400050" y="3810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数据结构课程设计 · 答辩</a:t>
            </a:r>
            <a:endParaRPr sz="1275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ver_title"/>
          <p:cNvSpPr>
            <a:spLocks noGrp="1"/>
          </p:cNvSpPr>
          <p:nvPr/>
        </p:nvSpPr>
        <p:spPr>
          <a:xfrm>
            <a:off x="400050" y="1381125"/>
            <a:ext cx="676275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2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红黑树后端算法</a:t>
            </a:r>
            <a:endParaRPr sz="42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42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设计与修复</a:t>
            </a:r>
            <a:endParaRPr sz="42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over_subtitle"/>
          <p:cNvSpPr>
            <a:spLocks noGrp="1"/>
          </p:cNvSpPr>
          <p:nvPr/>
        </p:nvSpPr>
        <p:spPr>
          <a:xfrm>
            <a:off x="428625" y="3381375"/>
            <a:ext cx="695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不是背删除分类，而是看清每一段代码究竟改了哪一小块树。EasyX 仅用于结果演示。</a:t>
            </a:r>
            <a:endParaRPr sz="16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cover_tree_edge_n10_n5"/>
          <p:cNvSpPr>
            <a:spLocks noGrp="1"/>
          </p:cNvSpPr>
          <p:nvPr/>
        </p:nvSpPr>
        <p:spPr>
          <a:xfrm rot="7871156">
            <a:off x="8075046" y="2319338"/>
            <a:ext cx="1518782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6" name="cover_tree_edge_n10_n15"/>
          <p:cNvSpPr>
            <a:spLocks noGrp="1"/>
          </p:cNvSpPr>
          <p:nvPr/>
        </p:nvSpPr>
        <p:spPr>
          <a:xfrm rot="2928844">
            <a:off x="9075171" y="2319338"/>
            <a:ext cx="1518782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7" name="cover_tree_edge_n5_n3"/>
          <p:cNvSpPr>
            <a:spLocks noGrp="1"/>
          </p:cNvSpPr>
          <p:nvPr/>
        </p:nvSpPr>
        <p:spPr>
          <a:xfrm rot="6775926">
            <a:off x="7400182" y="3509963"/>
            <a:ext cx="1344510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8" name="cover_tree_edge_n5_n7"/>
          <p:cNvSpPr>
            <a:spLocks noGrp="1"/>
          </p:cNvSpPr>
          <p:nvPr/>
        </p:nvSpPr>
        <p:spPr>
          <a:xfrm rot="4024074">
            <a:off x="7924057" y="3509963"/>
            <a:ext cx="1344510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9" name="cover_tree_edge_n15_n12"/>
          <p:cNvSpPr>
            <a:spLocks noGrp="1"/>
          </p:cNvSpPr>
          <p:nvPr/>
        </p:nvSpPr>
        <p:spPr>
          <a:xfrm rot="6775926">
            <a:off x="9400432" y="3509963"/>
            <a:ext cx="1344510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0" name="cover_tree_edge_n15_n18"/>
          <p:cNvSpPr>
            <a:spLocks noGrp="1"/>
          </p:cNvSpPr>
          <p:nvPr/>
        </p:nvSpPr>
        <p:spPr>
          <a:xfrm rot="4024074">
            <a:off x="9924307" y="3509963"/>
            <a:ext cx="1344510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cover_tree_n10"/>
          <p:cNvSpPr>
            <a:spLocks noGrp="1"/>
          </p:cNvSpPr>
          <p:nvPr/>
        </p:nvSpPr>
        <p:spPr>
          <a:xfrm>
            <a:off x="9096375" y="152400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cover_tree_n10_label"/>
          <p:cNvSpPr>
            <a:spLocks noGrp="1"/>
          </p:cNvSpPr>
          <p:nvPr/>
        </p:nvSpPr>
        <p:spPr>
          <a:xfrm>
            <a:off x="9134475" y="16383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over_tree_n5"/>
          <p:cNvSpPr>
            <a:spLocks noGrp="1"/>
          </p:cNvSpPr>
          <p:nvPr/>
        </p:nvSpPr>
        <p:spPr>
          <a:xfrm>
            <a:off x="8096250" y="266700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cover_tree_n5_label"/>
          <p:cNvSpPr>
            <a:spLocks noGrp="1"/>
          </p:cNvSpPr>
          <p:nvPr/>
        </p:nvSpPr>
        <p:spPr>
          <a:xfrm>
            <a:off x="8134350" y="27813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over_tree_n15"/>
          <p:cNvSpPr>
            <a:spLocks noGrp="1"/>
          </p:cNvSpPr>
          <p:nvPr/>
        </p:nvSpPr>
        <p:spPr>
          <a:xfrm>
            <a:off x="10096500" y="266700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cover_tree_n15_label"/>
          <p:cNvSpPr>
            <a:spLocks noGrp="1"/>
          </p:cNvSpPr>
          <p:nvPr/>
        </p:nvSpPr>
        <p:spPr>
          <a:xfrm>
            <a:off x="10134600" y="27813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cover_tree_n3"/>
          <p:cNvSpPr>
            <a:spLocks noGrp="1"/>
          </p:cNvSpPr>
          <p:nvPr/>
        </p:nvSpPr>
        <p:spPr>
          <a:xfrm>
            <a:off x="7572375" y="39052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cover_tree_n3_label"/>
          <p:cNvSpPr>
            <a:spLocks noGrp="1"/>
          </p:cNvSpPr>
          <p:nvPr/>
        </p:nvSpPr>
        <p:spPr>
          <a:xfrm>
            <a:off x="7610475" y="4019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over_tree_n7"/>
          <p:cNvSpPr>
            <a:spLocks noGrp="1"/>
          </p:cNvSpPr>
          <p:nvPr/>
        </p:nvSpPr>
        <p:spPr>
          <a:xfrm>
            <a:off x="8620125" y="39052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cover_tree_n7_label"/>
          <p:cNvSpPr>
            <a:spLocks noGrp="1"/>
          </p:cNvSpPr>
          <p:nvPr/>
        </p:nvSpPr>
        <p:spPr>
          <a:xfrm>
            <a:off x="8658225" y="4019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over_tree_n12"/>
          <p:cNvSpPr>
            <a:spLocks noGrp="1"/>
          </p:cNvSpPr>
          <p:nvPr/>
        </p:nvSpPr>
        <p:spPr>
          <a:xfrm>
            <a:off x="9572625" y="39052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cover_tree_n12_label"/>
          <p:cNvSpPr>
            <a:spLocks noGrp="1"/>
          </p:cNvSpPr>
          <p:nvPr/>
        </p:nvSpPr>
        <p:spPr>
          <a:xfrm>
            <a:off x="9610725" y="4019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cover_tree_n18"/>
          <p:cNvSpPr>
            <a:spLocks noGrp="1"/>
          </p:cNvSpPr>
          <p:nvPr/>
        </p:nvSpPr>
        <p:spPr>
          <a:xfrm>
            <a:off x="10620375" y="39052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cover_tree_n18_label"/>
          <p:cNvSpPr>
            <a:spLocks noGrp="1"/>
          </p:cNvSpPr>
          <p:nvPr/>
        </p:nvSpPr>
        <p:spPr>
          <a:xfrm>
            <a:off x="10658475" y="4019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cover_bottom_rule"/>
          <p:cNvSpPr>
            <a:spLocks noGrp="1"/>
          </p:cNvSpPr>
          <p:nvPr/>
        </p:nvSpPr>
        <p:spPr>
          <a:xfrm>
            <a:off x="400050" y="5724525"/>
            <a:ext cx="11391900" cy="19050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6" name="cover_meta"/>
          <p:cNvSpPr>
            <a:spLocks noGrp="1"/>
          </p:cNvSpPr>
          <p:nvPr/>
        </p:nvSpPr>
        <p:spPr>
          <a:xfrm>
            <a:off x="400050" y="5953125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答辩重点：src/rbtree.h 后端算法  |  EasyX 仅用于运行演示  |  验证：39 项测试</a:t>
            </a:r>
            <a:endParaRPr sz="1275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cover_footer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2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· 项目背景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2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这个项目真正要解决的，不只是“写出一棵红黑树”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2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2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2_42"/>
          <p:cNvSpPr>
            <a:spLocks noGrp="1"/>
          </p:cNvSpPr>
          <p:nvPr/>
        </p:nvSpPr>
        <p:spPr>
          <a:xfrm>
            <a:off x="400050" y="1695450"/>
            <a:ext cx="533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为什么普通二叉搜索树还不够？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2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2_42"/>
          <p:cNvSpPr>
            <a:spLocks noGrp="1"/>
          </p:cNvSpPr>
          <p:nvPr/>
        </p:nvSpPr>
        <p:spPr>
          <a:xfrm>
            <a:off x="628650" y="2419350"/>
            <a:ext cx="504825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因为它只规定了左边小、右边大，却没有规定树应该长得多高。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如果输入恰好是 1、2、3、4、5，普通二叉搜索树会一路向右长成链表。查找 5 不再是沿几层下降，而是把前面的节点全走一遍。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所以这里需要的不是“绝对平衡”，而是一个更现实的目标：每次插入和删除只改动局部，同时把整棵树的高度压在 O(log n)。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question_2_665"/>
          <p:cNvSpPr>
            <a:spLocks noGrp="1"/>
          </p:cNvSpPr>
          <p:nvPr/>
        </p:nvSpPr>
        <p:spPr>
          <a:xfrm>
            <a:off x="6334125" y="1695450"/>
            <a:ext cx="5238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486A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486A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为什么还保留 EasyX 演示？</a:t>
            </a:r>
            <a:endParaRPr sz="1800" b="1">
              <a:solidFill>
                <a:srgbClr val="486A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ason_bar_2_665"/>
          <p:cNvSpPr>
            <a:spLocks noGrp="1"/>
          </p:cNvSpPr>
          <p:nvPr/>
        </p:nvSpPr>
        <p:spPr>
          <a:xfrm>
            <a:off x="6334125" y="2305050"/>
            <a:ext cx="66675" cy="3629025"/>
          </a:xfrm>
          <a:prstGeom prst="rect">
            <a:avLst/>
          </a:prstGeom>
          <a:solidFill>
            <a:srgbClr val="486A9A"/>
          </a:solidFill>
          <a:ln w="0">
            <a:noFill/>
            <a:prstDash val="solid"/>
          </a:ln>
        </p:spPr>
      </p:sp>
      <p:sp>
        <p:nvSpPr>
          <p:cNvPr id="11" name="reason_body_2_665"/>
          <p:cNvSpPr>
            <a:spLocks noGrp="1"/>
          </p:cNvSpPr>
          <p:nvPr/>
        </p:nvSpPr>
        <p:spPr>
          <a:xfrm>
            <a:off x="6562725" y="2419350"/>
            <a:ext cx="49530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红黑树最难的地方不是调用 insert 或 remove，而是旋转以后谁成了父亲、哪一块局部结构发生了变化。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EasyX 在这里仅作为结果展示：输入 key，观察后端操作完成后的树形与颜色。答辩主体仍然回到 rbtree.h，解释判断条件、换色、旋转和不变量。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3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· 项目背景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3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课程目标被拆成三条互相验证的数据流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3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3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3_42"/>
          <p:cNvSpPr>
            <a:spLocks noGrp="1"/>
          </p:cNvSpPr>
          <p:nvPr/>
        </p:nvSpPr>
        <p:spPr>
          <a:xfrm>
            <a:off x="400050" y="16954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第一条：算法要能独立运行</a:t>
            </a:r>
            <a:endParaRPr sz="18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3_42"/>
          <p:cNvSpPr>
            <a:spLocks noGrp="1"/>
          </p:cNvSpPr>
          <p:nvPr/>
        </p:nvSpPr>
        <p:spPr>
          <a:xfrm>
            <a:off x="400050" y="2305050"/>
            <a:ext cx="66675" cy="31051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8" name="reason_body_3_42"/>
          <p:cNvSpPr>
            <a:spLocks noGrp="1"/>
          </p:cNvSpPr>
          <p:nvPr/>
        </p:nvSpPr>
        <p:spPr>
          <a:xfrm>
            <a:off x="628650" y="2419350"/>
            <a:ext cx="3048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RBTree&lt;int&gt; 不知道 EasyX 是什么。它只维护 key、颜色和父子指针，并提供 contains、insert、remove、iterator。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这样数据测试不需要图形库，算法错误也不会被界面问题掩盖。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question_3_465"/>
          <p:cNvSpPr>
            <a:spLocks noGrp="1"/>
          </p:cNvSpPr>
          <p:nvPr/>
        </p:nvSpPr>
        <p:spPr>
          <a:xfrm>
            <a:off x="4429125" y="16954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第二条：演示界面不参与算法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ason_bar_3_465"/>
          <p:cNvSpPr>
            <a:spLocks noGrp="1"/>
          </p:cNvSpPr>
          <p:nvPr/>
        </p:nvSpPr>
        <p:spPr>
          <a:xfrm>
            <a:off x="4429125" y="2305050"/>
            <a:ext cx="66675" cy="310515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11" name="reason_body_3_465"/>
          <p:cNvSpPr>
            <a:spLocks noGrp="1"/>
          </p:cNvSpPr>
          <p:nvPr/>
        </p:nvSpPr>
        <p:spPr>
          <a:xfrm>
            <a:off x="4657725" y="2419350"/>
            <a:ext cx="3048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程序使用 EasyX 显示操作后的树形，但本次答辩不展开界面实现。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演示时只把它当成观察窗口：点击插入或删除，重点解释后端经历了哪种换色、旋转与黑高修复。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question_3_888"/>
          <p:cNvSpPr>
            <a:spLocks noGrp="1"/>
          </p:cNvSpPr>
          <p:nvPr/>
        </p:nvSpPr>
        <p:spPr>
          <a:xfrm>
            <a:off x="8458200" y="16954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486A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486A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第三条：测试盯住不变量</a:t>
            </a:r>
            <a:endParaRPr sz="1800" b="1">
              <a:solidFill>
                <a:srgbClr val="486A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ason_bar_3_888"/>
          <p:cNvSpPr>
            <a:spLocks noGrp="1"/>
          </p:cNvSpPr>
          <p:nvPr/>
        </p:nvSpPr>
        <p:spPr>
          <a:xfrm>
            <a:off x="8458200" y="2305050"/>
            <a:ext cx="66675" cy="3105150"/>
          </a:xfrm>
          <a:prstGeom prst="rect">
            <a:avLst/>
          </a:prstGeom>
          <a:solidFill>
            <a:srgbClr val="486A9A"/>
          </a:solidFill>
          <a:ln w="0">
            <a:noFill/>
            <a:prstDash val="solid"/>
          </a:ln>
        </p:spPr>
      </p:sp>
      <p:sp>
        <p:nvSpPr>
          <p:cNvPr id="14" name="reason_body_3_888"/>
          <p:cNvSpPr>
            <a:spLocks noGrp="1"/>
          </p:cNvSpPr>
          <p:nvPr/>
        </p:nvSpPr>
        <p:spPr>
          <a:xfrm>
            <a:off x="8686800" y="2419350"/>
            <a:ext cx="3048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contains 成功不代表树一定正确。颜色可能错、黑高可能错、父子方向也可能错。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因此固定案例检查精确树形，随机案例则在每次操作后调用 invariant。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akeaway_3"/>
          <p:cNvSpPr>
            <a:spLocks noGrp="1"/>
          </p:cNvSpPr>
          <p:nvPr/>
        </p:nvSpPr>
        <p:spPr>
          <a:xfrm>
            <a:off x="1047750" y="5953125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测试、算法、界面共用同一棵树，但它们不互相冒充对方。</a:t>
            </a:r>
            <a:endParaRPr sz="1575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4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· 数据结构设计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4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先认识 RBTreeNode：修复算法为什么离不开 parent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4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4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4_42"/>
          <p:cNvSpPr>
            <a:spLocks noGrp="1"/>
          </p:cNvSpPr>
          <p:nvPr/>
        </p:nvSpPr>
        <p:spPr>
          <a:xfrm>
            <a:off x="400050" y="1695450"/>
            <a:ext cx="542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节点为什么保存五类状态？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4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4_42"/>
          <p:cNvSpPr>
            <a:spLocks noGrp="1"/>
          </p:cNvSpPr>
          <p:nvPr/>
        </p:nvSpPr>
        <p:spPr>
          <a:xfrm>
            <a:off x="628650" y="2419350"/>
            <a:ext cx="51435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决定二叉搜索树顺序；color 决定红红冲突和黑高；left / right 让搜索可以向下走；parent 则让修复可以向上走。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这里最容易忽略的是 parent。插入时叔叔为红，冲突会被推到祖父；删除时双黑也可能被推到父亲。没有 parent，每次向上修复都得从 root 重新搜索当前节点，局部算法就被迫依赖整棵树。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节点还保存 tree，是因为一次旋转可能把局部新根送到整棵树顶端，此时必须更新 tree-&gt;root。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_bg_4_665"/>
          <p:cNvSpPr>
            <a:spLocks noGrp="1"/>
          </p:cNvSpPr>
          <p:nvPr/>
        </p:nvSpPr>
        <p:spPr>
          <a:xfrm>
            <a:off x="6334125" y="1905000"/>
            <a:ext cx="4953000" cy="2381250"/>
          </a:xfrm>
          <a:prstGeom prst="rect">
            <a:avLst/>
          </a:prstGeom>
          <a:solidFill>
            <a:srgbClr val="202126"/>
          </a:solidFill>
          <a:ln w="0">
            <a:noFill/>
            <a:prstDash val="solid"/>
          </a:ln>
        </p:spPr>
      </p:sp>
      <p:sp>
        <p:nvSpPr>
          <p:cNvPr id="10" name="code_hl_4_0"/>
          <p:cNvSpPr>
            <a:spLocks noGrp="1"/>
          </p:cNvSpPr>
          <p:nvPr/>
        </p:nvSpPr>
        <p:spPr>
          <a:xfrm>
            <a:off x="6410325" y="2009775"/>
            <a:ext cx="48006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1" name="code_line_4_0"/>
          <p:cNvSpPr>
            <a:spLocks noGrp="1"/>
          </p:cNvSpPr>
          <p:nvPr/>
        </p:nvSpPr>
        <p:spPr>
          <a:xfrm>
            <a:off x="6496050" y="2000250"/>
            <a:ext cx="4667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 key;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code_hl_4_1"/>
          <p:cNvSpPr>
            <a:spLocks noGrp="1"/>
          </p:cNvSpPr>
          <p:nvPr/>
        </p:nvSpPr>
        <p:spPr>
          <a:xfrm>
            <a:off x="6410325" y="2247900"/>
            <a:ext cx="48006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3" name="code_line_4_1"/>
          <p:cNvSpPr>
            <a:spLocks noGrp="1"/>
          </p:cNvSpPr>
          <p:nvPr/>
        </p:nvSpPr>
        <p:spPr>
          <a:xfrm>
            <a:off x="6496050" y="2238375"/>
            <a:ext cx="4667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Color color;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code_line_4_2"/>
          <p:cNvSpPr>
            <a:spLocks noGrp="1"/>
          </p:cNvSpPr>
          <p:nvPr/>
        </p:nvSpPr>
        <p:spPr>
          <a:xfrm>
            <a:off x="6496050" y="2476500"/>
            <a:ext cx="4667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5" name="code_hl_4_3"/>
          <p:cNvSpPr>
            <a:spLocks noGrp="1"/>
          </p:cNvSpPr>
          <p:nvPr/>
        </p:nvSpPr>
        <p:spPr>
          <a:xfrm>
            <a:off x="6410325" y="2724150"/>
            <a:ext cx="48006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6" name="code_line_4_3"/>
          <p:cNvSpPr>
            <a:spLocks noGrp="1"/>
          </p:cNvSpPr>
          <p:nvPr/>
        </p:nvSpPr>
        <p:spPr>
          <a:xfrm>
            <a:off x="6496050" y="2714625"/>
            <a:ext cx="4667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RBTreeNode* parent;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code_line_4_4"/>
          <p:cNvSpPr>
            <a:spLocks noGrp="1"/>
          </p:cNvSpPr>
          <p:nvPr/>
        </p:nvSpPr>
        <p:spPr>
          <a:xfrm>
            <a:off x="6496050" y="2952750"/>
            <a:ext cx="4667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RBTreeNode* left;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code_line_4_5"/>
          <p:cNvSpPr>
            <a:spLocks noGrp="1"/>
          </p:cNvSpPr>
          <p:nvPr/>
        </p:nvSpPr>
        <p:spPr>
          <a:xfrm>
            <a:off x="6496050" y="3190875"/>
            <a:ext cx="4667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RBTreeNode* right;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code_hl_4_6"/>
          <p:cNvSpPr>
            <a:spLocks noGrp="1"/>
          </p:cNvSpPr>
          <p:nvPr/>
        </p:nvSpPr>
        <p:spPr>
          <a:xfrm>
            <a:off x="6410325" y="3438525"/>
            <a:ext cx="48006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0" name="code_line_4_6"/>
          <p:cNvSpPr>
            <a:spLocks noGrp="1"/>
          </p:cNvSpPr>
          <p:nvPr/>
        </p:nvSpPr>
        <p:spPr>
          <a:xfrm>
            <a:off x="6496050" y="3429000"/>
            <a:ext cx="4667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RBTree&lt;T&gt;* tree;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node_private"/>
          <p:cNvSpPr>
            <a:spLocks noGrp="1"/>
          </p:cNvSpPr>
          <p:nvPr/>
        </p:nvSpPr>
        <p:spPr>
          <a:xfrm>
            <a:off x="6477000" y="4572000"/>
            <a:ext cx="4667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RBTreeNode 被放在 RBTree 内部并设为 private。外部真正需要的是“插入一个值”，不是随便写 node-&gt;left 或 node-&gt;color。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5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· 数据结构设计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5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构造与析构：根为什么默认黑，删除前为什么要断开孩子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5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5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5_42"/>
          <p:cNvSpPr>
            <a:spLocks noGrp="1"/>
          </p:cNvSpPr>
          <p:nvPr/>
        </p:nvSpPr>
        <p:spPr>
          <a:xfrm>
            <a:off x="400050" y="1695450"/>
            <a:ext cx="5381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两个构造函数不是重复代码吗？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5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5_42"/>
          <p:cNvSpPr>
            <a:spLocks noGrp="1"/>
          </p:cNvSpPr>
          <p:nvPr/>
        </p:nvSpPr>
        <p:spPr>
          <a:xfrm>
            <a:off x="628650" y="2419350"/>
            <a:ext cx="5095875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根节点的构造函数没有 parent，所以它把 parent 设为 NULL，并直接染成 BLACK。根出现在所有路径上，它变黑不会制造左右黑高差。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普通新节点的构造函数则接收 parent 和 color。插入节点通常传 RED；删除修复的临时占位节点会传 DOUBLE_BLACK。也就是说，构造函数并不决定算法，只负责把调用者已经决定好的状态完整保存下来。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question_5_665"/>
          <p:cNvSpPr>
            <a:spLocks noGrp="1"/>
          </p:cNvSpPr>
          <p:nvPr/>
        </p:nvSpPr>
        <p:spPr>
          <a:xfrm>
            <a:off x="6334125" y="1695450"/>
            <a:ext cx="5238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486A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486A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析构函数为什么会递归 delete？</a:t>
            </a:r>
            <a:endParaRPr sz="1800" b="1">
              <a:solidFill>
                <a:srgbClr val="486A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ason_bar_5_665"/>
          <p:cNvSpPr>
            <a:spLocks noGrp="1"/>
          </p:cNvSpPr>
          <p:nvPr/>
        </p:nvSpPr>
        <p:spPr>
          <a:xfrm>
            <a:off x="6334125" y="2305050"/>
            <a:ext cx="66675" cy="3629025"/>
          </a:xfrm>
          <a:prstGeom prst="rect">
            <a:avLst/>
          </a:prstGeom>
          <a:solidFill>
            <a:srgbClr val="486A9A"/>
          </a:solidFill>
          <a:ln w="0">
            <a:noFill/>
            <a:prstDash val="solid"/>
          </a:ln>
        </p:spPr>
      </p:sp>
      <p:sp>
        <p:nvSpPr>
          <p:cNvPr id="11" name="reason_body_5_665"/>
          <p:cNvSpPr>
            <a:spLocks noGrp="1"/>
          </p:cNvSpPr>
          <p:nvPr/>
        </p:nvSpPr>
        <p:spPr>
          <a:xfrm>
            <a:off x="6562725" y="2419350"/>
            <a:ext cx="49530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RBTree 析构时只 delete root，随后每个节点继续 delete left 和 right，整棵树就会自然释放。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 remove() 只想摘掉一个 node。如果不先把 node-&gt;left 和 node-&gt;right 设为 NULL，再 delete node，析构函数会顺手把仍然挂在树里的子树一起删掉。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所以“断开孩子”不是清理习惯，而是在阻止递归析构越界。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6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· 查找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6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lookup：node 不是树节点的名字，而是“我现在站的位置”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6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6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6_42"/>
          <p:cNvSpPr>
            <a:spLocks noGrp="1"/>
          </p:cNvSpPr>
          <p:nvPr/>
        </p:nvSpPr>
        <p:spPr>
          <a:xfrm>
            <a:off x="400050" y="1695450"/>
            <a:ext cx="542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为什么使用 while，而不是递归？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6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6_42"/>
          <p:cNvSpPr>
            <a:spLocks noGrp="1"/>
          </p:cNvSpPr>
          <p:nvPr/>
        </p:nvSpPr>
        <p:spPr>
          <a:xfrm>
            <a:off x="628650" y="2419350"/>
            <a:ext cx="51435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查找每一轮只做一件事：比较当前 node-&gt;key 与目标 key。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目标更大就去 right，更小就去 left。node 走到 NULL，说明本来应该出现目标的位置是空的；node-&gt;key 等于 key，则说明已经找到。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这里用 while 可以把“当前位置不断变化”直接写出来，也避免递归栈。它和后面的 insert 定位阶段其实是同一套思路，只是 lookup 不会创建节点。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_bg_6_660"/>
          <p:cNvSpPr>
            <a:spLocks noGrp="1"/>
          </p:cNvSpPr>
          <p:nvPr/>
        </p:nvSpPr>
        <p:spPr>
          <a:xfrm>
            <a:off x="6286500" y="1809750"/>
            <a:ext cx="5143500" cy="3238500"/>
          </a:xfrm>
          <a:prstGeom prst="rect">
            <a:avLst/>
          </a:prstGeom>
          <a:solidFill>
            <a:srgbClr val="202126"/>
          </a:solidFill>
          <a:ln w="0">
            <a:noFill/>
            <a:prstDash val="solid"/>
          </a:ln>
        </p:spPr>
      </p:sp>
      <p:sp>
        <p:nvSpPr>
          <p:cNvPr id="10" name="code_hl_6_0"/>
          <p:cNvSpPr>
            <a:spLocks noGrp="1"/>
          </p:cNvSpPr>
          <p:nvPr/>
        </p:nvSpPr>
        <p:spPr>
          <a:xfrm>
            <a:off x="6362700" y="1914525"/>
            <a:ext cx="49911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1" name="code_line_6_0"/>
          <p:cNvSpPr>
            <a:spLocks noGrp="1"/>
          </p:cNvSpPr>
          <p:nvPr/>
        </p:nvSpPr>
        <p:spPr>
          <a:xfrm>
            <a:off x="6448425" y="1905000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RBTreeNode* node = this;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code_line_6_1"/>
          <p:cNvSpPr>
            <a:spLocks noGrp="1"/>
          </p:cNvSpPr>
          <p:nvPr/>
        </p:nvSpPr>
        <p:spPr>
          <a:xfrm>
            <a:off x="6448425" y="2143125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3" name="code_hl_6_2"/>
          <p:cNvSpPr>
            <a:spLocks noGrp="1"/>
          </p:cNvSpPr>
          <p:nvPr/>
        </p:nvSpPr>
        <p:spPr>
          <a:xfrm>
            <a:off x="6362700" y="2390775"/>
            <a:ext cx="49911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4" name="code_line_6_2"/>
          <p:cNvSpPr>
            <a:spLocks noGrp="1"/>
          </p:cNvSpPr>
          <p:nvPr/>
        </p:nvSpPr>
        <p:spPr>
          <a:xfrm>
            <a:off x="6448425" y="2381250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while (node != NULL &amp;&amp; node-&gt;key != key)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code_line_6_3"/>
          <p:cNvSpPr>
            <a:spLocks noGrp="1"/>
          </p:cNvSpPr>
          <p:nvPr/>
        </p:nvSpPr>
        <p:spPr>
          <a:xfrm>
            <a:off x="6448425" y="2619375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code_hl_6_4"/>
          <p:cNvSpPr>
            <a:spLocks noGrp="1"/>
          </p:cNvSpPr>
          <p:nvPr/>
        </p:nvSpPr>
        <p:spPr>
          <a:xfrm>
            <a:off x="6362700" y="2867025"/>
            <a:ext cx="49911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7" name="code_line_6_4"/>
          <p:cNvSpPr>
            <a:spLocks noGrp="1"/>
          </p:cNvSpPr>
          <p:nvPr/>
        </p:nvSpPr>
        <p:spPr>
          <a:xfrm>
            <a:off x="6448425" y="2857500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node = node-&gt;key &lt; key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code_line_6_5"/>
          <p:cNvSpPr>
            <a:spLocks noGrp="1"/>
          </p:cNvSpPr>
          <p:nvPr/>
        </p:nvSpPr>
        <p:spPr>
          <a:xfrm>
            <a:off x="6448425" y="3095625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? node-&gt;right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code_line_6_6"/>
          <p:cNvSpPr>
            <a:spLocks noGrp="1"/>
          </p:cNvSpPr>
          <p:nvPr/>
        </p:nvSpPr>
        <p:spPr>
          <a:xfrm>
            <a:off x="6448425" y="3333750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: node-&gt;left;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code_line_6_7"/>
          <p:cNvSpPr>
            <a:spLocks noGrp="1"/>
          </p:cNvSpPr>
          <p:nvPr/>
        </p:nvSpPr>
        <p:spPr>
          <a:xfrm>
            <a:off x="6448425" y="3571875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code_line_6_8"/>
          <p:cNvSpPr>
            <a:spLocks noGrp="1"/>
          </p:cNvSpPr>
          <p:nvPr/>
        </p:nvSpPr>
        <p:spPr>
          <a:xfrm>
            <a:off x="6448425" y="3810000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22" name="code_hl_6_9"/>
          <p:cNvSpPr>
            <a:spLocks noGrp="1"/>
          </p:cNvSpPr>
          <p:nvPr/>
        </p:nvSpPr>
        <p:spPr>
          <a:xfrm>
            <a:off x="6362700" y="4057650"/>
            <a:ext cx="49911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3" name="code_line_6_9"/>
          <p:cNvSpPr>
            <a:spLocks noGrp="1"/>
          </p:cNvSpPr>
          <p:nvPr/>
        </p:nvSpPr>
        <p:spPr>
          <a:xfrm>
            <a:off x="6448425" y="4048125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return node;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takeaway_6"/>
          <p:cNvSpPr>
            <a:spLocks noGrp="1"/>
          </p:cNvSpPr>
          <p:nvPr/>
        </p:nvSpPr>
        <p:spPr>
          <a:xfrm>
            <a:off x="1047750" y="5953125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查找结束只有两种状态：找到真实节点，或者走到本应放置它的 NULL。</a:t>
            </a:r>
            <a:endParaRPr sz="1575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7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· 查找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7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contains 与公开 remove：为什么 RBTree 先处理空树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7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7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7_42"/>
          <p:cNvSpPr>
            <a:spLocks noGrp="1"/>
          </p:cNvSpPr>
          <p:nvPr/>
        </p:nvSpPr>
        <p:spPr>
          <a:xfrm>
            <a:off x="400050" y="1695450"/>
            <a:ext cx="542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为什么不直接写 root-&gt;lookup(key)？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7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7_42"/>
          <p:cNvSpPr>
            <a:spLocks noGrp="1"/>
          </p:cNvSpPr>
          <p:nvPr/>
        </p:nvSpPr>
        <p:spPr>
          <a:xfrm>
            <a:off x="628650" y="2419350"/>
            <a:ext cx="51435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因为空树的 root 就是 NULL。对 NULL 调成员函数不是“查找失败”，而是非法访问。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所以公开接口先处理 root == NULL，再把真正的向下搜索交给节点。这个分层很朴素：RBTree 负责整棵树是否存在，RBTreeNode 负责从某个真实节点开始向下走。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remove 也遵循同一顺序：空树返回 false；lookup 没找到返回 false；只有拿到真实 node，才调用 node-&gt;remove()。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_bg_7_660"/>
          <p:cNvSpPr>
            <a:spLocks noGrp="1"/>
          </p:cNvSpPr>
          <p:nvPr/>
        </p:nvSpPr>
        <p:spPr>
          <a:xfrm>
            <a:off x="6286500" y="1762125"/>
            <a:ext cx="5143500" cy="3524250"/>
          </a:xfrm>
          <a:prstGeom prst="rect">
            <a:avLst/>
          </a:prstGeom>
          <a:solidFill>
            <a:srgbClr val="202126"/>
          </a:solidFill>
          <a:ln w="0">
            <a:noFill/>
            <a:prstDash val="solid"/>
          </a:ln>
        </p:spPr>
      </p:sp>
      <p:sp>
        <p:nvSpPr>
          <p:cNvPr id="10" name="code_hl_7_0"/>
          <p:cNvSpPr>
            <a:spLocks noGrp="1"/>
          </p:cNvSpPr>
          <p:nvPr/>
        </p:nvSpPr>
        <p:spPr>
          <a:xfrm>
            <a:off x="6362700" y="1866900"/>
            <a:ext cx="49911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1" name="code_line_7_0"/>
          <p:cNvSpPr>
            <a:spLocks noGrp="1"/>
          </p:cNvSpPr>
          <p:nvPr/>
        </p:nvSpPr>
        <p:spPr>
          <a:xfrm>
            <a:off x="6448425" y="1857375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(root == NULL)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code_line_7_1"/>
          <p:cNvSpPr>
            <a:spLocks noGrp="1"/>
          </p:cNvSpPr>
          <p:nvPr/>
        </p:nvSpPr>
        <p:spPr>
          <a:xfrm>
            <a:off x="6448425" y="2095500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code_line_7_2"/>
          <p:cNvSpPr>
            <a:spLocks noGrp="1"/>
          </p:cNvSpPr>
          <p:nvPr/>
        </p:nvSpPr>
        <p:spPr>
          <a:xfrm>
            <a:off x="6448425" y="2333625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false;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code_line_7_3"/>
          <p:cNvSpPr>
            <a:spLocks noGrp="1"/>
          </p:cNvSpPr>
          <p:nvPr/>
        </p:nvSpPr>
        <p:spPr>
          <a:xfrm>
            <a:off x="6448425" y="2571750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code_line_7_4"/>
          <p:cNvSpPr>
            <a:spLocks noGrp="1"/>
          </p:cNvSpPr>
          <p:nvPr/>
        </p:nvSpPr>
        <p:spPr>
          <a:xfrm>
            <a:off x="6448425" y="2809875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6" name="code_hl_7_5"/>
          <p:cNvSpPr>
            <a:spLocks noGrp="1"/>
          </p:cNvSpPr>
          <p:nvPr/>
        </p:nvSpPr>
        <p:spPr>
          <a:xfrm>
            <a:off x="6362700" y="3057525"/>
            <a:ext cx="49911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7" name="code_line_7_5"/>
          <p:cNvSpPr>
            <a:spLocks noGrp="1"/>
          </p:cNvSpPr>
          <p:nvPr/>
        </p:nvSpPr>
        <p:spPr>
          <a:xfrm>
            <a:off x="6448425" y="3048000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RBTreeNode* node = root-&gt;lookup(key);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code_line_7_6"/>
          <p:cNvSpPr>
            <a:spLocks noGrp="1"/>
          </p:cNvSpPr>
          <p:nvPr/>
        </p:nvSpPr>
        <p:spPr>
          <a:xfrm>
            <a:off x="6448425" y="3286125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(node == NULL)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code_line_7_7"/>
          <p:cNvSpPr>
            <a:spLocks noGrp="1"/>
          </p:cNvSpPr>
          <p:nvPr/>
        </p:nvSpPr>
        <p:spPr>
          <a:xfrm>
            <a:off x="6448425" y="3524250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code_line_7_8"/>
          <p:cNvSpPr>
            <a:spLocks noGrp="1"/>
          </p:cNvSpPr>
          <p:nvPr/>
        </p:nvSpPr>
        <p:spPr>
          <a:xfrm>
            <a:off x="6448425" y="3762375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false;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code_line_7_9"/>
          <p:cNvSpPr>
            <a:spLocks noGrp="1"/>
          </p:cNvSpPr>
          <p:nvPr/>
        </p:nvSpPr>
        <p:spPr>
          <a:xfrm>
            <a:off x="6448425" y="4000500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code_line_7_10"/>
          <p:cNvSpPr>
            <a:spLocks noGrp="1"/>
          </p:cNvSpPr>
          <p:nvPr/>
        </p:nvSpPr>
        <p:spPr>
          <a:xfrm>
            <a:off x="6448425" y="4238625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23" name="code_hl_7_11"/>
          <p:cNvSpPr>
            <a:spLocks noGrp="1"/>
          </p:cNvSpPr>
          <p:nvPr/>
        </p:nvSpPr>
        <p:spPr>
          <a:xfrm>
            <a:off x="6362700" y="4486275"/>
            <a:ext cx="49911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4" name="code_line_7_11"/>
          <p:cNvSpPr>
            <a:spLocks noGrp="1"/>
          </p:cNvSpPr>
          <p:nvPr/>
        </p:nvSpPr>
        <p:spPr>
          <a:xfrm>
            <a:off x="6448425" y="4476750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node-&gt;remove();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code_line_7_12"/>
          <p:cNvSpPr>
            <a:spLocks noGrp="1"/>
          </p:cNvSpPr>
          <p:nvPr/>
        </p:nvSpPr>
        <p:spPr>
          <a:xfrm>
            <a:off x="6448425" y="4714875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return true;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8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· 插入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8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insert 先找空位：不要把“搜索位置”和“冲突位置”混在一起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8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8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8_42"/>
          <p:cNvSpPr>
            <a:spLocks noGrp="1"/>
          </p:cNvSpPr>
          <p:nvPr/>
        </p:nvSpPr>
        <p:spPr>
          <a:xfrm>
            <a:off x="400050" y="1695450"/>
            <a:ext cx="542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为什么插入要拆成两段？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8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8_42"/>
          <p:cNvSpPr>
            <a:spLocks noGrp="1"/>
          </p:cNvSpPr>
          <p:nvPr/>
        </p:nvSpPr>
        <p:spPr>
          <a:xfrm>
            <a:off x="628650" y="2419350"/>
            <a:ext cx="51435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第一段完全按照二叉搜索树规则向下走，直到左边或右边出现 NULL。此时只解决“新 key 应该放在哪里”。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第二段才调用 adjustInsert，解决“放进去以后颜色是否合法”。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如果边找位置边旋转，node 一会儿代表搜索光标，一会儿又代表红红冲突，旋转以后它的身份更难追踪。先定位、后修复，相当于让每个阶段只背一种责任。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_bg_8_650"/>
          <p:cNvSpPr>
            <a:spLocks noGrp="1"/>
          </p:cNvSpPr>
          <p:nvPr/>
        </p:nvSpPr>
        <p:spPr>
          <a:xfrm>
            <a:off x="6191250" y="1714500"/>
            <a:ext cx="5334000" cy="3524250"/>
          </a:xfrm>
          <a:prstGeom prst="rect">
            <a:avLst/>
          </a:prstGeom>
          <a:solidFill>
            <a:srgbClr val="202126"/>
          </a:solidFill>
          <a:ln w="0">
            <a:noFill/>
            <a:prstDash val="solid"/>
          </a:ln>
        </p:spPr>
      </p:sp>
      <p:sp>
        <p:nvSpPr>
          <p:cNvPr id="10" name="code_hl_8_0"/>
          <p:cNvSpPr>
            <a:spLocks noGrp="1"/>
          </p:cNvSpPr>
          <p:nvPr/>
        </p:nvSpPr>
        <p:spPr>
          <a:xfrm>
            <a:off x="6267450" y="1819275"/>
            <a:ext cx="51816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1" name="code_line_8_0"/>
          <p:cNvSpPr>
            <a:spLocks noGrp="1"/>
          </p:cNvSpPr>
          <p:nvPr/>
        </p:nvSpPr>
        <p:spPr>
          <a:xfrm>
            <a:off x="6353175" y="1809750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(node-&gt;key == key)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code_line_8_1"/>
          <p:cNvSpPr>
            <a:spLocks noGrp="1"/>
          </p:cNvSpPr>
          <p:nvPr/>
        </p:nvSpPr>
        <p:spPr>
          <a:xfrm>
            <a:off x="6353175" y="2047875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false;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code_line_8_2"/>
          <p:cNvSpPr>
            <a:spLocks noGrp="1"/>
          </p:cNvSpPr>
          <p:nvPr/>
        </p:nvSpPr>
        <p:spPr>
          <a:xfrm>
            <a:off x="6353175" y="2286000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4" name="code_line_8_3"/>
          <p:cNvSpPr>
            <a:spLocks noGrp="1"/>
          </p:cNvSpPr>
          <p:nvPr/>
        </p:nvSpPr>
        <p:spPr>
          <a:xfrm>
            <a:off x="6353175" y="2524125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(node-&gt;key &lt; key)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code_line_8_4"/>
          <p:cNvSpPr>
            <a:spLocks noGrp="1"/>
          </p:cNvSpPr>
          <p:nvPr/>
        </p:nvSpPr>
        <p:spPr>
          <a:xfrm>
            <a:off x="6353175" y="2762250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code_hl_8_5"/>
          <p:cNvSpPr>
            <a:spLocks noGrp="1"/>
          </p:cNvSpPr>
          <p:nvPr/>
        </p:nvSpPr>
        <p:spPr>
          <a:xfrm>
            <a:off x="6267450" y="3009900"/>
            <a:ext cx="51816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7" name="code_line_8_5"/>
          <p:cNvSpPr>
            <a:spLocks noGrp="1"/>
          </p:cNvSpPr>
          <p:nvPr/>
        </p:nvSpPr>
        <p:spPr>
          <a:xfrm>
            <a:off x="6353175" y="3000375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(node-&gt;right == NULL)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code_line_8_6"/>
          <p:cNvSpPr>
            <a:spLocks noGrp="1"/>
          </p:cNvSpPr>
          <p:nvPr/>
        </p:nvSpPr>
        <p:spPr>
          <a:xfrm>
            <a:off x="6353175" y="3238500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{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code_hl_8_7"/>
          <p:cNvSpPr>
            <a:spLocks noGrp="1"/>
          </p:cNvSpPr>
          <p:nvPr/>
        </p:nvSpPr>
        <p:spPr>
          <a:xfrm>
            <a:off x="6267450" y="3486150"/>
            <a:ext cx="51816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0" name="code_line_8_7"/>
          <p:cNvSpPr>
            <a:spLocks noGrp="1"/>
          </p:cNvSpPr>
          <p:nvPr/>
        </p:nvSpPr>
        <p:spPr>
          <a:xfrm>
            <a:off x="6353175" y="3476625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node-&gt;right = new RBTreeNode(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code_hl_8_8"/>
          <p:cNvSpPr>
            <a:spLocks noGrp="1"/>
          </p:cNvSpPr>
          <p:nvPr/>
        </p:nvSpPr>
        <p:spPr>
          <a:xfrm>
            <a:off x="6267450" y="3724275"/>
            <a:ext cx="51816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2" name="code_line_8_8"/>
          <p:cNvSpPr>
            <a:spLocks noGrp="1"/>
          </p:cNvSpPr>
          <p:nvPr/>
        </p:nvSpPr>
        <p:spPr>
          <a:xfrm>
            <a:off x="6353175" y="3714750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key, node, tree, RED);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3" name="code_hl_8_9"/>
          <p:cNvSpPr>
            <a:spLocks noGrp="1"/>
          </p:cNvSpPr>
          <p:nvPr/>
        </p:nvSpPr>
        <p:spPr>
          <a:xfrm>
            <a:off x="6267450" y="3962400"/>
            <a:ext cx="51816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4" name="code_line_8_9"/>
          <p:cNvSpPr>
            <a:spLocks noGrp="1"/>
          </p:cNvSpPr>
          <p:nvPr/>
        </p:nvSpPr>
        <p:spPr>
          <a:xfrm>
            <a:off x="6353175" y="3952875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adjustInsert(node-&gt;right);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code_line_8_10"/>
          <p:cNvSpPr>
            <a:spLocks noGrp="1"/>
          </p:cNvSpPr>
          <p:nvPr/>
        </p:nvSpPr>
        <p:spPr>
          <a:xfrm>
            <a:off x="6353175" y="4191000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}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code_line_8_11"/>
          <p:cNvSpPr>
            <a:spLocks noGrp="1"/>
          </p:cNvSpPr>
          <p:nvPr/>
        </p:nvSpPr>
        <p:spPr>
          <a:xfrm>
            <a:off x="6353175" y="4429125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9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· 插入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9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新节点为什么先染红：先选择更小、更局部的错误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9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9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9_42"/>
          <p:cNvSpPr>
            <a:spLocks noGrp="1"/>
          </p:cNvSpPr>
          <p:nvPr/>
        </p:nvSpPr>
        <p:spPr>
          <a:xfrm>
            <a:off x="400050" y="1695450"/>
            <a:ext cx="571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如果新节点直接染黑，会发生什么？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9_42"/>
          <p:cNvSpPr>
            <a:spLocks noGrp="1"/>
          </p:cNvSpPr>
          <p:nvPr/>
        </p:nvSpPr>
        <p:spPr>
          <a:xfrm>
            <a:off x="400050" y="2305050"/>
            <a:ext cx="66675" cy="348615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9_42"/>
          <p:cNvSpPr>
            <a:spLocks noGrp="1"/>
          </p:cNvSpPr>
          <p:nvPr/>
        </p:nvSpPr>
        <p:spPr>
          <a:xfrm>
            <a:off x="628650" y="2419350"/>
            <a:ext cx="542925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新节点只出现在一条根到叶子的路径上。把它染黑，相当于这条路径凭空多了一个黑节点，黑高差立刻扩散到更大的子树。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把它染红则不会改变任何路径的黑节点数量。唯一可能出现的新错误，是 parent 也为红，形成局部的红父红子。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红黑树在这里做了一个很重要的选择：不追求“插入瞬间完全正确”，而是主动制造一个位置明确、只涉及 parent / grand / uncle 的局部冲突。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d_insert_edge_g_p"/>
          <p:cNvSpPr>
            <a:spLocks noGrp="1"/>
          </p:cNvSpPr>
          <p:nvPr/>
        </p:nvSpPr>
        <p:spPr>
          <a:xfrm rot="7421404">
            <a:off x="7466410" y="2962275"/>
            <a:ext cx="1545429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0" name="red_insert_edge_g_u"/>
          <p:cNvSpPr>
            <a:spLocks noGrp="1"/>
          </p:cNvSpPr>
          <p:nvPr/>
        </p:nvSpPr>
        <p:spPr>
          <a:xfrm rot="3378596">
            <a:off x="8323660" y="2962275"/>
            <a:ext cx="1545429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red_insert_edge_p_n"/>
          <p:cNvSpPr>
            <a:spLocks noGrp="1"/>
          </p:cNvSpPr>
          <p:nvPr/>
        </p:nvSpPr>
        <p:spPr>
          <a:xfrm rot="6894286">
            <a:off x="6765829" y="4271963"/>
            <a:ext cx="147021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red_insert_g"/>
          <p:cNvSpPr>
            <a:spLocks noGrp="1"/>
          </p:cNvSpPr>
          <p:nvPr/>
        </p:nvSpPr>
        <p:spPr>
          <a:xfrm>
            <a:off x="8429625" y="209550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red_insert_g_label"/>
          <p:cNvSpPr>
            <a:spLocks noGrp="1"/>
          </p:cNvSpPr>
          <p:nvPr/>
        </p:nvSpPr>
        <p:spPr>
          <a:xfrm>
            <a:off x="8467725" y="2209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d_insert_p"/>
          <p:cNvSpPr>
            <a:spLocks noGrp="1"/>
          </p:cNvSpPr>
          <p:nvPr/>
        </p:nvSpPr>
        <p:spPr>
          <a:xfrm>
            <a:off x="7572375" y="3381375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red_insert_p_label"/>
          <p:cNvSpPr>
            <a:spLocks noGrp="1"/>
          </p:cNvSpPr>
          <p:nvPr/>
        </p:nvSpPr>
        <p:spPr>
          <a:xfrm>
            <a:off x="7610475" y="3495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d_insert_u"/>
          <p:cNvSpPr>
            <a:spLocks noGrp="1"/>
          </p:cNvSpPr>
          <p:nvPr/>
        </p:nvSpPr>
        <p:spPr>
          <a:xfrm>
            <a:off x="9286875" y="33813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red_insert_u_label"/>
          <p:cNvSpPr>
            <a:spLocks noGrp="1"/>
          </p:cNvSpPr>
          <p:nvPr/>
        </p:nvSpPr>
        <p:spPr>
          <a:xfrm>
            <a:off x="9324975" y="3495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d_insert_n"/>
          <p:cNvSpPr>
            <a:spLocks noGrp="1"/>
          </p:cNvSpPr>
          <p:nvPr/>
        </p:nvSpPr>
        <p:spPr>
          <a:xfrm>
            <a:off x="6953250" y="4714875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red_insert_n_label"/>
          <p:cNvSpPr>
            <a:spLocks noGrp="1"/>
          </p:cNvSpPr>
          <p:nvPr/>
        </p:nvSpPr>
        <p:spPr>
          <a:xfrm>
            <a:off x="6991350" y="48291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d_conflict"/>
          <p:cNvSpPr>
            <a:spLocks noGrp="1"/>
          </p:cNvSpPr>
          <p:nvPr/>
        </p:nvSpPr>
        <p:spPr>
          <a:xfrm>
            <a:off x="6572250" y="5381625"/>
            <a:ext cx="4095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只新增这一处红红冲突</a:t>
            </a:r>
            <a:endParaRPr sz="15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akeaway_9"/>
          <p:cNvSpPr>
            <a:spLocks noGrp="1"/>
          </p:cNvSpPr>
          <p:nvPr/>
        </p:nvSpPr>
        <p:spPr>
          <a:xfrm>
            <a:off x="1047750" y="5953125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不是避免所有错误，而是把错误压缩到最容易修的一小块。</a:t>
            </a:r>
            <a:endParaRPr sz="1575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10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· 插入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10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adjustInsert 的 node 会向上移动，它不是永远指向新节点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10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10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10_42"/>
          <p:cNvSpPr>
            <a:spLocks noGrp="1"/>
          </p:cNvSpPr>
          <p:nvPr/>
        </p:nvSpPr>
        <p:spPr>
          <a:xfrm>
            <a:off x="400050" y="1695450"/>
            <a:ext cx="552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为什么函数里还要再写 RBTreeNode* node？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10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10_42"/>
          <p:cNvSpPr>
            <a:spLocks noGrp="1"/>
          </p:cNvSpPr>
          <p:nvPr/>
        </p:nvSpPr>
        <p:spPr>
          <a:xfrm>
            <a:off x="628650" y="2419350"/>
            <a:ext cx="523875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insertNode 只是进入函数时的起点。叔叔为红时，parent 和 uncle 一起染黑，grand 染红。当前层的红红冲突虽然消失了，但 grand 可能又和更上面的红色父亲冲突。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所以修复对象已经从“刚插入的节点”变成了 grand。代码写 node = grand; continue;，就是把问题沿祖先链继续向上交付。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如果始终盯着 insertNode，下一轮判断的 parent、grand、uncle 都会来自错误的层级。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_bg_10_665"/>
          <p:cNvSpPr>
            <a:spLocks noGrp="1"/>
          </p:cNvSpPr>
          <p:nvPr/>
        </p:nvSpPr>
        <p:spPr>
          <a:xfrm>
            <a:off x="6334125" y="1714500"/>
            <a:ext cx="5095875" cy="3714750"/>
          </a:xfrm>
          <a:prstGeom prst="rect">
            <a:avLst/>
          </a:prstGeom>
          <a:solidFill>
            <a:srgbClr val="202126"/>
          </a:solidFill>
          <a:ln w="0">
            <a:noFill/>
            <a:prstDash val="solid"/>
          </a:ln>
        </p:spPr>
      </p:sp>
      <p:sp>
        <p:nvSpPr>
          <p:cNvPr id="10" name="code_hl_10_0"/>
          <p:cNvSpPr>
            <a:spLocks noGrp="1"/>
          </p:cNvSpPr>
          <p:nvPr/>
        </p:nvSpPr>
        <p:spPr>
          <a:xfrm>
            <a:off x="6410325" y="1819275"/>
            <a:ext cx="49434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1" name="code_line_10_0"/>
          <p:cNvSpPr>
            <a:spLocks noGrp="1"/>
          </p:cNvSpPr>
          <p:nvPr/>
        </p:nvSpPr>
        <p:spPr>
          <a:xfrm>
            <a:off x="6496050" y="180975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RBTreeNode* node = insertNode;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code_line_10_1"/>
          <p:cNvSpPr>
            <a:spLocks noGrp="1"/>
          </p:cNvSpPr>
          <p:nvPr/>
        </p:nvSpPr>
        <p:spPr>
          <a:xfrm>
            <a:off x="6496050" y="204787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3" name="code_hl_10_2"/>
          <p:cNvSpPr>
            <a:spLocks noGrp="1"/>
          </p:cNvSpPr>
          <p:nvPr/>
        </p:nvSpPr>
        <p:spPr>
          <a:xfrm>
            <a:off x="6410325" y="2295525"/>
            <a:ext cx="49434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4" name="code_line_10_2"/>
          <p:cNvSpPr>
            <a:spLocks noGrp="1"/>
          </p:cNvSpPr>
          <p:nvPr/>
        </p:nvSpPr>
        <p:spPr>
          <a:xfrm>
            <a:off x="6496050" y="228600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while (true)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code_line_10_3"/>
          <p:cNvSpPr>
            <a:spLocks noGrp="1"/>
          </p:cNvSpPr>
          <p:nvPr/>
        </p:nvSpPr>
        <p:spPr>
          <a:xfrm>
            <a:off x="6496050" y="252412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code_line_10_4"/>
          <p:cNvSpPr>
            <a:spLocks noGrp="1"/>
          </p:cNvSpPr>
          <p:nvPr/>
        </p:nvSpPr>
        <p:spPr>
          <a:xfrm>
            <a:off x="6496050" y="276225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(node-&gt;parent == NULL) ...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code_line_10_5"/>
          <p:cNvSpPr>
            <a:spLocks noGrp="1"/>
          </p:cNvSpPr>
          <p:nvPr/>
        </p:nvSpPr>
        <p:spPr>
          <a:xfrm>
            <a:off x="6496050" y="300037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else if (node-&gt;parent-&gt;color == BLACK) ...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code_line_10_6"/>
          <p:cNvSpPr>
            <a:spLocks noGrp="1"/>
          </p:cNvSpPr>
          <p:nvPr/>
        </p:nvSpPr>
        <p:spPr>
          <a:xfrm>
            <a:off x="6496050" y="323850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else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code_line_10_7"/>
          <p:cNvSpPr>
            <a:spLocks noGrp="1"/>
          </p:cNvSpPr>
          <p:nvPr/>
        </p:nvSpPr>
        <p:spPr>
          <a:xfrm>
            <a:off x="6496050" y="347662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{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code_line_10_8"/>
          <p:cNvSpPr>
            <a:spLocks noGrp="1"/>
          </p:cNvSpPr>
          <p:nvPr/>
        </p:nvSpPr>
        <p:spPr>
          <a:xfrm>
            <a:off x="6496050" y="371475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// 处理 uncle 与旋转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code_hl_10_9"/>
          <p:cNvSpPr>
            <a:spLocks noGrp="1"/>
          </p:cNvSpPr>
          <p:nvPr/>
        </p:nvSpPr>
        <p:spPr>
          <a:xfrm>
            <a:off x="6410325" y="3962400"/>
            <a:ext cx="49434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2" name="code_line_10_9"/>
          <p:cNvSpPr>
            <a:spLocks noGrp="1"/>
          </p:cNvSpPr>
          <p:nvPr/>
        </p:nvSpPr>
        <p:spPr>
          <a:xfrm>
            <a:off x="6496050" y="395287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node = grand;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3" name="code_hl_10_10"/>
          <p:cNvSpPr>
            <a:spLocks noGrp="1"/>
          </p:cNvSpPr>
          <p:nvPr/>
        </p:nvSpPr>
        <p:spPr>
          <a:xfrm>
            <a:off x="6410325" y="4200525"/>
            <a:ext cx="49434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4" name="code_line_10_10"/>
          <p:cNvSpPr>
            <a:spLocks noGrp="1"/>
          </p:cNvSpPr>
          <p:nvPr/>
        </p:nvSpPr>
        <p:spPr>
          <a:xfrm>
            <a:off x="6496050" y="419100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continue;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code_line_10_11"/>
          <p:cNvSpPr>
            <a:spLocks noGrp="1"/>
          </p:cNvSpPr>
          <p:nvPr/>
        </p:nvSpPr>
        <p:spPr>
          <a:xfrm>
            <a:off x="6496050" y="442912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}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code_line_10_12"/>
          <p:cNvSpPr>
            <a:spLocks noGrp="1"/>
          </p:cNvSpPr>
          <p:nvPr/>
        </p:nvSpPr>
        <p:spPr>
          <a:xfrm>
            <a:off x="6496050" y="466725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11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· 插入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11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叔叔为红：为什么 parent 和 uncle 必须一起染黑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11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11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efore_panel_11"/>
          <p:cNvSpPr>
            <a:spLocks noGrp="1"/>
          </p:cNvSpPr>
          <p:nvPr/>
        </p:nvSpPr>
        <p:spPr>
          <a:xfrm>
            <a:off x="400050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7" name="after_panel_11"/>
          <p:cNvSpPr>
            <a:spLocks noGrp="1"/>
          </p:cNvSpPr>
          <p:nvPr/>
        </p:nvSpPr>
        <p:spPr>
          <a:xfrm>
            <a:off x="6696075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8" name="before_label_11"/>
          <p:cNvSpPr>
            <a:spLocks noGrp="1"/>
          </p:cNvSpPr>
          <p:nvPr/>
        </p:nvSpPr>
        <p:spPr>
          <a:xfrm>
            <a:off x="590550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处理前：parent 与 uncle 都是红色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fter_label_11"/>
          <p:cNvSpPr>
            <a:spLocks noGrp="1"/>
          </p:cNvSpPr>
          <p:nvPr/>
        </p:nvSpPr>
        <p:spPr>
          <a:xfrm>
            <a:off x="6886575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处理后：两边同时加黑，grand 用红色抵消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efore_11_edge_g_p"/>
          <p:cNvSpPr>
            <a:spLocks noGrp="1"/>
          </p:cNvSpPr>
          <p:nvPr/>
        </p:nvSpPr>
        <p:spPr>
          <a:xfrm rot="7591731">
            <a:off x="1628761" y="3343275"/>
            <a:ext cx="1600228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before_11_edge_g_u"/>
          <p:cNvSpPr>
            <a:spLocks noGrp="1"/>
          </p:cNvSpPr>
          <p:nvPr/>
        </p:nvSpPr>
        <p:spPr>
          <a:xfrm rot="3208269">
            <a:off x="2581261" y="3343275"/>
            <a:ext cx="1600228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before_11_edge_p_n"/>
          <p:cNvSpPr>
            <a:spLocks noGrp="1"/>
          </p:cNvSpPr>
          <p:nvPr/>
        </p:nvSpPr>
        <p:spPr>
          <a:xfrm rot="7053169">
            <a:off x="1049125" y="4533900"/>
            <a:ext cx="1235499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3" name="before_11_g"/>
          <p:cNvSpPr>
            <a:spLocks noGrp="1"/>
          </p:cNvSpPr>
          <p:nvPr/>
        </p:nvSpPr>
        <p:spPr>
          <a:xfrm>
            <a:off x="2667000" y="247650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before_11_g_label"/>
          <p:cNvSpPr>
            <a:spLocks noGrp="1"/>
          </p:cNvSpPr>
          <p:nvPr/>
        </p:nvSpPr>
        <p:spPr>
          <a:xfrm>
            <a:off x="2705100" y="2590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before_11_p"/>
          <p:cNvSpPr>
            <a:spLocks noGrp="1"/>
          </p:cNvSpPr>
          <p:nvPr/>
        </p:nvSpPr>
        <p:spPr>
          <a:xfrm>
            <a:off x="1714500" y="3762375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before_11_p_label"/>
          <p:cNvSpPr>
            <a:spLocks noGrp="1"/>
          </p:cNvSpPr>
          <p:nvPr/>
        </p:nvSpPr>
        <p:spPr>
          <a:xfrm>
            <a:off x="1752600" y="3876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before_11_u"/>
          <p:cNvSpPr>
            <a:spLocks noGrp="1"/>
          </p:cNvSpPr>
          <p:nvPr/>
        </p:nvSpPr>
        <p:spPr>
          <a:xfrm>
            <a:off x="3619500" y="3762375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before_11_u_label"/>
          <p:cNvSpPr>
            <a:spLocks noGrp="1"/>
          </p:cNvSpPr>
          <p:nvPr/>
        </p:nvSpPr>
        <p:spPr>
          <a:xfrm>
            <a:off x="3657600" y="3876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before_11_n"/>
          <p:cNvSpPr>
            <a:spLocks noGrp="1"/>
          </p:cNvSpPr>
          <p:nvPr/>
        </p:nvSpPr>
        <p:spPr>
          <a:xfrm>
            <a:off x="1143000" y="48577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before_11_n_label"/>
          <p:cNvSpPr>
            <a:spLocks noGrp="1"/>
          </p:cNvSpPr>
          <p:nvPr/>
        </p:nvSpPr>
        <p:spPr>
          <a:xfrm>
            <a:off x="1181100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after_11_edge_g_p"/>
          <p:cNvSpPr>
            <a:spLocks noGrp="1"/>
          </p:cNvSpPr>
          <p:nvPr/>
        </p:nvSpPr>
        <p:spPr>
          <a:xfrm rot="7591731">
            <a:off x="7915261" y="3343275"/>
            <a:ext cx="1600228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2" name="after_11_edge_g_u"/>
          <p:cNvSpPr>
            <a:spLocks noGrp="1"/>
          </p:cNvSpPr>
          <p:nvPr/>
        </p:nvSpPr>
        <p:spPr>
          <a:xfrm rot="3208269">
            <a:off x="8867761" y="3343275"/>
            <a:ext cx="1600228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3" name="after_11_edge_p_n"/>
          <p:cNvSpPr>
            <a:spLocks noGrp="1"/>
          </p:cNvSpPr>
          <p:nvPr/>
        </p:nvSpPr>
        <p:spPr>
          <a:xfrm rot="7053169">
            <a:off x="7335625" y="4533900"/>
            <a:ext cx="1235499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4" name="after_11_g"/>
          <p:cNvSpPr>
            <a:spLocks noGrp="1"/>
          </p:cNvSpPr>
          <p:nvPr/>
        </p:nvSpPr>
        <p:spPr>
          <a:xfrm>
            <a:off x="8953500" y="247650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after_11_g_label"/>
          <p:cNvSpPr>
            <a:spLocks noGrp="1"/>
          </p:cNvSpPr>
          <p:nvPr/>
        </p:nvSpPr>
        <p:spPr>
          <a:xfrm>
            <a:off x="8991600" y="2590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after_11_p"/>
          <p:cNvSpPr>
            <a:spLocks noGrp="1"/>
          </p:cNvSpPr>
          <p:nvPr/>
        </p:nvSpPr>
        <p:spPr>
          <a:xfrm>
            <a:off x="8001000" y="37623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after_11_p_label"/>
          <p:cNvSpPr>
            <a:spLocks noGrp="1"/>
          </p:cNvSpPr>
          <p:nvPr/>
        </p:nvSpPr>
        <p:spPr>
          <a:xfrm>
            <a:off x="8039100" y="3876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after_11_u"/>
          <p:cNvSpPr>
            <a:spLocks noGrp="1"/>
          </p:cNvSpPr>
          <p:nvPr/>
        </p:nvSpPr>
        <p:spPr>
          <a:xfrm>
            <a:off x="9906000" y="37623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after_11_u_label"/>
          <p:cNvSpPr>
            <a:spLocks noGrp="1"/>
          </p:cNvSpPr>
          <p:nvPr/>
        </p:nvSpPr>
        <p:spPr>
          <a:xfrm>
            <a:off x="9944100" y="3876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after_11_n"/>
          <p:cNvSpPr>
            <a:spLocks noGrp="1"/>
          </p:cNvSpPr>
          <p:nvPr/>
        </p:nvSpPr>
        <p:spPr>
          <a:xfrm>
            <a:off x="7429500" y="48577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after_11_n_label"/>
          <p:cNvSpPr>
            <a:spLocks noGrp="1"/>
          </p:cNvSpPr>
          <p:nvPr/>
        </p:nvSpPr>
        <p:spPr>
          <a:xfrm>
            <a:off x="7467600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ransition_11_shaft"/>
          <p:cNvSpPr>
            <a:spLocks noGrp="1"/>
          </p:cNvSpPr>
          <p:nvPr/>
        </p:nvSpPr>
        <p:spPr>
          <a:xfrm>
            <a:off x="5810250" y="3600450"/>
            <a:ext cx="5715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33" name="transition_11_head_1"/>
          <p:cNvSpPr>
            <a:spLocks noGrp="1"/>
          </p:cNvSpPr>
          <p:nvPr/>
        </p:nvSpPr>
        <p:spPr>
          <a:xfrm rot="8856000">
            <a:off x="6276347" y="3631073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34" name="transition_11_head_2"/>
          <p:cNvSpPr>
            <a:spLocks noGrp="1"/>
          </p:cNvSpPr>
          <p:nvPr/>
        </p:nvSpPr>
        <p:spPr>
          <a:xfrm rot="-8856000">
            <a:off x="6276347" y="3569827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35" name="transition_caption_11"/>
          <p:cNvSpPr>
            <a:spLocks noGrp="1"/>
          </p:cNvSpPr>
          <p:nvPr/>
        </p:nvSpPr>
        <p:spPr>
          <a:xfrm>
            <a:off x="1714500" y="5772150"/>
            <a:ext cx="876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只染 parent 会让左边黑高增加、右边不变。parent 与 uncle 必须成对变化；grand 再染红，抵消这一层新增的黑色。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12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· 插入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12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折线形态：先旋 parent，是为了把问题变成直线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12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12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efore_panel_12"/>
          <p:cNvSpPr>
            <a:spLocks noGrp="1"/>
          </p:cNvSpPr>
          <p:nvPr/>
        </p:nvSpPr>
        <p:spPr>
          <a:xfrm>
            <a:off x="400050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7" name="after_panel_12"/>
          <p:cNvSpPr>
            <a:spLocks noGrp="1"/>
          </p:cNvSpPr>
          <p:nvPr/>
        </p:nvSpPr>
        <p:spPr>
          <a:xfrm>
            <a:off x="6696075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8" name="before_label_12"/>
          <p:cNvSpPr>
            <a:spLocks noGrp="1"/>
          </p:cNvSpPr>
          <p:nvPr/>
        </p:nvSpPr>
        <p:spPr>
          <a:xfrm>
            <a:off x="590550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RL：node 在 parent 的左边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fter_label_12"/>
          <p:cNvSpPr>
            <a:spLocks noGrp="1"/>
          </p:cNvSpPr>
          <p:nvPr/>
        </p:nvSpPr>
        <p:spPr>
          <a:xfrm>
            <a:off x="6886575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 parent 右旋以后，变成 RR 直线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efore_12_edge_g_p"/>
          <p:cNvSpPr>
            <a:spLocks noGrp="1"/>
          </p:cNvSpPr>
          <p:nvPr/>
        </p:nvSpPr>
        <p:spPr>
          <a:xfrm rot="2919133">
            <a:off x="2397879" y="3248025"/>
            <a:ext cx="158599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before_12_edge_p_n"/>
          <p:cNvSpPr>
            <a:spLocks noGrp="1"/>
          </p:cNvSpPr>
          <p:nvPr/>
        </p:nvSpPr>
        <p:spPr>
          <a:xfrm rot="6993903">
            <a:off x="2790044" y="4414838"/>
            <a:ext cx="1277913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before_12_g"/>
          <p:cNvSpPr>
            <a:spLocks noGrp="1"/>
          </p:cNvSpPr>
          <p:nvPr/>
        </p:nvSpPr>
        <p:spPr>
          <a:xfrm>
            <a:off x="2428875" y="24288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before_12_g_label"/>
          <p:cNvSpPr>
            <a:spLocks noGrp="1"/>
          </p:cNvSpPr>
          <p:nvPr/>
        </p:nvSpPr>
        <p:spPr>
          <a:xfrm>
            <a:off x="2466975" y="25431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before_12_p"/>
          <p:cNvSpPr>
            <a:spLocks noGrp="1"/>
          </p:cNvSpPr>
          <p:nvPr/>
        </p:nvSpPr>
        <p:spPr>
          <a:xfrm>
            <a:off x="3476625" y="361950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before_12_p_label"/>
          <p:cNvSpPr>
            <a:spLocks noGrp="1"/>
          </p:cNvSpPr>
          <p:nvPr/>
        </p:nvSpPr>
        <p:spPr>
          <a:xfrm>
            <a:off x="3514725" y="3733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before_12_n"/>
          <p:cNvSpPr>
            <a:spLocks noGrp="1"/>
          </p:cNvSpPr>
          <p:nvPr/>
        </p:nvSpPr>
        <p:spPr>
          <a:xfrm>
            <a:off x="2905125" y="476250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before_12_n_label"/>
          <p:cNvSpPr>
            <a:spLocks noGrp="1"/>
          </p:cNvSpPr>
          <p:nvPr/>
        </p:nvSpPr>
        <p:spPr>
          <a:xfrm>
            <a:off x="2943225" y="4876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fter_12_edge_g_n"/>
          <p:cNvSpPr>
            <a:spLocks noGrp="1"/>
          </p:cNvSpPr>
          <p:nvPr/>
        </p:nvSpPr>
        <p:spPr>
          <a:xfrm rot="2919133">
            <a:off x="8589129" y="3248025"/>
            <a:ext cx="158599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9" name="after_12_edge_n_p"/>
          <p:cNvSpPr>
            <a:spLocks noGrp="1"/>
          </p:cNvSpPr>
          <p:nvPr/>
        </p:nvSpPr>
        <p:spPr>
          <a:xfrm rot="3806097">
            <a:off x="9552794" y="4414838"/>
            <a:ext cx="1277913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0" name="after_12_g"/>
          <p:cNvSpPr>
            <a:spLocks noGrp="1"/>
          </p:cNvSpPr>
          <p:nvPr/>
        </p:nvSpPr>
        <p:spPr>
          <a:xfrm>
            <a:off x="8620125" y="24288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after_12_g_label"/>
          <p:cNvSpPr>
            <a:spLocks noGrp="1"/>
          </p:cNvSpPr>
          <p:nvPr/>
        </p:nvSpPr>
        <p:spPr>
          <a:xfrm>
            <a:off x="8658225" y="25431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fter_12_n"/>
          <p:cNvSpPr>
            <a:spLocks noGrp="1"/>
          </p:cNvSpPr>
          <p:nvPr/>
        </p:nvSpPr>
        <p:spPr>
          <a:xfrm>
            <a:off x="9667875" y="361950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after_12_n_label"/>
          <p:cNvSpPr>
            <a:spLocks noGrp="1"/>
          </p:cNvSpPr>
          <p:nvPr/>
        </p:nvSpPr>
        <p:spPr>
          <a:xfrm>
            <a:off x="9705975" y="3733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after_12_p"/>
          <p:cNvSpPr>
            <a:spLocks noGrp="1"/>
          </p:cNvSpPr>
          <p:nvPr/>
        </p:nvSpPr>
        <p:spPr>
          <a:xfrm>
            <a:off x="10239375" y="476250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after_12_p_label"/>
          <p:cNvSpPr>
            <a:spLocks noGrp="1"/>
          </p:cNvSpPr>
          <p:nvPr/>
        </p:nvSpPr>
        <p:spPr>
          <a:xfrm>
            <a:off x="10277475" y="4876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ransition_12_shaft"/>
          <p:cNvSpPr>
            <a:spLocks noGrp="1"/>
          </p:cNvSpPr>
          <p:nvPr/>
        </p:nvSpPr>
        <p:spPr>
          <a:xfrm>
            <a:off x="5810250" y="3600450"/>
            <a:ext cx="5715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7" name="transition_12_head_1"/>
          <p:cNvSpPr>
            <a:spLocks noGrp="1"/>
          </p:cNvSpPr>
          <p:nvPr/>
        </p:nvSpPr>
        <p:spPr>
          <a:xfrm rot="8856000">
            <a:off x="6276347" y="3631073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8" name="transition_12_head_2"/>
          <p:cNvSpPr>
            <a:spLocks noGrp="1"/>
          </p:cNvSpPr>
          <p:nvPr/>
        </p:nvSpPr>
        <p:spPr>
          <a:xfrm rot="-8856000">
            <a:off x="6276347" y="3569827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9" name="transition_caption_12"/>
          <p:cNvSpPr>
            <a:spLocks noGrp="1"/>
          </p:cNvSpPr>
          <p:nvPr/>
        </p:nvSpPr>
        <p:spPr>
          <a:xfrm>
            <a:off x="1714500" y="5772150"/>
            <a:ext cx="876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折线不能直接围绕 grand 做最终旋转。先把中间节点 N 转到 P 上面，下一页才可以用一次 grand 左旋收尾。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13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· 插入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13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第一次旋转以后，为什么不能继续相信旧的 parent 和 grand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13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13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13_42"/>
          <p:cNvSpPr>
            <a:spLocks noGrp="1"/>
          </p:cNvSpPr>
          <p:nvPr/>
        </p:nvSpPr>
        <p:spPr>
          <a:xfrm>
            <a:off x="400050" y="1695450"/>
            <a:ext cx="571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变量名不会跟着树形自动改身份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13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13_42"/>
          <p:cNvSpPr>
            <a:spLocks noGrp="1"/>
          </p:cNvSpPr>
          <p:nvPr/>
        </p:nvSpPr>
        <p:spPr>
          <a:xfrm>
            <a:off x="628650" y="2419350"/>
            <a:ext cx="542925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旋转前，局部顺序是 grand → parent → node。围绕 parent 旋转以后，原来的 node 被转到上面，原来的 parent 反而沉到下面。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这时 C++ 变量 parent 仍然保存旧地址，它只是名字叫 parent，已经不一定是当前 node 的真正父亲。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所以代码重新读取 parent = node-&gt;parent；grand = node-&gt;parent-&gt;parent。这里的出发点不是“多写两句更保险”，而是旋转已经改变关系，后续判断必须以仍然可信的 node 为锚点重新观察结构。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_bg_13_665"/>
          <p:cNvSpPr>
            <a:spLocks noGrp="1"/>
          </p:cNvSpPr>
          <p:nvPr/>
        </p:nvSpPr>
        <p:spPr>
          <a:xfrm>
            <a:off x="6334125" y="1809750"/>
            <a:ext cx="5095875" cy="3143250"/>
          </a:xfrm>
          <a:prstGeom prst="rect">
            <a:avLst/>
          </a:prstGeom>
          <a:solidFill>
            <a:srgbClr val="202126"/>
          </a:solidFill>
          <a:ln w="0">
            <a:noFill/>
            <a:prstDash val="solid"/>
          </a:ln>
        </p:spPr>
      </p:sp>
      <p:sp>
        <p:nvSpPr>
          <p:cNvPr id="10" name="code_hl_13_0"/>
          <p:cNvSpPr>
            <a:spLocks noGrp="1"/>
          </p:cNvSpPr>
          <p:nvPr/>
        </p:nvSpPr>
        <p:spPr>
          <a:xfrm>
            <a:off x="6410325" y="1914525"/>
            <a:ext cx="49434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1" name="code_line_13_0"/>
          <p:cNvSpPr>
            <a:spLocks noGrp="1"/>
          </p:cNvSpPr>
          <p:nvPr/>
        </p:nvSpPr>
        <p:spPr>
          <a:xfrm>
            <a:off x="6496050" y="190500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parent-&gt;rightRotate();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code_hl_13_1"/>
          <p:cNvSpPr>
            <a:spLocks noGrp="1"/>
          </p:cNvSpPr>
          <p:nvPr/>
        </p:nvSpPr>
        <p:spPr>
          <a:xfrm>
            <a:off x="6410325" y="2152650"/>
            <a:ext cx="49434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3" name="code_line_13_1"/>
          <p:cNvSpPr>
            <a:spLocks noGrp="1"/>
          </p:cNvSpPr>
          <p:nvPr/>
        </p:nvSpPr>
        <p:spPr>
          <a:xfrm>
            <a:off x="6496050" y="214312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node = node-&gt;right;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code_line_13_2"/>
          <p:cNvSpPr>
            <a:spLocks noGrp="1"/>
          </p:cNvSpPr>
          <p:nvPr/>
        </p:nvSpPr>
        <p:spPr>
          <a:xfrm>
            <a:off x="6496050" y="238125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5" name="code_line_13_3"/>
          <p:cNvSpPr>
            <a:spLocks noGrp="1"/>
          </p:cNvSpPr>
          <p:nvPr/>
        </p:nvSpPr>
        <p:spPr>
          <a:xfrm>
            <a:off x="6496050" y="261937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旧 parent / grand 已经过期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code_hl_13_4"/>
          <p:cNvSpPr>
            <a:spLocks noGrp="1"/>
          </p:cNvSpPr>
          <p:nvPr/>
        </p:nvSpPr>
        <p:spPr>
          <a:xfrm>
            <a:off x="6410325" y="2867025"/>
            <a:ext cx="49434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7" name="code_line_13_4"/>
          <p:cNvSpPr>
            <a:spLocks noGrp="1"/>
          </p:cNvSpPr>
          <p:nvPr/>
        </p:nvSpPr>
        <p:spPr>
          <a:xfrm>
            <a:off x="6496050" y="285750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parent = node-&gt;parent;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code_hl_13_5"/>
          <p:cNvSpPr>
            <a:spLocks noGrp="1"/>
          </p:cNvSpPr>
          <p:nvPr/>
        </p:nvSpPr>
        <p:spPr>
          <a:xfrm>
            <a:off x="6410325" y="3105150"/>
            <a:ext cx="49434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9" name="code_line_13_5"/>
          <p:cNvSpPr>
            <a:spLocks noGrp="1"/>
          </p:cNvSpPr>
          <p:nvPr/>
        </p:nvSpPr>
        <p:spPr>
          <a:xfrm>
            <a:off x="6496050" y="309562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grand = node-&gt;parent-&gt;parent;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code_line_13_6"/>
          <p:cNvSpPr>
            <a:spLocks noGrp="1"/>
          </p:cNvSpPr>
          <p:nvPr/>
        </p:nvSpPr>
        <p:spPr>
          <a:xfrm>
            <a:off x="6496050" y="333375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21" name="code_line_13_7"/>
          <p:cNvSpPr>
            <a:spLocks noGrp="1"/>
          </p:cNvSpPr>
          <p:nvPr/>
        </p:nvSpPr>
        <p:spPr>
          <a:xfrm>
            <a:off x="6496050" y="357187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(node == parent-&gt;left)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code_line_13_8"/>
          <p:cNvSpPr>
            <a:spLocks noGrp="1"/>
          </p:cNvSpPr>
          <p:nvPr/>
        </p:nvSpPr>
        <p:spPr>
          <a:xfrm>
            <a:off x="6496050" y="381000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grand-&gt;rightRotate();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3" name="code_line_13_9"/>
          <p:cNvSpPr>
            <a:spLocks noGrp="1"/>
          </p:cNvSpPr>
          <p:nvPr/>
        </p:nvSpPr>
        <p:spPr>
          <a:xfrm>
            <a:off x="6496050" y="404812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else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code_line_13_10"/>
          <p:cNvSpPr>
            <a:spLocks noGrp="1"/>
          </p:cNvSpPr>
          <p:nvPr/>
        </p:nvSpPr>
        <p:spPr>
          <a:xfrm>
            <a:off x="6496050" y="428625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grand-&gt;leftRotate();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takeaway_13"/>
          <p:cNvSpPr>
            <a:spLocks noGrp="1"/>
          </p:cNvSpPr>
          <p:nvPr/>
        </p:nvSpPr>
        <p:spPr>
          <a:xfrm>
            <a:off x="1047750" y="5953125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旋转之后先重新认亲，再继续改指针。</a:t>
            </a:r>
            <a:endParaRPr sz="1575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14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· 插入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14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直线形态：围绕 grand 旋转，再让 parent 与 grand 换色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14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14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efore_panel_14"/>
          <p:cNvSpPr>
            <a:spLocks noGrp="1"/>
          </p:cNvSpPr>
          <p:nvPr/>
        </p:nvSpPr>
        <p:spPr>
          <a:xfrm>
            <a:off x="400050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7" name="after_panel_14"/>
          <p:cNvSpPr>
            <a:spLocks noGrp="1"/>
          </p:cNvSpPr>
          <p:nvPr/>
        </p:nvSpPr>
        <p:spPr>
          <a:xfrm>
            <a:off x="6696075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8" name="before_label_14"/>
          <p:cNvSpPr>
            <a:spLocks noGrp="1"/>
          </p:cNvSpPr>
          <p:nvPr/>
        </p:nvSpPr>
        <p:spPr>
          <a:xfrm>
            <a:off x="590550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RR 直线：红红冲突仍在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fter_label_14"/>
          <p:cNvSpPr>
            <a:spLocks noGrp="1"/>
          </p:cNvSpPr>
          <p:nvPr/>
        </p:nvSpPr>
        <p:spPr>
          <a:xfrm>
            <a:off x="6886575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grand 左旋：P 上升，G 与 N 分居两侧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efore_14_edge_g_p"/>
          <p:cNvSpPr>
            <a:spLocks noGrp="1"/>
          </p:cNvSpPr>
          <p:nvPr/>
        </p:nvSpPr>
        <p:spPr>
          <a:xfrm rot="3127501">
            <a:off x="2019175" y="3200400"/>
            <a:ext cx="1629026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before_14_edge_p_n"/>
          <p:cNvSpPr>
            <a:spLocks noGrp="1"/>
          </p:cNvSpPr>
          <p:nvPr/>
        </p:nvSpPr>
        <p:spPr>
          <a:xfrm rot="3254767">
            <a:off x="3028811" y="4438650"/>
            <a:ext cx="1467128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before_14_g"/>
          <p:cNvSpPr>
            <a:spLocks noGrp="1"/>
          </p:cNvSpPr>
          <p:nvPr/>
        </p:nvSpPr>
        <p:spPr>
          <a:xfrm>
            <a:off x="2095500" y="2333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before_14_g_label"/>
          <p:cNvSpPr>
            <a:spLocks noGrp="1"/>
          </p:cNvSpPr>
          <p:nvPr/>
        </p:nvSpPr>
        <p:spPr>
          <a:xfrm>
            <a:off x="2133600" y="2447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before_14_p"/>
          <p:cNvSpPr>
            <a:spLocks noGrp="1"/>
          </p:cNvSpPr>
          <p:nvPr/>
        </p:nvSpPr>
        <p:spPr>
          <a:xfrm>
            <a:off x="3095625" y="361950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before_14_p_label"/>
          <p:cNvSpPr>
            <a:spLocks noGrp="1"/>
          </p:cNvSpPr>
          <p:nvPr/>
        </p:nvSpPr>
        <p:spPr>
          <a:xfrm>
            <a:off x="3133725" y="3733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before_14_n"/>
          <p:cNvSpPr>
            <a:spLocks noGrp="1"/>
          </p:cNvSpPr>
          <p:nvPr/>
        </p:nvSpPr>
        <p:spPr>
          <a:xfrm>
            <a:off x="3952875" y="4810125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before_14_n_label"/>
          <p:cNvSpPr>
            <a:spLocks noGrp="1"/>
          </p:cNvSpPr>
          <p:nvPr/>
        </p:nvSpPr>
        <p:spPr>
          <a:xfrm>
            <a:off x="3990975" y="49244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fter_14_edge_p_g"/>
          <p:cNvSpPr>
            <a:spLocks noGrp="1"/>
          </p:cNvSpPr>
          <p:nvPr/>
        </p:nvSpPr>
        <p:spPr>
          <a:xfrm rot="7521748">
            <a:off x="7810187" y="3581400"/>
            <a:ext cx="181037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9" name="after_14_edge_p_n"/>
          <p:cNvSpPr>
            <a:spLocks noGrp="1"/>
          </p:cNvSpPr>
          <p:nvPr/>
        </p:nvSpPr>
        <p:spPr>
          <a:xfrm rot="3278252">
            <a:off x="8857937" y="3581400"/>
            <a:ext cx="181037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0" name="after_14_p"/>
          <p:cNvSpPr>
            <a:spLocks noGrp="1"/>
          </p:cNvSpPr>
          <p:nvPr/>
        </p:nvSpPr>
        <p:spPr>
          <a:xfrm>
            <a:off x="9001125" y="26193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after_14_p_label"/>
          <p:cNvSpPr>
            <a:spLocks noGrp="1"/>
          </p:cNvSpPr>
          <p:nvPr/>
        </p:nvSpPr>
        <p:spPr>
          <a:xfrm>
            <a:off x="9039225" y="2733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fter_14_g"/>
          <p:cNvSpPr>
            <a:spLocks noGrp="1"/>
          </p:cNvSpPr>
          <p:nvPr/>
        </p:nvSpPr>
        <p:spPr>
          <a:xfrm>
            <a:off x="7953375" y="40957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after_14_g_label"/>
          <p:cNvSpPr>
            <a:spLocks noGrp="1"/>
          </p:cNvSpPr>
          <p:nvPr/>
        </p:nvSpPr>
        <p:spPr>
          <a:xfrm>
            <a:off x="7991475" y="4210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after_14_n"/>
          <p:cNvSpPr>
            <a:spLocks noGrp="1"/>
          </p:cNvSpPr>
          <p:nvPr/>
        </p:nvSpPr>
        <p:spPr>
          <a:xfrm>
            <a:off x="10048875" y="40957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after_14_n_label"/>
          <p:cNvSpPr>
            <a:spLocks noGrp="1"/>
          </p:cNvSpPr>
          <p:nvPr/>
        </p:nvSpPr>
        <p:spPr>
          <a:xfrm>
            <a:off x="10086975" y="4210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ransition_14_shaft"/>
          <p:cNvSpPr>
            <a:spLocks noGrp="1"/>
          </p:cNvSpPr>
          <p:nvPr/>
        </p:nvSpPr>
        <p:spPr>
          <a:xfrm>
            <a:off x="5810250" y="3600450"/>
            <a:ext cx="5715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7" name="transition_14_head_1"/>
          <p:cNvSpPr>
            <a:spLocks noGrp="1"/>
          </p:cNvSpPr>
          <p:nvPr/>
        </p:nvSpPr>
        <p:spPr>
          <a:xfrm rot="8856000">
            <a:off x="6276347" y="3631073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8" name="transition_14_head_2"/>
          <p:cNvSpPr>
            <a:spLocks noGrp="1"/>
          </p:cNvSpPr>
          <p:nvPr/>
        </p:nvSpPr>
        <p:spPr>
          <a:xfrm rot="-8856000">
            <a:off x="6276347" y="3569827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9" name="transition_caption_14"/>
          <p:cNvSpPr>
            <a:spLocks noGrp="1"/>
          </p:cNvSpPr>
          <p:nvPr/>
        </p:nvSpPr>
        <p:spPr>
          <a:xfrm>
            <a:off x="1714500" y="5772150"/>
            <a:ext cx="876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结构旋转解决“谁在中间”，颜色交换解决红红冲突。P 染黑、G 染红以后，局部根到两侧的黑高仍然相等。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15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· 旋转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15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leftRotate 第一步：先接住中间子树，绝对不能先覆盖 root-&gt;left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15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15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efore_panel_15"/>
          <p:cNvSpPr>
            <a:spLocks noGrp="1"/>
          </p:cNvSpPr>
          <p:nvPr/>
        </p:nvSpPr>
        <p:spPr>
          <a:xfrm>
            <a:off x="400050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7" name="after_panel_15"/>
          <p:cNvSpPr>
            <a:spLocks noGrp="1"/>
          </p:cNvSpPr>
          <p:nvPr/>
        </p:nvSpPr>
        <p:spPr>
          <a:xfrm>
            <a:off x="6696075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8" name="before_label_15"/>
          <p:cNvSpPr>
            <a:spLocks noGrp="1"/>
          </p:cNvSpPr>
          <p:nvPr/>
        </p:nvSpPr>
        <p:spPr>
          <a:xfrm>
            <a:off x="590550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旋转前：Y 的左子树 β 位于 X 与 Y 之间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fter_label_15"/>
          <p:cNvSpPr>
            <a:spLocks noGrp="1"/>
          </p:cNvSpPr>
          <p:nvPr/>
        </p:nvSpPr>
        <p:spPr>
          <a:xfrm>
            <a:off x="6886575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旋转后：β 只能改挂到 X 的右边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efore_15_edge_x_y"/>
          <p:cNvSpPr>
            <a:spLocks noGrp="1"/>
          </p:cNvSpPr>
          <p:nvPr/>
        </p:nvSpPr>
        <p:spPr>
          <a:xfrm rot="2105749">
            <a:off x="1947346" y="3319463"/>
            <a:ext cx="2153682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before_15_edge_y_b"/>
          <p:cNvSpPr>
            <a:spLocks noGrp="1"/>
          </p:cNvSpPr>
          <p:nvPr/>
        </p:nvSpPr>
        <p:spPr>
          <a:xfrm rot="7215386">
            <a:off x="2910247" y="4510088"/>
            <a:ext cx="1323255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before_15_edge_y_g"/>
          <p:cNvSpPr>
            <a:spLocks noGrp="1"/>
          </p:cNvSpPr>
          <p:nvPr/>
        </p:nvSpPr>
        <p:spPr>
          <a:xfrm rot="3479677">
            <a:off x="3588497" y="4510088"/>
            <a:ext cx="1347880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3" name="before_15_x"/>
          <p:cNvSpPr>
            <a:spLocks noGrp="1"/>
          </p:cNvSpPr>
          <p:nvPr/>
        </p:nvSpPr>
        <p:spPr>
          <a:xfrm>
            <a:off x="1905000" y="247650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before_15_x_label"/>
          <p:cNvSpPr>
            <a:spLocks noGrp="1"/>
          </p:cNvSpPr>
          <p:nvPr/>
        </p:nvSpPr>
        <p:spPr>
          <a:xfrm>
            <a:off x="1943100" y="2590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before_15_y"/>
          <p:cNvSpPr>
            <a:spLocks noGrp="1"/>
          </p:cNvSpPr>
          <p:nvPr/>
        </p:nvSpPr>
        <p:spPr>
          <a:xfrm>
            <a:off x="3667125" y="37147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before_15_y_label"/>
          <p:cNvSpPr>
            <a:spLocks noGrp="1"/>
          </p:cNvSpPr>
          <p:nvPr/>
        </p:nvSpPr>
        <p:spPr>
          <a:xfrm>
            <a:off x="3705225" y="3829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before_15_b"/>
          <p:cNvSpPr>
            <a:spLocks noGrp="1"/>
          </p:cNvSpPr>
          <p:nvPr/>
        </p:nvSpPr>
        <p:spPr>
          <a:xfrm>
            <a:off x="3000375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before_15_b_label"/>
          <p:cNvSpPr>
            <a:spLocks noGrp="1"/>
          </p:cNvSpPr>
          <p:nvPr/>
        </p:nvSpPr>
        <p:spPr>
          <a:xfrm>
            <a:off x="303847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β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before_15_g"/>
          <p:cNvSpPr>
            <a:spLocks noGrp="1"/>
          </p:cNvSpPr>
          <p:nvPr/>
        </p:nvSpPr>
        <p:spPr>
          <a:xfrm>
            <a:off x="4381500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before_15_g_label"/>
          <p:cNvSpPr>
            <a:spLocks noGrp="1"/>
          </p:cNvSpPr>
          <p:nvPr/>
        </p:nvSpPr>
        <p:spPr>
          <a:xfrm>
            <a:off x="4419600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γ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after_15_edge_y_x"/>
          <p:cNvSpPr>
            <a:spLocks noGrp="1"/>
          </p:cNvSpPr>
          <p:nvPr/>
        </p:nvSpPr>
        <p:spPr>
          <a:xfrm rot="8160305">
            <a:off x="7684025" y="3367088"/>
            <a:ext cx="1919825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2" name="after_15_edge_y_g"/>
          <p:cNvSpPr>
            <a:spLocks noGrp="1"/>
          </p:cNvSpPr>
          <p:nvPr/>
        </p:nvSpPr>
        <p:spPr>
          <a:xfrm rot="2639695">
            <a:off x="9065150" y="3367088"/>
            <a:ext cx="1919825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3" name="after_15_edge_x_b"/>
          <p:cNvSpPr>
            <a:spLocks noGrp="1"/>
          </p:cNvSpPr>
          <p:nvPr/>
        </p:nvSpPr>
        <p:spPr>
          <a:xfrm rot="3565246">
            <a:off x="7654436" y="4557713"/>
            <a:ext cx="1217003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4" name="after_15_y"/>
          <p:cNvSpPr>
            <a:spLocks noGrp="1"/>
          </p:cNvSpPr>
          <p:nvPr/>
        </p:nvSpPr>
        <p:spPr>
          <a:xfrm>
            <a:off x="9096375" y="247650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after_15_y_label"/>
          <p:cNvSpPr>
            <a:spLocks noGrp="1"/>
          </p:cNvSpPr>
          <p:nvPr/>
        </p:nvSpPr>
        <p:spPr>
          <a:xfrm>
            <a:off x="9134475" y="2590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after_15_x"/>
          <p:cNvSpPr>
            <a:spLocks noGrp="1"/>
          </p:cNvSpPr>
          <p:nvPr/>
        </p:nvSpPr>
        <p:spPr>
          <a:xfrm>
            <a:off x="7715250" y="381000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after_15_x_label"/>
          <p:cNvSpPr>
            <a:spLocks noGrp="1"/>
          </p:cNvSpPr>
          <p:nvPr/>
        </p:nvSpPr>
        <p:spPr>
          <a:xfrm>
            <a:off x="7753350" y="39243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after_15_g"/>
          <p:cNvSpPr>
            <a:spLocks noGrp="1"/>
          </p:cNvSpPr>
          <p:nvPr/>
        </p:nvSpPr>
        <p:spPr>
          <a:xfrm>
            <a:off x="10477500" y="381000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after_15_g_label"/>
          <p:cNvSpPr>
            <a:spLocks noGrp="1"/>
          </p:cNvSpPr>
          <p:nvPr/>
        </p:nvSpPr>
        <p:spPr>
          <a:xfrm>
            <a:off x="10515600" y="39243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γ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after_15_b"/>
          <p:cNvSpPr>
            <a:spLocks noGrp="1"/>
          </p:cNvSpPr>
          <p:nvPr/>
        </p:nvSpPr>
        <p:spPr>
          <a:xfrm>
            <a:off x="8334375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after_15_b_label"/>
          <p:cNvSpPr>
            <a:spLocks noGrp="1"/>
          </p:cNvSpPr>
          <p:nvPr/>
        </p:nvSpPr>
        <p:spPr>
          <a:xfrm>
            <a:off x="837247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β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ransition_15_shaft"/>
          <p:cNvSpPr>
            <a:spLocks noGrp="1"/>
          </p:cNvSpPr>
          <p:nvPr/>
        </p:nvSpPr>
        <p:spPr>
          <a:xfrm>
            <a:off x="5810250" y="3600450"/>
            <a:ext cx="5715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33" name="transition_15_head_1"/>
          <p:cNvSpPr>
            <a:spLocks noGrp="1"/>
          </p:cNvSpPr>
          <p:nvPr/>
        </p:nvSpPr>
        <p:spPr>
          <a:xfrm rot="8856000">
            <a:off x="6276347" y="3631073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34" name="transition_15_head_2"/>
          <p:cNvSpPr>
            <a:spLocks noGrp="1"/>
          </p:cNvSpPr>
          <p:nvPr/>
        </p:nvSpPr>
        <p:spPr>
          <a:xfrm rot="-8856000">
            <a:off x="6276347" y="3569827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35" name="transition_caption_15"/>
          <p:cNvSpPr>
            <a:spLocks noGrp="1"/>
          </p:cNvSpPr>
          <p:nvPr/>
        </p:nvSpPr>
        <p:spPr>
          <a:xfrm>
            <a:off x="1714500" y="5772150"/>
            <a:ext cx="876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先执行 this-&gt;right = root-&gt;left，再执行 root-&gt;left = this。顺序反过来，β 的入口会被覆盖，整棵中间子树就找不回来了。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16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· 旋转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16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leftRotate 还没结束：局部内部正确，不代表外部仍然连得上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16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16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16_42"/>
          <p:cNvSpPr>
            <a:spLocks noGrp="1"/>
          </p:cNvSpPr>
          <p:nvPr/>
        </p:nvSpPr>
        <p:spPr>
          <a:xfrm>
            <a:off x="400050" y="1695450"/>
            <a:ext cx="571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旋转至少要补三座桥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16_42"/>
          <p:cNvSpPr>
            <a:spLocks noGrp="1"/>
          </p:cNvSpPr>
          <p:nvPr/>
        </p:nvSpPr>
        <p:spPr>
          <a:xfrm>
            <a:off x="400050" y="2305050"/>
            <a:ext cx="66675" cy="372427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16_42"/>
          <p:cNvSpPr>
            <a:spLocks noGrp="1"/>
          </p:cNvSpPr>
          <p:nvPr/>
        </p:nvSpPr>
        <p:spPr>
          <a:xfrm>
            <a:off x="628650" y="2419350"/>
            <a:ext cx="5429250" cy="3571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第一座桥是中间子树 β：它从 Y 的左边改挂到 X 的右边，β-&gt;parent 也要改成 X。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第二座桥是外部父亲：旋转前外部指向 X，旋转后必须改为指向 Y。否则局部内部看起来正确，但从整棵树的 root 向下根本走不到新局部根。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第三座桥是 X 与 Y 的 parent：Y 继承 X 原来的 parent，X 的 parent 改成 Y。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最后，如果 Y 已经没有 parent，说明它同时成了总根，还必须写 tree-&gt;root = Y。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_bg_16_665"/>
          <p:cNvSpPr>
            <a:spLocks noGrp="1"/>
          </p:cNvSpPr>
          <p:nvPr/>
        </p:nvSpPr>
        <p:spPr>
          <a:xfrm>
            <a:off x="6334125" y="1714500"/>
            <a:ext cx="5095875" cy="3667125"/>
          </a:xfrm>
          <a:prstGeom prst="rect">
            <a:avLst/>
          </a:prstGeom>
          <a:solidFill>
            <a:srgbClr val="202126"/>
          </a:solidFill>
          <a:ln w="0">
            <a:noFill/>
            <a:prstDash val="solid"/>
          </a:ln>
        </p:spPr>
      </p:sp>
      <p:sp>
        <p:nvSpPr>
          <p:cNvPr id="10" name="code_hl_16_0"/>
          <p:cNvSpPr>
            <a:spLocks noGrp="1"/>
          </p:cNvSpPr>
          <p:nvPr/>
        </p:nvSpPr>
        <p:spPr>
          <a:xfrm>
            <a:off x="6410325" y="1819275"/>
            <a:ext cx="49434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1" name="code_line_16_0"/>
          <p:cNvSpPr>
            <a:spLocks noGrp="1"/>
          </p:cNvSpPr>
          <p:nvPr/>
        </p:nvSpPr>
        <p:spPr>
          <a:xfrm>
            <a:off x="6496050" y="180975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root-&gt;parent = this-&gt;parent;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code_line_16_1"/>
          <p:cNvSpPr>
            <a:spLocks noGrp="1"/>
          </p:cNvSpPr>
          <p:nvPr/>
        </p:nvSpPr>
        <p:spPr>
          <a:xfrm>
            <a:off x="6496050" y="204787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3" name="code_hl_16_2"/>
          <p:cNvSpPr>
            <a:spLocks noGrp="1"/>
          </p:cNvSpPr>
          <p:nvPr/>
        </p:nvSpPr>
        <p:spPr>
          <a:xfrm>
            <a:off x="6410325" y="2295525"/>
            <a:ext cx="49434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4" name="code_line_16_2"/>
          <p:cNvSpPr>
            <a:spLocks noGrp="1"/>
          </p:cNvSpPr>
          <p:nvPr/>
        </p:nvSpPr>
        <p:spPr>
          <a:xfrm>
            <a:off x="6496050" y="228600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(this-&gt;parent != NULL)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code_line_16_3"/>
          <p:cNvSpPr>
            <a:spLocks noGrp="1"/>
          </p:cNvSpPr>
          <p:nvPr/>
        </p:nvSpPr>
        <p:spPr>
          <a:xfrm>
            <a:off x="6496050" y="252412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code_line_16_4"/>
          <p:cNvSpPr>
            <a:spLocks noGrp="1"/>
          </p:cNvSpPr>
          <p:nvPr/>
        </p:nvSpPr>
        <p:spPr>
          <a:xfrm>
            <a:off x="6496050" y="276225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(this-&gt;parent-&gt;left == this)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code_hl_16_5"/>
          <p:cNvSpPr>
            <a:spLocks noGrp="1"/>
          </p:cNvSpPr>
          <p:nvPr/>
        </p:nvSpPr>
        <p:spPr>
          <a:xfrm>
            <a:off x="6410325" y="3009900"/>
            <a:ext cx="49434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8" name="code_line_16_5"/>
          <p:cNvSpPr>
            <a:spLocks noGrp="1"/>
          </p:cNvSpPr>
          <p:nvPr/>
        </p:nvSpPr>
        <p:spPr>
          <a:xfrm>
            <a:off x="6496050" y="300037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this-&gt;parent-&gt;left = root;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code_line_16_6"/>
          <p:cNvSpPr>
            <a:spLocks noGrp="1"/>
          </p:cNvSpPr>
          <p:nvPr/>
        </p:nvSpPr>
        <p:spPr>
          <a:xfrm>
            <a:off x="6496050" y="323850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else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code_hl_16_7"/>
          <p:cNvSpPr>
            <a:spLocks noGrp="1"/>
          </p:cNvSpPr>
          <p:nvPr/>
        </p:nvSpPr>
        <p:spPr>
          <a:xfrm>
            <a:off x="6410325" y="3486150"/>
            <a:ext cx="49434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1" name="code_line_16_7"/>
          <p:cNvSpPr>
            <a:spLocks noGrp="1"/>
          </p:cNvSpPr>
          <p:nvPr/>
        </p:nvSpPr>
        <p:spPr>
          <a:xfrm>
            <a:off x="6496050" y="347662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this-&gt;parent-&gt;right = root;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code_line_16_8"/>
          <p:cNvSpPr>
            <a:spLocks noGrp="1"/>
          </p:cNvSpPr>
          <p:nvPr/>
        </p:nvSpPr>
        <p:spPr>
          <a:xfrm>
            <a:off x="6496050" y="371475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3" name="code_line_16_9"/>
          <p:cNvSpPr>
            <a:spLocks noGrp="1"/>
          </p:cNvSpPr>
          <p:nvPr/>
        </p:nvSpPr>
        <p:spPr>
          <a:xfrm>
            <a:off x="6496050" y="395287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24" name="code_hl_16_10"/>
          <p:cNvSpPr>
            <a:spLocks noGrp="1"/>
          </p:cNvSpPr>
          <p:nvPr/>
        </p:nvSpPr>
        <p:spPr>
          <a:xfrm>
            <a:off x="6410325" y="4200525"/>
            <a:ext cx="49434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5" name="code_line_16_10"/>
          <p:cNvSpPr>
            <a:spLocks noGrp="1"/>
          </p:cNvSpPr>
          <p:nvPr/>
        </p:nvSpPr>
        <p:spPr>
          <a:xfrm>
            <a:off x="6496050" y="419100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this-&gt;parent = root;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code_hl_16_11"/>
          <p:cNvSpPr>
            <a:spLocks noGrp="1"/>
          </p:cNvSpPr>
          <p:nvPr/>
        </p:nvSpPr>
        <p:spPr>
          <a:xfrm>
            <a:off x="6410325" y="4438650"/>
            <a:ext cx="49434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7" name="code_line_16_11"/>
          <p:cNvSpPr>
            <a:spLocks noGrp="1"/>
          </p:cNvSpPr>
          <p:nvPr/>
        </p:nvSpPr>
        <p:spPr>
          <a:xfrm>
            <a:off x="6496050" y="4429125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(root-&gt;parent == NULL)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8" name="code_hl_16_12"/>
          <p:cNvSpPr>
            <a:spLocks noGrp="1"/>
          </p:cNvSpPr>
          <p:nvPr/>
        </p:nvSpPr>
        <p:spPr>
          <a:xfrm>
            <a:off x="6410325" y="4676775"/>
            <a:ext cx="49434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9" name="code_line_16_12"/>
          <p:cNvSpPr>
            <a:spLocks noGrp="1"/>
          </p:cNvSpPr>
          <p:nvPr/>
        </p:nvSpPr>
        <p:spPr>
          <a:xfrm>
            <a:off x="6496050" y="4667250"/>
            <a:ext cx="481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tree-&gt;root = root;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17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· 旋转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17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rightRotate 不是另一套算法，它是 leftRotate 的严格镜像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17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17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efore_panel_17"/>
          <p:cNvSpPr>
            <a:spLocks noGrp="1"/>
          </p:cNvSpPr>
          <p:nvPr/>
        </p:nvSpPr>
        <p:spPr>
          <a:xfrm>
            <a:off x="400050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7" name="after_panel_17"/>
          <p:cNvSpPr>
            <a:spLocks noGrp="1"/>
          </p:cNvSpPr>
          <p:nvPr/>
        </p:nvSpPr>
        <p:spPr>
          <a:xfrm>
            <a:off x="6696075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8" name="before_label_17"/>
          <p:cNvSpPr>
            <a:spLocks noGrp="1"/>
          </p:cNvSpPr>
          <p:nvPr/>
        </p:nvSpPr>
        <p:spPr>
          <a:xfrm>
            <a:off x="590550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右旋前：Y 的右子树 β 位于 Y 与 X 之间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fter_label_17"/>
          <p:cNvSpPr>
            <a:spLocks noGrp="1"/>
          </p:cNvSpPr>
          <p:nvPr/>
        </p:nvSpPr>
        <p:spPr>
          <a:xfrm>
            <a:off x="6886575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右旋后：β 改挂到 X 的左边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efore_17_edge_x_y"/>
          <p:cNvSpPr>
            <a:spLocks noGrp="1"/>
          </p:cNvSpPr>
          <p:nvPr/>
        </p:nvSpPr>
        <p:spPr>
          <a:xfrm rot="8321483">
            <a:off x="1882812" y="3295650"/>
            <a:ext cx="2092250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before_17_edge_y_b"/>
          <p:cNvSpPr>
            <a:spLocks noGrp="1"/>
          </p:cNvSpPr>
          <p:nvPr/>
        </p:nvSpPr>
        <p:spPr>
          <a:xfrm rot="3413319">
            <a:off x="1846444" y="4533900"/>
            <a:ext cx="1307738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before_17_x"/>
          <p:cNvSpPr>
            <a:spLocks noGrp="1"/>
          </p:cNvSpPr>
          <p:nvPr/>
        </p:nvSpPr>
        <p:spPr>
          <a:xfrm>
            <a:off x="3476625" y="23812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before_17_x_label"/>
          <p:cNvSpPr>
            <a:spLocks noGrp="1"/>
          </p:cNvSpPr>
          <p:nvPr/>
        </p:nvSpPr>
        <p:spPr>
          <a:xfrm>
            <a:off x="3514725" y="2495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before_17_y"/>
          <p:cNvSpPr>
            <a:spLocks noGrp="1"/>
          </p:cNvSpPr>
          <p:nvPr/>
        </p:nvSpPr>
        <p:spPr>
          <a:xfrm>
            <a:off x="1905000" y="3762375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before_17_y_label"/>
          <p:cNvSpPr>
            <a:spLocks noGrp="1"/>
          </p:cNvSpPr>
          <p:nvPr/>
        </p:nvSpPr>
        <p:spPr>
          <a:xfrm>
            <a:off x="1943100" y="3876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before_17_b"/>
          <p:cNvSpPr>
            <a:spLocks noGrp="1"/>
          </p:cNvSpPr>
          <p:nvPr/>
        </p:nvSpPr>
        <p:spPr>
          <a:xfrm>
            <a:off x="2619375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before_17_b_label"/>
          <p:cNvSpPr>
            <a:spLocks noGrp="1"/>
          </p:cNvSpPr>
          <p:nvPr/>
        </p:nvSpPr>
        <p:spPr>
          <a:xfrm>
            <a:off x="265747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β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fter_17_edge_y_x"/>
          <p:cNvSpPr>
            <a:spLocks noGrp="1"/>
          </p:cNvSpPr>
          <p:nvPr/>
        </p:nvSpPr>
        <p:spPr>
          <a:xfrm rot="2378650">
            <a:off x="8085456" y="3295650"/>
            <a:ext cx="2164712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9" name="after_17_edge_x_b"/>
          <p:cNvSpPr>
            <a:spLocks noGrp="1"/>
          </p:cNvSpPr>
          <p:nvPr/>
        </p:nvSpPr>
        <p:spPr>
          <a:xfrm rot="7386681">
            <a:off x="8990194" y="4533900"/>
            <a:ext cx="1307738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0" name="after_17_y"/>
          <p:cNvSpPr>
            <a:spLocks noGrp="1"/>
          </p:cNvSpPr>
          <p:nvPr/>
        </p:nvSpPr>
        <p:spPr>
          <a:xfrm>
            <a:off x="8096250" y="23812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after_17_y_label"/>
          <p:cNvSpPr>
            <a:spLocks noGrp="1"/>
          </p:cNvSpPr>
          <p:nvPr/>
        </p:nvSpPr>
        <p:spPr>
          <a:xfrm>
            <a:off x="8134350" y="2495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fter_17_x"/>
          <p:cNvSpPr>
            <a:spLocks noGrp="1"/>
          </p:cNvSpPr>
          <p:nvPr/>
        </p:nvSpPr>
        <p:spPr>
          <a:xfrm>
            <a:off x="9763125" y="37623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after_17_x_label"/>
          <p:cNvSpPr>
            <a:spLocks noGrp="1"/>
          </p:cNvSpPr>
          <p:nvPr/>
        </p:nvSpPr>
        <p:spPr>
          <a:xfrm>
            <a:off x="9801225" y="3876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after_17_b"/>
          <p:cNvSpPr>
            <a:spLocks noGrp="1"/>
          </p:cNvSpPr>
          <p:nvPr/>
        </p:nvSpPr>
        <p:spPr>
          <a:xfrm>
            <a:off x="9048750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after_17_b_label"/>
          <p:cNvSpPr>
            <a:spLocks noGrp="1"/>
          </p:cNvSpPr>
          <p:nvPr/>
        </p:nvSpPr>
        <p:spPr>
          <a:xfrm>
            <a:off x="9086850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β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ransition_17_shaft"/>
          <p:cNvSpPr>
            <a:spLocks noGrp="1"/>
          </p:cNvSpPr>
          <p:nvPr/>
        </p:nvSpPr>
        <p:spPr>
          <a:xfrm>
            <a:off x="5810250" y="3600450"/>
            <a:ext cx="5715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7" name="transition_17_head_1"/>
          <p:cNvSpPr>
            <a:spLocks noGrp="1"/>
          </p:cNvSpPr>
          <p:nvPr/>
        </p:nvSpPr>
        <p:spPr>
          <a:xfrm rot="8856000">
            <a:off x="6276347" y="3631073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8" name="transition_17_head_2"/>
          <p:cNvSpPr>
            <a:spLocks noGrp="1"/>
          </p:cNvSpPr>
          <p:nvPr/>
        </p:nvSpPr>
        <p:spPr>
          <a:xfrm rot="-8856000">
            <a:off x="6276347" y="3569827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9" name="transition_caption_17"/>
          <p:cNvSpPr>
            <a:spLocks noGrp="1"/>
          </p:cNvSpPr>
          <p:nvPr/>
        </p:nvSpPr>
        <p:spPr>
          <a:xfrm>
            <a:off x="1714500" y="5772150"/>
            <a:ext cx="876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理论上把 left 与 right 全部交换就能得到右旋，但代码很容易只换一半。因此测试必须准备左右镜像案例，专门抓中间子树方向或外部父指针写反。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18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· 删除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18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remove 的第一件事：分清 this 与真正要 delete 的 node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18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18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18_42"/>
          <p:cNvSpPr>
            <a:spLocks noGrp="1"/>
          </p:cNvSpPr>
          <p:nvPr/>
        </p:nvSpPr>
        <p:spPr>
          <a:xfrm>
            <a:off x="400050" y="1695450"/>
            <a:ext cx="571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删除两个孩子的节点为什么最麻烦？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18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18_42"/>
          <p:cNvSpPr>
            <a:spLocks noGrp="1"/>
          </p:cNvSpPr>
          <p:nvPr/>
        </p:nvSpPr>
        <p:spPr>
          <a:xfrm>
            <a:off x="628650" y="2419350"/>
            <a:ext cx="542925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因为它左右两边都还保存着有效子树。直接把这个节点从父亲下面摘掉，至少有一边会失去入口。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代码没有交换完整节点，而是去右子树一路向左，找到中序后继。后继是右子树最小值，因此不可能再有左孩子；它最多只有一个右孩子。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然后只把后继 key 复制到 this。对外看，目标 key 已经消失；对内看，真正需要从指针结构中摘掉的 node 已被降维成“至多一个孩子”。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_bg_18_665"/>
          <p:cNvSpPr>
            <a:spLocks noGrp="1"/>
          </p:cNvSpPr>
          <p:nvPr/>
        </p:nvSpPr>
        <p:spPr>
          <a:xfrm>
            <a:off x="6334125" y="1809750"/>
            <a:ext cx="5000625" cy="2857500"/>
          </a:xfrm>
          <a:prstGeom prst="rect">
            <a:avLst/>
          </a:prstGeom>
          <a:solidFill>
            <a:srgbClr val="202126"/>
          </a:solidFill>
          <a:ln w="0">
            <a:noFill/>
            <a:prstDash val="solid"/>
          </a:ln>
        </p:spPr>
      </p:sp>
      <p:sp>
        <p:nvSpPr>
          <p:cNvPr id="10" name="code_hl_18_0"/>
          <p:cNvSpPr>
            <a:spLocks noGrp="1"/>
          </p:cNvSpPr>
          <p:nvPr/>
        </p:nvSpPr>
        <p:spPr>
          <a:xfrm>
            <a:off x="6410325" y="1914525"/>
            <a:ext cx="484822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1" name="code_line_18_0"/>
          <p:cNvSpPr>
            <a:spLocks noGrp="1"/>
          </p:cNvSpPr>
          <p:nvPr/>
        </p:nvSpPr>
        <p:spPr>
          <a:xfrm>
            <a:off x="6496050" y="1905000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RBTreeNode* node = this;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code_line_18_1"/>
          <p:cNvSpPr>
            <a:spLocks noGrp="1"/>
          </p:cNvSpPr>
          <p:nvPr/>
        </p:nvSpPr>
        <p:spPr>
          <a:xfrm>
            <a:off x="6496050" y="214312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3" name="code_hl_18_2"/>
          <p:cNvSpPr>
            <a:spLocks noGrp="1"/>
          </p:cNvSpPr>
          <p:nvPr/>
        </p:nvSpPr>
        <p:spPr>
          <a:xfrm>
            <a:off x="6410325" y="2390775"/>
            <a:ext cx="484822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4" name="code_line_18_2"/>
          <p:cNvSpPr>
            <a:spLocks noGrp="1"/>
          </p:cNvSpPr>
          <p:nvPr/>
        </p:nvSpPr>
        <p:spPr>
          <a:xfrm>
            <a:off x="6496050" y="2381250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(this-&gt;left != NULL &amp;&amp; this-&gt;right != NULL)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code_line_18_3"/>
          <p:cNvSpPr>
            <a:spLocks noGrp="1"/>
          </p:cNvSpPr>
          <p:nvPr/>
        </p:nvSpPr>
        <p:spPr>
          <a:xfrm>
            <a:off x="6496050" y="261937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code_hl_18_4"/>
          <p:cNvSpPr>
            <a:spLocks noGrp="1"/>
          </p:cNvSpPr>
          <p:nvPr/>
        </p:nvSpPr>
        <p:spPr>
          <a:xfrm>
            <a:off x="6410325" y="2867025"/>
            <a:ext cx="484822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7" name="code_line_18_4"/>
          <p:cNvSpPr>
            <a:spLocks noGrp="1"/>
          </p:cNvSpPr>
          <p:nvPr/>
        </p:nvSpPr>
        <p:spPr>
          <a:xfrm>
            <a:off x="6496050" y="2857500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node = this-&gt;right;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code_hl_18_5"/>
          <p:cNvSpPr>
            <a:spLocks noGrp="1"/>
          </p:cNvSpPr>
          <p:nvPr/>
        </p:nvSpPr>
        <p:spPr>
          <a:xfrm>
            <a:off x="6410325" y="3105150"/>
            <a:ext cx="484822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9" name="code_line_18_5"/>
          <p:cNvSpPr>
            <a:spLocks noGrp="1"/>
          </p:cNvSpPr>
          <p:nvPr/>
        </p:nvSpPr>
        <p:spPr>
          <a:xfrm>
            <a:off x="6496050" y="309562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while (node-&gt;left != NULL)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code_hl_18_6"/>
          <p:cNvSpPr>
            <a:spLocks noGrp="1"/>
          </p:cNvSpPr>
          <p:nvPr/>
        </p:nvSpPr>
        <p:spPr>
          <a:xfrm>
            <a:off x="6410325" y="3343275"/>
            <a:ext cx="484822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1" name="code_line_18_6"/>
          <p:cNvSpPr>
            <a:spLocks noGrp="1"/>
          </p:cNvSpPr>
          <p:nvPr/>
        </p:nvSpPr>
        <p:spPr>
          <a:xfrm>
            <a:off x="6496050" y="3333750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node = node-&gt;left;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code_line_18_7"/>
          <p:cNvSpPr>
            <a:spLocks noGrp="1"/>
          </p:cNvSpPr>
          <p:nvPr/>
        </p:nvSpPr>
        <p:spPr>
          <a:xfrm>
            <a:off x="6496050" y="357187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23" name="code_hl_18_8"/>
          <p:cNvSpPr>
            <a:spLocks noGrp="1"/>
          </p:cNvSpPr>
          <p:nvPr/>
        </p:nvSpPr>
        <p:spPr>
          <a:xfrm>
            <a:off x="6410325" y="3819525"/>
            <a:ext cx="484822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4" name="code_line_18_8"/>
          <p:cNvSpPr>
            <a:spLocks noGrp="1"/>
          </p:cNvSpPr>
          <p:nvPr/>
        </p:nvSpPr>
        <p:spPr>
          <a:xfrm>
            <a:off x="6496050" y="3810000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this-&gt;key = node-&gt;key;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code_line_18_9"/>
          <p:cNvSpPr>
            <a:spLocks noGrp="1"/>
          </p:cNvSpPr>
          <p:nvPr/>
        </p:nvSpPr>
        <p:spPr>
          <a:xfrm>
            <a:off x="6496050" y="404812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takeaway_18"/>
          <p:cNvSpPr>
            <a:spLocks noGrp="1"/>
          </p:cNvSpPr>
          <p:nvPr/>
        </p:nvSpPr>
        <p:spPr>
          <a:xfrm>
            <a:off x="1047750" y="5953125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this 是用户想删除的位置；node 才是最后真正释放的对象。</a:t>
            </a:r>
            <a:endParaRPr sz="1575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19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· 删除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19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复制后继 key：为什么不交换两个完整节点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19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19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efore_panel_19"/>
          <p:cNvSpPr>
            <a:spLocks noGrp="1"/>
          </p:cNvSpPr>
          <p:nvPr/>
        </p:nvSpPr>
        <p:spPr>
          <a:xfrm>
            <a:off x="400050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7" name="after_panel_19"/>
          <p:cNvSpPr>
            <a:spLocks noGrp="1"/>
          </p:cNvSpPr>
          <p:nvPr/>
        </p:nvSpPr>
        <p:spPr>
          <a:xfrm>
            <a:off x="6696075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8" name="before_label_19"/>
          <p:cNvSpPr>
            <a:spLocks noGrp="1"/>
          </p:cNvSpPr>
          <p:nvPr/>
        </p:nvSpPr>
        <p:spPr>
          <a:xfrm>
            <a:off x="590550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用户要求删除 10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fter_label_19"/>
          <p:cNvSpPr>
            <a:spLocks noGrp="1"/>
          </p:cNvSpPr>
          <p:nvPr/>
        </p:nvSpPr>
        <p:spPr>
          <a:xfrm>
            <a:off x="6886575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的 key 变成 12，原后继成为待摘除 node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efore_19_edge_a_b"/>
          <p:cNvSpPr>
            <a:spLocks noGrp="1"/>
          </p:cNvSpPr>
          <p:nvPr/>
        </p:nvSpPr>
        <p:spPr>
          <a:xfrm rot="7689434">
            <a:off x="1533311" y="3319463"/>
            <a:ext cx="1695878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before_19_edge_a_d"/>
          <p:cNvSpPr>
            <a:spLocks noGrp="1"/>
          </p:cNvSpPr>
          <p:nvPr/>
        </p:nvSpPr>
        <p:spPr>
          <a:xfrm rot="2963922">
            <a:off x="2598463" y="3319463"/>
            <a:ext cx="1756323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before_19_edge_d_e"/>
          <p:cNvSpPr>
            <a:spLocks noGrp="1"/>
          </p:cNvSpPr>
          <p:nvPr/>
        </p:nvSpPr>
        <p:spPr>
          <a:xfrm rot="7053169">
            <a:off x="3144625" y="4533900"/>
            <a:ext cx="1235499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3" name="before_19_edge_d_f"/>
          <p:cNvSpPr>
            <a:spLocks noGrp="1"/>
          </p:cNvSpPr>
          <p:nvPr/>
        </p:nvSpPr>
        <p:spPr>
          <a:xfrm rot="3631447">
            <a:off x="3728569" y="4533900"/>
            <a:ext cx="1258238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4" name="before_19_a"/>
          <p:cNvSpPr>
            <a:spLocks noGrp="1"/>
          </p:cNvSpPr>
          <p:nvPr/>
        </p:nvSpPr>
        <p:spPr>
          <a:xfrm>
            <a:off x="2667000" y="24288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before_19_a_label"/>
          <p:cNvSpPr>
            <a:spLocks noGrp="1"/>
          </p:cNvSpPr>
          <p:nvPr/>
        </p:nvSpPr>
        <p:spPr>
          <a:xfrm>
            <a:off x="2705100" y="25431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before_19_b"/>
          <p:cNvSpPr>
            <a:spLocks noGrp="1"/>
          </p:cNvSpPr>
          <p:nvPr/>
        </p:nvSpPr>
        <p:spPr>
          <a:xfrm>
            <a:off x="1619250" y="37623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before_19_b_label"/>
          <p:cNvSpPr>
            <a:spLocks noGrp="1"/>
          </p:cNvSpPr>
          <p:nvPr/>
        </p:nvSpPr>
        <p:spPr>
          <a:xfrm>
            <a:off x="1657350" y="3876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before_19_d"/>
          <p:cNvSpPr>
            <a:spLocks noGrp="1"/>
          </p:cNvSpPr>
          <p:nvPr/>
        </p:nvSpPr>
        <p:spPr>
          <a:xfrm>
            <a:off x="3810000" y="37623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before_19_d_label"/>
          <p:cNvSpPr>
            <a:spLocks noGrp="1"/>
          </p:cNvSpPr>
          <p:nvPr/>
        </p:nvSpPr>
        <p:spPr>
          <a:xfrm>
            <a:off x="3848100" y="3876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before_19_e"/>
          <p:cNvSpPr>
            <a:spLocks noGrp="1"/>
          </p:cNvSpPr>
          <p:nvPr/>
        </p:nvSpPr>
        <p:spPr>
          <a:xfrm>
            <a:off x="3238500" y="48577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before_19_e_label"/>
          <p:cNvSpPr>
            <a:spLocks noGrp="1"/>
          </p:cNvSpPr>
          <p:nvPr/>
        </p:nvSpPr>
        <p:spPr>
          <a:xfrm>
            <a:off x="3276600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before_19_f"/>
          <p:cNvSpPr>
            <a:spLocks noGrp="1"/>
          </p:cNvSpPr>
          <p:nvPr/>
        </p:nvSpPr>
        <p:spPr>
          <a:xfrm>
            <a:off x="4429125" y="48577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before_19_f_label"/>
          <p:cNvSpPr>
            <a:spLocks noGrp="1"/>
          </p:cNvSpPr>
          <p:nvPr/>
        </p:nvSpPr>
        <p:spPr>
          <a:xfrm>
            <a:off x="446722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after_19_edge_a_b"/>
          <p:cNvSpPr>
            <a:spLocks noGrp="1"/>
          </p:cNvSpPr>
          <p:nvPr/>
        </p:nvSpPr>
        <p:spPr>
          <a:xfrm rot="7689434">
            <a:off x="7819811" y="3319463"/>
            <a:ext cx="1695878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5" name="after_19_edge_a_d"/>
          <p:cNvSpPr>
            <a:spLocks noGrp="1"/>
          </p:cNvSpPr>
          <p:nvPr/>
        </p:nvSpPr>
        <p:spPr>
          <a:xfrm rot="2963922">
            <a:off x="8884963" y="3319463"/>
            <a:ext cx="1756323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6" name="after_19_edge_d_e"/>
          <p:cNvSpPr>
            <a:spLocks noGrp="1"/>
          </p:cNvSpPr>
          <p:nvPr/>
        </p:nvSpPr>
        <p:spPr>
          <a:xfrm rot="7053169">
            <a:off x="9431125" y="4533900"/>
            <a:ext cx="1235499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7" name="after_19_edge_d_f"/>
          <p:cNvSpPr>
            <a:spLocks noGrp="1"/>
          </p:cNvSpPr>
          <p:nvPr/>
        </p:nvSpPr>
        <p:spPr>
          <a:xfrm rot="3631447">
            <a:off x="10015069" y="4533900"/>
            <a:ext cx="1258238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8" name="after_19_a"/>
          <p:cNvSpPr>
            <a:spLocks noGrp="1"/>
          </p:cNvSpPr>
          <p:nvPr/>
        </p:nvSpPr>
        <p:spPr>
          <a:xfrm>
            <a:off x="8953500" y="24288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after_19_a_label"/>
          <p:cNvSpPr>
            <a:spLocks noGrp="1"/>
          </p:cNvSpPr>
          <p:nvPr/>
        </p:nvSpPr>
        <p:spPr>
          <a:xfrm>
            <a:off x="8991600" y="25431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after_19_b"/>
          <p:cNvSpPr>
            <a:spLocks noGrp="1"/>
          </p:cNvSpPr>
          <p:nvPr/>
        </p:nvSpPr>
        <p:spPr>
          <a:xfrm>
            <a:off x="7905750" y="37623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after_19_b_label"/>
          <p:cNvSpPr>
            <a:spLocks noGrp="1"/>
          </p:cNvSpPr>
          <p:nvPr/>
        </p:nvSpPr>
        <p:spPr>
          <a:xfrm>
            <a:off x="7943850" y="3876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after_19_d"/>
          <p:cNvSpPr>
            <a:spLocks noGrp="1"/>
          </p:cNvSpPr>
          <p:nvPr/>
        </p:nvSpPr>
        <p:spPr>
          <a:xfrm>
            <a:off x="10096500" y="37623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after_19_d_label"/>
          <p:cNvSpPr>
            <a:spLocks noGrp="1"/>
          </p:cNvSpPr>
          <p:nvPr/>
        </p:nvSpPr>
        <p:spPr>
          <a:xfrm>
            <a:off x="10134600" y="3876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after_19_e_outer"/>
          <p:cNvSpPr>
            <a:spLocks noGrp="1"/>
          </p:cNvSpPr>
          <p:nvPr/>
        </p:nvSpPr>
        <p:spPr>
          <a:xfrm>
            <a:off x="9458325" y="4791075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181C"/>
            </a:solidFill>
            <a:prstDash val="solid"/>
          </a:ln>
        </p:spPr>
      </p:sp>
      <p:sp>
        <p:nvSpPr>
          <p:cNvPr id="35" name="after_19_e"/>
          <p:cNvSpPr>
            <a:spLocks noGrp="1"/>
          </p:cNvSpPr>
          <p:nvPr/>
        </p:nvSpPr>
        <p:spPr>
          <a:xfrm>
            <a:off x="9525000" y="48577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after_19_e_label"/>
          <p:cNvSpPr>
            <a:spLocks noGrp="1"/>
          </p:cNvSpPr>
          <p:nvPr/>
        </p:nvSpPr>
        <p:spPr>
          <a:xfrm>
            <a:off x="9563100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after_19_f"/>
          <p:cNvSpPr>
            <a:spLocks noGrp="1"/>
          </p:cNvSpPr>
          <p:nvPr/>
        </p:nvSpPr>
        <p:spPr>
          <a:xfrm>
            <a:off x="10715625" y="48577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after_19_f_label"/>
          <p:cNvSpPr>
            <a:spLocks noGrp="1"/>
          </p:cNvSpPr>
          <p:nvPr/>
        </p:nvSpPr>
        <p:spPr>
          <a:xfrm>
            <a:off x="1075372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ransition_19_shaft"/>
          <p:cNvSpPr>
            <a:spLocks noGrp="1"/>
          </p:cNvSpPr>
          <p:nvPr/>
        </p:nvSpPr>
        <p:spPr>
          <a:xfrm>
            <a:off x="5810250" y="3600450"/>
            <a:ext cx="5715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0" name="transition_19_head_1"/>
          <p:cNvSpPr>
            <a:spLocks noGrp="1"/>
          </p:cNvSpPr>
          <p:nvPr/>
        </p:nvSpPr>
        <p:spPr>
          <a:xfrm rot="8856000">
            <a:off x="6276347" y="3631073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1" name="transition_19_head_2"/>
          <p:cNvSpPr>
            <a:spLocks noGrp="1"/>
          </p:cNvSpPr>
          <p:nvPr/>
        </p:nvSpPr>
        <p:spPr>
          <a:xfrm rot="-8856000">
            <a:off x="6276347" y="3569827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2" name="transition_caption_19"/>
          <p:cNvSpPr>
            <a:spLocks noGrp="1"/>
          </p:cNvSpPr>
          <p:nvPr/>
        </p:nvSpPr>
        <p:spPr>
          <a:xfrm>
            <a:off x="1714500" y="5772150"/>
            <a:ext cx="876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如果交换完整节点，parent、left、right、color 和外部指向都要一起搬迁。复制 key 把结构修改限制在后继原来的小位置。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20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· 删除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20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child 接替 node：父亲向下的指针与孩子向上的指针必须分开修改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20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20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efore_panel_20"/>
          <p:cNvSpPr>
            <a:spLocks noGrp="1"/>
          </p:cNvSpPr>
          <p:nvPr/>
        </p:nvSpPr>
        <p:spPr>
          <a:xfrm>
            <a:off x="400050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7" name="after_panel_20"/>
          <p:cNvSpPr>
            <a:spLocks noGrp="1"/>
          </p:cNvSpPr>
          <p:nvPr/>
        </p:nvSpPr>
        <p:spPr>
          <a:xfrm>
            <a:off x="6696075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8" name="before_label_20"/>
          <p:cNvSpPr>
            <a:spLocks noGrp="1"/>
          </p:cNvSpPr>
          <p:nvPr/>
        </p:nvSpPr>
        <p:spPr>
          <a:xfrm>
            <a:off x="590550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摘除前：P 的左孩子是 node，node 还有一个 child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fter_label_20"/>
          <p:cNvSpPr>
            <a:spLocks noGrp="1"/>
          </p:cNvSpPr>
          <p:nvPr/>
        </p:nvSpPr>
        <p:spPr>
          <a:xfrm>
            <a:off x="6886575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改接后：P 直接指向 C，C 的 parent 也改成 P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efore_20_edge_p_n"/>
          <p:cNvSpPr>
            <a:spLocks noGrp="1"/>
          </p:cNvSpPr>
          <p:nvPr/>
        </p:nvSpPr>
        <p:spPr>
          <a:xfrm rot="7393903">
            <a:off x="1579486" y="3295650"/>
            <a:ext cx="1651153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before_20_edge_n_c"/>
          <p:cNvSpPr>
            <a:spLocks noGrp="1"/>
          </p:cNvSpPr>
          <p:nvPr/>
        </p:nvSpPr>
        <p:spPr>
          <a:xfrm rot="3631447">
            <a:off x="1633069" y="4533900"/>
            <a:ext cx="1258238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before_20_p"/>
          <p:cNvSpPr>
            <a:spLocks noGrp="1"/>
          </p:cNvSpPr>
          <p:nvPr/>
        </p:nvSpPr>
        <p:spPr>
          <a:xfrm>
            <a:off x="2619375" y="23812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before_20_p_label"/>
          <p:cNvSpPr>
            <a:spLocks noGrp="1"/>
          </p:cNvSpPr>
          <p:nvPr/>
        </p:nvSpPr>
        <p:spPr>
          <a:xfrm>
            <a:off x="2657475" y="2495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before_20_n_outer"/>
          <p:cNvSpPr>
            <a:spLocks noGrp="1"/>
          </p:cNvSpPr>
          <p:nvPr/>
        </p:nvSpPr>
        <p:spPr>
          <a:xfrm>
            <a:off x="1647825" y="3695700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181C"/>
            </a:solidFill>
            <a:prstDash val="solid"/>
          </a:ln>
        </p:spPr>
      </p:sp>
      <p:sp>
        <p:nvSpPr>
          <p:cNvPr id="15" name="before_20_n"/>
          <p:cNvSpPr>
            <a:spLocks noGrp="1"/>
          </p:cNvSpPr>
          <p:nvPr/>
        </p:nvSpPr>
        <p:spPr>
          <a:xfrm>
            <a:off x="1714500" y="37623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before_20_n_label"/>
          <p:cNvSpPr>
            <a:spLocks noGrp="1"/>
          </p:cNvSpPr>
          <p:nvPr/>
        </p:nvSpPr>
        <p:spPr>
          <a:xfrm>
            <a:off x="1752600" y="3876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before_20_c"/>
          <p:cNvSpPr>
            <a:spLocks noGrp="1"/>
          </p:cNvSpPr>
          <p:nvPr/>
        </p:nvSpPr>
        <p:spPr>
          <a:xfrm>
            <a:off x="2333625" y="48577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before_20_c_label"/>
          <p:cNvSpPr>
            <a:spLocks noGrp="1"/>
          </p:cNvSpPr>
          <p:nvPr/>
        </p:nvSpPr>
        <p:spPr>
          <a:xfrm>
            <a:off x="237172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fter_20_edge_p_c"/>
          <p:cNvSpPr>
            <a:spLocks noGrp="1"/>
          </p:cNvSpPr>
          <p:nvPr/>
        </p:nvSpPr>
        <p:spPr>
          <a:xfrm rot="7195891">
            <a:off x="7832435" y="3390900"/>
            <a:ext cx="1813506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0" name="after_20_p"/>
          <p:cNvSpPr>
            <a:spLocks noGrp="1"/>
          </p:cNvSpPr>
          <p:nvPr/>
        </p:nvSpPr>
        <p:spPr>
          <a:xfrm>
            <a:off x="8953500" y="23812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after_20_p_label"/>
          <p:cNvSpPr>
            <a:spLocks noGrp="1"/>
          </p:cNvSpPr>
          <p:nvPr/>
        </p:nvSpPr>
        <p:spPr>
          <a:xfrm>
            <a:off x="8991600" y="2495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fter_20_c"/>
          <p:cNvSpPr>
            <a:spLocks noGrp="1"/>
          </p:cNvSpPr>
          <p:nvPr/>
        </p:nvSpPr>
        <p:spPr>
          <a:xfrm>
            <a:off x="8048625" y="3952875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after_20_c_label"/>
          <p:cNvSpPr>
            <a:spLocks noGrp="1"/>
          </p:cNvSpPr>
          <p:nvPr/>
        </p:nvSpPr>
        <p:spPr>
          <a:xfrm>
            <a:off x="8086725" y="40671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ransition_20_shaft"/>
          <p:cNvSpPr>
            <a:spLocks noGrp="1"/>
          </p:cNvSpPr>
          <p:nvPr/>
        </p:nvSpPr>
        <p:spPr>
          <a:xfrm>
            <a:off x="5810250" y="3600450"/>
            <a:ext cx="5715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5" name="transition_20_head_1"/>
          <p:cNvSpPr>
            <a:spLocks noGrp="1"/>
          </p:cNvSpPr>
          <p:nvPr/>
        </p:nvSpPr>
        <p:spPr>
          <a:xfrm rot="8856000">
            <a:off x="6276347" y="3631073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6" name="transition_20_head_2"/>
          <p:cNvSpPr>
            <a:spLocks noGrp="1"/>
          </p:cNvSpPr>
          <p:nvPr/>
        </p:nvSpPr>
        <p:spPr>
          <a:xfrm rot="-8856000">
            <a:off x="6276347" y="3569827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7" name="transition_caption_20"/>
          <p:cNvSpPr>
            <a:spLocks noGrp="1"/>
          </p:cNvSpPr>
          <p:nvPr/>
        </p:nvSpPr>
        <p:spPr>
          <a:xfrm>
            <a:off x="1714500" y="5772150"/>
            <a:ext cx="876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parent-&gt;left = child 解决向下连接；child-&gt;parent = node-&gt;parent 解决反向连接。只改其中一边，树就会出现“走下去和走回来不是同一条路”。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21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· 删除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21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删红节点为什么可以直接结束：它从来没有参与黑高计数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21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21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21_42"/>
          <p:cNvSpPr>
            <a:spLocks noGrp="1"/>
          </p:cNvSpPr>
          <p:nvPr/>
        </p:nvSpPr>
        <p:spPr>
          <a:xfrm>
            <a:off x="400050" y="1695450"/>
            <a:ext cx="571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红节点消失后，哪些性质可能变化？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21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21_42"/>
          <p:cNvSpPr>
            <a:spLocks noGrp="1"/>
          </p:cNvSpPr>
          <p:nvPr/>
        </p:nvSpPr>
        <p:spPr>
          <a:xfrm>
            <a:off x="628650" y="2419350"/>
            <a:ext cx="542925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二叉搜索树顺序已经由 child 接替阶段处理完；红节点本身又不计入黑高，所以任何经过它的路径，删除前后黑节点数量都不变。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它也不可能有红孩子。因为删除开始前树是合法的，红节点若连接红孩子，早就违反红黑性质。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因此删红节点不需要 adjustRemove。这里不是“少写一个分支”，而是从不变量出发证明没有任何颜色债务产生。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move_red_edge_p_a"/>
          <p:cNvSpPr>
            <a:spLocks noGrp="1"/>
          </p:cNvSpPr>
          <p:nvPr/>
        </p:nvSpPr>
        <p:spPr>
          <a:xfrm rot="7396493">
            <a:off x="7256256" y="3224213"/>
            <a:ext cx="1822862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0" name="remove_red_edge_p_n"/>
          <p:cNvSpPr>
            <a:spLocks noGrp="1"/>
          </p:cNvSpPr>
          <p:nvPr/>
        </p:nvSpPr>
        <p:spPr>
          <a:xfrm rot="3403507">
            <a:off x="8256381" y="3224213"/>
            <a:ext cx="1822862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remove_red_p"/>
          <p:cNvSpPr>
            <a:spLocks noGrp="1"/>
          </p:cNvSpPr>
          <p:nvPr/>
        </p:nvSpPr>
        <p:spPr>
          <a:xfrm>
            <a:off x="8429625" y="22383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remove_red_p_label"/>
          <p:cNvSpPr>
            <a:spLocks noGrp="1"/>
          </p:cNvSpPr>
          <p:nvPr/>
        </p:nvSpPr>
        <p:spPr>
          <a:xfrm>
            <a:off x="8467725" y="2352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move_red_a"/>
          <p:cNvSpPr>
            <a:spLocks noGrp="1"/>
          </p:cNvSpPr>
          <p:nvPr/>
        </p:nvSpPr>
        <p:spPr>
          <a:xfrm>
            <a:off x="7429500" y="37623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remove_red_a_label"/>
          <p:cNvSpPr>
            <a:spLocks noGrp="1"/>
          </p:cNvSpPr>
          <p:nvPr/>
        </p:nvSpPr>
        <p:spPr>
          <a:xfrm>
            <a:off x="7467600" y="3876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move_red_n"/>
          <p:cNvSpPr>
            <a:spLocks noGrp="1"/>
          </p:cNvSpPr>
          <p:nvPr/>
        </p:nvSpPr>
        <p:spPr>
          <a:xfrm>
            <a:off x="9429750" y="3762375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remove_red_n_label"/>
          <p:cNvSpPr>
            <a:spLocks noGrp="1"/>
          </p:cNvSpPr>
          <p:nvPr/>
        </p:nvSpPr>
        <p:spPr>
          <a:xfrm>
            <a:off x="9467850" y="38766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move_red_arrow_shaft"/>
          <p:cNvSpPr>
            <a:spLocks noGrp="1"/>
          </p:cNvSpPr>
          <p:nvPr/>
        </p:nvSpPr>
        <p:spPr>
          <a:xfrm>
            <a:off x="10334625" y="3981450"/>
            <a:ext cx="714375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18" name="remove_red_arrow_head_1"/>
          <p:cNvSpPr>
            <a:spLocks noGrp="1"/>
          </p:cNvSpPr>
          <p:nvPr/>
        </p:nvSpPr>
        <p:spPr>
          <a:xfrm rot="8856000">
            <a:off x="10943597" y="4012073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19" name="remove_red_arrow_head_2"/>
          <p:cNvSpPr>
            <a:spLocks noGrp="1"/>
          </p:cNvSpPr>
          <p:nvPr/>
        </p:nvSpPr>
        <p:spPr>
          <a:xfrm rot="-8856000">
            <a:off x="10943597" y="3950827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0" name="remove_red_text"/>
          <p:cNvSpPr>
            <a:spLocks noGrp="1"/>
          </p:cNvSpPr>
          <p:nvPr/>
        </p:nvSpPr>
        <p:spPr>
          <a:xfrm>
            <a:off x="10001250" y="44767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直接摘除</a:t>
            </a:r>
            <a:endParaRPr sz="1425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akeaway_21"/>
          <p:cNvSpPr>
            <a:spLocks noGrp="1"/>
          </p:cNvSpPr>
          <p:nvPr/>
        </p:nvSpPr>
        <p:spPr>
          <a:xfrm>
            <a:off x="1047750" y="5953125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删除修复只在“被摘掉的 node 是黑色”时启动。</a:t>
            </a:r>
            <a:endParaRPr sz="1575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22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· 删除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22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黑 node 只有一个红 child：把 child 染黑，刚好补回一个黑色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22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22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efore_panel_22"/>
          <p:cNvSpPr>
            <a:spLocks noGrp="1"/>
          </p:cNvSpPr>
          <p:nvPr/>
        </p:nvSpPr>
        <p:spPr>
          <a:xfrm>
            <a:off x="400050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7" name="after_panel_22"/>
          <p:cNvSpPr>
            <a:spLocks noGrp="1"/>
          </p:cNvSpPr>
          <p:nvPr/>
        </p:nvSpPr>
        <p:spPr>
          <a:xfrm>
            <a:off x="6696075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8" name="before_label_22"/>
          <p:cNvSpPr>
            <a:spLocks noGrp="1"/>
          </p:cNvSpPr>
          <p:nvPr/>
        </p:nvSpPr>
        <p:spPr>
          <a:xfrm>
            <a:off x="590550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删除前：路径经过黑 N，再经过红 C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fter_label_22"/>
          <p:cNvSpPr>
            <a:spLocks noGrp="1"/>
          </p:cNvSpPr>
          <p:nvPr/>
        </p:nvSpPr>
        <p:spPr>
          <a:xfrm>
            <a:off x="6886575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删除后：C 接替 N，并由红变黑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efore_22_edge_p_n"/>
          <p:cNvSpPr>
            <a:spLocks noGrp="1"/>
          </p:cNvSpPr>
          <p:nvPr/>
        </p:nvSpPr>
        <p:spPr>
          <a:xfrm rot="7393903">
            <a:off x="1627111" y="3248025"/>
            <a:ext cx="1651153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before_22_edge_n_c"/>
          <p:cNvSpPr>
            <a:spLocks noGrp="1"/>
          </p:cNvSpPr>
          <p:nvPr/>
        </p:nvSpPr>
        <p:spPr>
          <a:xfrm rot="3746831">
            <a:off x="1668250" y="4486275"/>
            <a:ext cx="1235499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before_22_p"/>
          <p:cNvSpPr>
            <a:spLocks noGrp="1"/>
          </p:cNvSpPr>
          <p:nvPr/>
        </p:nvSpPr>
        <p:spPr>
          <a:xfrm>
            <a:off x="2667000" y="2333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before_22_p_label"/>
          <p:cNvSpPr>
            <a:spLocks noGrp="1"/>
          </p:cNvSpPr>
          <p:nvPr/>
        </p:nvSpPr>
        <p:spPr>
          <a:xfrm>
            <a:off x="2705100" y="2447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before_22_n"/>
          <p:cNvSpPr>
            <a:spLocks noGrp="1"/>
          </p:cNvSpPr>
          <p:nvPr/>
        </p:nvSpPr>
        <p:spPr>
          <a:xfrm>
            <a:off x="1762125" y="3714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before_22_n_label"/>
          <p:cNvSpPr>
            <a:spLocks noGrp="1"/>
          </p:cNvSpPr>
          <p:nvPr/>
        </p:nvSpPr>
        <p:spPr>
          <a:xfrm>
            <a:off x="1800225" y="3829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before_22_c"/>
          <p:cNvSpPr>
            <a:spLocks noGrp="1"/>
          </p:cNvSpPr>
          <p:nvPr/>
        </p:nvSpPr>
        <p:spPr>
          <a:xfrm>
            <a:off x="2333625" y="4810125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before_22_c_label"/>
          <p:cNvSpPr>
            <a:spLocks noGrp="1"/>
          </p:cNvSpPr>
          <p:nvPr/>
        </p:nvSpPr>
        <p:spPr>
          <a:xfrm>
            <a:off x="2371725" y="49244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fter_22_edge_p_c"/>
          <p:cNvSpPr>
            <a:spLocks noGrp="1"/>
          </p:cNvSpPr>
          <p:nvPr/>
        </p:nvSpPr>
        <p:spPr>
          <a:xfrm rot="7241983">
            <a:off x="7852991" y="3319463"/>
            <a:ext cx="1772392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9" name="after_22_p"/>
          <p:cNvSpPr>
            <a:spLocks noGrp="1"/>
          </p:cNvSpPr>
          <p:nvPr/>
        </p:nvSpPr>
        <p:spPr>
          <a:xfrm>
            <a:off x="8953500" y="2333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after_22_p_label"/>
          <p:cNvSpPr>
            <a:spLocks noGrp="1"/>
          </p:cNvSpPr>
          <p:nvPr/>
        </p:nvSpPr>
        <p:spPr>
          <a:xfrm>
            <a:off x="8991600" y="2447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after_22_c"/>
          <p:cNvSpPr>
            <a:spLocks noGrp="1"/>
          </p:cNvSpPr>
          <p:nvPr/>
        </p:nvSpPr>
        <p:spPr>
          <a:xfrm>
            <a:off x="8048625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after_22_c_label"/>
          <p:cNvSpPr>
            <a:spLocks noGrp="1"/>
          </p:cNvSpPr>
          <p:nvPr/>
        </p:nvSpPr>
        <p:spPr>
          <a:xfrm>
            <a:off x="8086725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ransition_22_shaft"/>
          <p:cNvSpPr>
            <a:spLocks noGrp="1"/>
          </p:cNvSpPr>
          <p:nvPr/>
        </p:nvSpPr>
        <p:spPr>
          <a:xfrm>
            <a:off x="5810250" y="3600450"/>
            <a:ext cx="5715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4" name="transition_22_head_1"/>
          <p:cNvSpPr>
            <a:spLocks noGrp="1"/>
          </p:cNvSpPr>
          <p:nvPr/>
        </p:nvSpPr>
        <p:spPr>
          <a:xfrm rot="8856000">
            <a:off x="6276347" y="3631073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5" name="transition_22_head_2"/>
          <p:cNvSpPr>
            <a:spLocks noGrp="1"/>
          </p:cNvSpPr>
          <p:nvPr/>
        </p:nvSpPr>
        <p:spPr>
          <a:xfrm rot="-8856000">
            <a:off x="6276347" y="3569827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26" name="transition_caption_22"/>
          <p:cNvSpPr>
            <a:spLocks noGrp="1"/>
          </p:cNvSpPr>
          <p:nvPr/>
        </p:nvSpPr>
        <p:spPr>
          <a:xfrm>
            <a:off x="1714500" y="5772150"/>
            <a:ext cx="876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原路径中的黑色 N 消失了，但红色 C 接替位置后染黑，正好重新贡献一个黑节点。修复在当前槽位就能结束。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23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· 删除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23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黑 node 没有红 child：为什么要创建 DOUBLE_BLACK 临时节点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23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23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23_42"/>
          <p:cNvSpPr>
            <a:spLocks noGrp="1"/>
          </p:cNvSpPr>
          <p:nvPr/>
        </p:nvSpPr>
        <p:spPr>
          <a:xfrm>
            <a:off x="400050" y="169545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“这里少了一个黑色”怎样交给函数处理？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23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23_42"/>
          <p:cNvSpPr>
            <a:spLocks noGrp="1"/>
          </p:cNvSpPr>
          <p:nvPr/>
        </p:nvSpPr>
        <p:spPr>
          <a:xfrm>
            <a:off x="628650" y="2419350"/>
            <a:ext cx="55245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 child 是 NULL，代码没有一个真实对象可以调用 adjustRemove；NULL 也没有 parent，无法判断自己原来位于父亲左边还是右边，更找不到 sibling。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因此代码创建一个 DOUBLE_BLACK 节点，并把它挂回被删除 node 原来的槽位。它的 key 并不参与搜索，真正有用的是 parent 和“我是左孩子还是右孩子”这两个位置信息。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这就是状态设计：把一句抽象描述——这条路径欠一个黑色——变成可以沿 parent 指针移动的对象。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_bg_23_675"/>
          <p:cNvSpPr>
            <a:spLocks noGrp="1"/>
          </p:cNvSpPr>
          <p:nvPr/>
        </p:nvSpPr>
        <p:spPr>
          <a:xfrm>
            <a:off x="6429375" y="1762125"/>
            <a:ext cx="4905375" cy="3333750"/>
          </a:xfrm>
          <a:prstGeom prst="rect">
            <a:avLst/>
          </a:prstGeom>
          <a:solidFill>
            <a:srgbClr val="202126"/>
          </a:solidFill>
          <a:ln w="0">
            <a:noFill/>
            <a:prstDash val="solid"/>
          </a:ln>
        </p:spPr>
      </p:sp>
      <p:sp>
        <p:nvSpPr>
          <p:cNvPr id="10" name="code_hl_23_0"/>
          <p:cNvSpPr>
            <a:spLocks noGrp="1"/>
          </p:cNvSpPr>
          <p:nvPr/>
        </p:nvSpPr>
        <p:spPr>
          <a:xfrm>
            <a:off x="6505575" y="1866900"/>
            <a:ext cx="47529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1" name="code_line_23_0"/>
          <p:cNvSpPr>
            <a:spLocks noGrp="1"/>
          </p:cNvSpPr>
          <p:nvPr/>
        </p:nvSpPr>
        <p:spPr>
          <a:xfrm>
            <a:off x="6591300" y="1857375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child = new RBTreeNode(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code_hl_23_1"/>
          <p:cNvSpPr>
            <a:spLocks noGrp="1"/>
          </p:cNvSpPr>
          <p:nvPr/>
        </p:nvSpPr>
        <p:spPr>
          <a:xfrm>
            <a:off x="6505575" y="2105025"/>
            <a:ext cx="47529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3" name="code_line_23_1"/>
          <p:cNvSpPr>
            <a:spLocks noGrp="1"/>
          </p:cNvSpPr>
          <p:nvPr/>
        </p:nvSpPr>
        <p:spPr>
          <a:xfrm>
            <a:off x="6591300" y="2095500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(T)0, node-&gt;parent, node-&gt;tree,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code_hl_23_2"/>
          <p:cNvSpPr>
            <a:spLocks noGrp="1"/>
          </p:cNvSpPr>
          <p:nvPr/>
        </p:nvSpPr>
        <p:spPr>
          <a:xfrm>
            <a:off x="6505575" y="2343150"/>
            <a:ext cx="47529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5" name="code_line_23_2"/>
          <p:cNvSpPr>
            <a:spLocks noGrp="1"/>
          </p:cNvSpPr>
          <p:nvPr/>
        </p:nvSpPr>
        <p:spPr>
          <a:xfrm>
            <a:off x="6591300" y="2333625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DOUBLE_BLACK);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code_line_23_3"/>
          <p:cNvSpPr>
            <a:spLocks noGrp="1"/>
          </p:cNvSpPr>
          <p:nvPr/>
        </p:nvSpPr>
        <p:spPr>
          <a:xfrm>
            <a:off x="6591300" y="2571750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7" name="code_hl_23_4"/>
          <p:cNvSpPr>
            <a:spLocks noGrp="1"/>
          </p:cNvSpPr>
          <p:nvPr/>
        </p:nvSpPr>
        <p:spPr>
          <a:xfrm>
            <a:off x="6505575" y="2819400"/>
            <a:ext cx="47529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8" name="code_line_23_4"/>
          <p:cNvSpPr>
            <a:spLocks noGrp="1"/>
          </p:cNvSpPr>
          <p:nvPr/>
        </p:nvSpPr>
        <p:spPr>
          <a:xfrm>
            <a:off x="6591300" y="2809875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必须挂回原槽位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code_line_23_5"/>
          <p:cNvSpPr>
            <a:spLocks noGrp="1"/>
          </p:cNvSpPr>
          <p:nvPr/>
        </p:nvSpPr>
        <p:spPr>
          <a:xfrm>
            <a:off x="6591300" y="3048000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(node-&gt;parent == NULL)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code_line_23_6"/>
          <p:cNvSpPr>
            <a:spLocks noGrp="1"/>
          </p:cNvSpPr>
          <p:nvPr/>
        </p:nvSpPr>
        <p:spPr>
          <a:xfrm>
            <a:off x="6591300" y="3286125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node-&gt;tree-&gt;root = child;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code_hl_23_7"/>
          <p:cNvSpPr>
            <a:spLocks noGrp="1"/>
          </p:cNvSpPr>
          <p:nvPr/>
        </p:nvSpPr>
        <p:spPr>
          <a:xfrm>
            <a:off x="6505575" y="3533775"/>
            <a:ext cx="47529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2" name="code_line_23_7"/>
          <p:cNvSpPr>
            <a:spLocks noGrp="1"/>
          </p:cNvSpPr>
          <p:nvPr/>
        </p:nvSpPr>
        <p:spPr>
          <a:xfrm>
            <a:off x="6591300" y="3524250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else if (node-&gt;parent-&gt;left == NULL)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3" name="code_hl_23_8"/>
          <p:cNvSpPr>
            <a:spLocks noGrp="1"/>
          </p:cNvSpPr>
          <p:nvPr/>
        </p:nvSpPr>
        <p:spPr>
          <a:xfrm>
            <a:off x="6505575" y="3771900"/>
            <a:ext cx="47529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4" name="code_line_23_8"/>
          <p:cNvSpPr>
            <a:spLocks noGrp="1"/>
          </p:cNvSpPr>
          <p:nvPr/>
        </p:nvSpPr>
        <p:spPr>
          <a:xfrm>
            <a:off x="6591300" y="3762375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node-&gt;parent-&gt;left = child;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code_line_23_9"/>
          <p:cNvSpPr>
            <a:spLocks noGrp="1"/>
          </p:cNvSpPr>
          <p:nvPr/>
        </p:nvSpPr>
        <p:spPr>
          <a:xfrm>
            <a:off x="6591300" y="4000500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else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code_hl_23_10"/>
          <p:cNvSpPr>
            <a:spLocks noGrp="1"/>
          </p:cNvSpPr>
          <p:nvPr/>
        </p:nvSpPr>
        <p:spPr>
          <a:xfrm>
            <a:off x="6505575" y="4248150"/>
            <a:ext cx="47529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7" name="code_line_23_10"/>
          <p:cNvSpPr>
            <a:spLocks noGrp="1"/>
          </p:cNvSpPr>
          <p:nvPr/>
        </p:nvSpPr>
        <p:spPr>
          <a:xfrm>
            <a:off x="6591300" y="4238625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node-&gt;parent-&gt;right = child;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24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· 删除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24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临时双黑节点为什么还要被摘掉：它只是修复工具，不是用户数据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24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24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24_42"/>
          <p:cNvSpPr>
            <a:spLocks noGrp="1"/>
          </p:cNvSpPr>
          <p:nvPr/>
        </p:nvSpPr>
        <p:spPr>
          <a:xfrm>
            <a:off x="400050" y="169545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adjustRemove 返回以后，child 还在树里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24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24_42"/>
          <p:cNvSpPr>
            <a:spLocks noGrp="1"/>
          </p:cNvSpPr>
          <p:nvPr/>
        </p:nvSpPr>
        <p:spPr>
          <a:xfrm>
            <a:off x="628650" y="2419350"/>
            <a:ext cx="55245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修复函数只负责让颜色和黑高重新合法，它不会自动知道这个 DOUBLE_BLACK 节点是一次性的占位符。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 remove 要再次检查 child 位于根、父亲左边还是父亲右边，把对应槽位改回 NULL，然后 delete child。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接着还要把真正 node 的 left / right 断开，再 delete node。前一次清理临时状态，后一次防止递归析构误删有效子树，这两个 delete 的对象和目的完全不同。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_bg_24_675"/>
          <p:cNvSpPr>
            <a:spLocks noGrp="1"/>
          </p:cNvSpPr>
          <p:nvPr/>
        </p:nvSpPr>
        <p:spPr>
          <a:xfrm>
            <a:off x="6429375" y="1695450"/>
            <a:ext cx="4905375" cy="3905250"/>
          </a:xfrm>
          <a:prstGeom prst="rect">
            <a:avLst/>
          </a:prstGeom>
          <a:solidFill>
            <a:srgbClr val="202126"/>
          </a:solidFill>
          <a:ln w="0">
            <a:noFill/>
            <a:prstDash val="solid"/>
          </a:ln>
        </p:spPr>
      </p:sp>
      <p:sp>
        <p:nvSpPr>
          <p:cNvPr id="10" name="code_hl_24_0"/>
          <p:cNvSpPr>
            <a:spLocks noGrp="1"/>
          </p:cNvSpPr>
          <p:nvPr/>
        </p:nvSpPr>
        <p:spPr>
          <a:xfrm>
            <a:off x="6505575" y="1800225"/>
            <a:ext cx="47529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1" name="code_line_24_0"/>
          <p:cNvSpPr>
            <a:spLocks noGrp="1"/>
          </p:cNvSpPr>
          <p:nvPr/>
        </p:nvSpPr>
        <p:spPr>
          <a:xfrm>
            <a:off x="6591300" y="1790700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child-&gt;adjustRemove();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code_line_24_1"/>
          <p:cNvSpPr>
            <a:spLocks noGrp="1"/>
          </p:cNvSpPr>
          <p:nvPr/>
        </p:nvSpPr>
        <p:spPr>
          <a:xfrm>
            <a:off x="6591300" y="2028825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3" name="code_hl_24_2"/>
          <p:cNvSpPr>
            <a:spLocks noGrp="1"/>
          </p:cNvSpPr>
          <p:nvPr/>
        </p:nvSpPr>
        <p:spPr>
          <a:xfrm>
            <a:off x="6505575" y="2276475"/>
            <a:ext cx="47529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4" name="code_line_24_2"/>
          <p:cNvSpPr>
            <a:spLocks noGrp="1"/>
          </p:cNvSpPr>
          <p:nvPr/>
        </p:nvSpPr>
        <p:spPr>
          <a:xfrm>
            <a:off x="6591300" y="2266950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(child-&gt;parent == NULL)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code_line_24_3"/>
          <p:cNvSpPr>
            <a:spLocks noGrp="1"/>
          </p:cNvSpPr>
          <p:nvPr/>
        </p:nvSpPr>
        <p:spPr>
          <a:xfrm>
            <a:off x="6591300" y="2505075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child-&gt;tree-&gt;root = NULL;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code_hl_24_4"/>
          <p:cNvSpPr>
            <a:spLocks noGrp="1"/>
          </p:cNvSpPr>
          <p:nvPr/>
        </p:nvSpPr>
        <p:spPr>
          <a:xfrm>
            <a:off x="6505575" y="2752725"/>
            <a:ext cx="47529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7" name="code_line_24_4"/>
          <p:cNvSpPr>
            <a:spLocks noGrp="1"/>
          </p:cNvSpPr>
          <p:nvPr/>
        </p:nvSpPr>
        <p:spPr>
          <a:xfrm>
            <a:off x="6591300" y="2743200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else if (child-&gt;parent-&gt;left == child)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code_line_24_5"/>
          <p:cNvSpPr>
            <a:spLocks noGrp="1"/>
          </p:cNvSpPr>
          <p:nvPr/>
        </p:nvSpPr>
        <p:spPr>
          <a:xfrm>
            <a:off x="6591300" y="2981325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child-&gt;parent-&gt;left = NULL;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code_line_24_6"/>
          <p:cNvSpPr>
            <a:spLocks noGrp="1"/>
          </p:cNvSpPr>
          <p:nvPr/>
        </p:nvSpPr>
        <p:spPr>
          <a:xfrm>
            <a:off x="6591300" y="3219450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else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code_hl_24_7"/>
          <p:cNvSpPr>
            <a:spLocks noGrp="1"/>
          </p:cNvSpPr>
          <p:nvPr/>
        </p:nvSpPr>
        <p:spPr>
          <a:xfrm>
            <a:off x="6505575" y="3467100"/>
            <a:ext cx="47529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1" name="code_line_24_7"/>
          <p:cNvSpPr>
            <a:spLocks noGrp="1"/>
          </p:cNvSpPr>
          <p:nvPr/>
        </p:nvSpPr>
        <p:spPr>
          <a:xfrm>
            <a:off x="6591300" y="3457575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child-&gt;parent-&gt;right = NULL;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code_line_24_8"/>
          <p:cNvSpPr>
            <a:spLocks noGrp="1"/>
          </p:cNvSpPr>
          <p:nvPr/>
        </p:nvSpPr>
        <p:spPr>
          <a:xfrm>
            <a:off x="6591300" y="3695700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23" name="code_hl_24_9"/>
          <p:cNvSpPr>
            <a:spLocks noGrp="1"/>
          </p:cNvSpPr>
          <p:nvPr/>
        </p:nvSpPr>
        <p:spPr>
          <a:xfrm>
            <a:off x="6505575" y="3943350"/>
            <a:ext cx="47529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4" name="code_line_24_9"/>
          <p:cNvSpPr>
            <a:spLocks noGrp="1"/>
          </p:cNvSpPr>
          <p:nvPr/>
        </p:nvSpPr>
        <p:spPr>
          <a:xfrm>
            <a:off x="6591300" y="3933825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delete child;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code_line_24_10"/>
          <p:cNvSpPr>
            <a:spLocks noGrp="1"/>
          </p:cNvSpPr>
          <p:nvPr/>
        </p:nvSpPr>
        <p:spPr>
          <a:xfrm>
            <a:off x="6591300" y="4171950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26" name="code_hl_24_11"/>
          <p:cNvSpPr>
            <a:spLocks noGrp="1"/>
          </p:cNvSpPr>
          <p:nvPr/>
        </p:nvSpPr>
        <p:spPr>
          <a:xfrm>
            <a:off x="6505575" y="4419600"/>
            <a:ext cx="47529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7" name="code_line_24_11"/>
          <p:cNvSpPr>
            <a:spLocks noGrp="1"/>
          </p:cNvSpPr>
          <p:nvPr/>
        </p:nvSpPr>
        <p:spPr>
          <a:xfrm>
            <a:off x="6591300" y="4410075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node-&gt;left = NULL;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8" name="code_hl_24_12"/>
          <p:cNvSpPr>
            <a:spLocks noGrp="1"/>
          </p:cNvSpPr>
          <p:nvPr/>
        </p:nvSpPr>
        <p:spPr>
          <a:xfrm>
            <a:off x="6505575" y="4657725"/>
            <a:ext cx="47529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9" name="code_line_24_12"/>
          <p:cNvSpPr>
            <a:spLocks noGrp="1"/>
          </p:cNvSpPr>
          <p:nvPr/>
        </p:nvSpPr>
        <p:spPr>
          <a:xfrm>
            <a:off x="6591300" y="4648200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node-&gt;right = NULL;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0" name="code_hl_24_13"/>
          <p:cNvSpPr>
            <a:spLocks noGrp="1"/>
          </p:cNvSpPr>
          <p:nvPr/>
        </p:nvSpPr>
        <p:spPr>
          <a:xfrm>
            <a:off x="6505575" y="4895850"/>
            <a:ext cx="475297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31" name="code_line_24_13"/>
          <p:cNvSpPr>
            <a:spLocks noGrp="1"/>
          </p:cNvSpPr>
          <p:nvPr/>
        </p:nvSpPr>
        <p:spPr>
          <a:xfrm>
            <a:off x="6591300" y="4886325"/>
            <a:ext cx="4619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delete node;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25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· 删除修复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25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 adjustRemove 以后，只观察 parent、sibling 和两个侄子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25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25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25_42"/>
          <p:cNvSpPr>
            <a:spLocks noGrp="1"/>
          </p:cNvSpPr>
          <p:nvPr/>
        </p:nvSpPr>
        <p:spPr>
          <a:xfrm>
            <a:off x="400050" y="1695450"/>
            <a:ext cx="581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为什么不需要重新分析整棵树？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25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25_42"/>
          <p:cNvSpPr>
            <a:spLocks noGrp="1"/>
          </p:cNvSpPr>
          <p:nvPr/>
        </p:nvSpPr>
        <p:spPr>
          <a:xfrm>
            <a:off x="628650" y="2419350"/>
            <a:ext cx="55245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删除发生前整棵树是合法的。现在唯一新增的问题，是 node 所在路径少了一个黑色。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因此当前层真正能提供补偿的，只可能是同一个 parent 下的另一边：sibling 本身的颜色、sibling 的两个孩子，以及 parent 是否有一个红色可以拿来变黑。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近侄与远侄不是固定的 left / right。node 在左边时，sibling 的左孩子是近侄、右孩子是远侄；node 在右边时刚好镜像。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les_tree_edge_p_d"/>
          <p:cNvSpPr>
            <a:spLocks noGrp="1"/>
          </p:cNvSpPr>
          <p:nvPr/>
        </p:nvSpPr>
        <p:spPr>
          <a:xfrm rot="8045437">
            <a:off x="7202011" y="3081338"/>
            <a:ext cx="2121853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0" name="roles_tree_edge_p_s"/>
          <p:cNvSpPr>
            <a:spLocks noGrp="1"/>
          </p:cNvSpPr>
          <p:nvPr/>
        </p:nvSpPr>
        <p:spPr>
          <a:xfrm rot="2868933">
            <a:off x="8663329" y="3081338"/>
            <a:ext cx="2056716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roles_tree_edge_s_n"/>
          <p:cNvSpPr>
            <a:spLocks noGrp="1"/>
          </p:cNvSpPr>
          <p:nvPr/>
        </p:nvSpPr>
        <p:spPr>
          <a:xfrm rot="6993903">
            <a:off x="9303426" y="4510088"/>
            <a:ext cx="1490898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roles_tree_edge_s_f"/>
          <p:cNvSpPr>
            <a:spLocks noGrp="1"/>
          </p:cNvSpPr>
          <p:nvPr/>
        </p:nvSpPr>
        <p:spPr>
          <a:xfrm rot="3806097">
            <a:off x="9970176" y="4510088"/>
            <a:ext cx="1490898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3" name="roles_tree_p"/>
          <p:cNvSpPr>
            <a:spLocks noGrp="1"/>
          </p:cNvSpPr>
          <p:nvPr/>
        </p:nvSpPr>
        <p:spPr>
          <a:xfrm>
            <a:off x="8763000" y="209550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roles_tree_p_label"/>
          <p:cNvSpPr>
            <a:spLocks noGrp="1"/>
          </p:cNvSpPr>
          <p:nvPr/>
        </p:nvSpPr>
        <p:spPr>
          <a:xfrm>
            <a:off x="8801100" y="2209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les_tree_d_outer"/>
          <p:cNvSpPr>
            <a:spLocks noGrp="1"/>
          </p:cNvSpPr>
          <p:nvPr/>
        </p:nvSpPr>
        <p:spPr>
          <a:xfrm>
            <a:off x="7219950" y="3552825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181C"/>
            </a:solidFill>
            <a:prstDash val="solid"/>
          </a:ln>
        </p:spPr>
      </p:sp>
      <p:sp>
        <p:nvSpPr>
          <p:cNvPr id="16" name="roles_tree_d"/>
          <p:cNvSpPr>
            <a:spLocks noGrp="1"/>
          </p:cNvSpPr>
          <p:nvPr/>
        </p:nvSpPr>
        <p:spPr>
          <a:xfrm>
            <a:off x="7286625" y="361950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roles_tree_d_label"/>
          <p:cNvSpPr>
            <a:spLocks noGrp="1"/>
          </p:cNvSpPr>
          <p:nvPr/>
        </p:nvSpPr>
        <p:spPr>
          <a:xfrm>
            <a:off x="7324725" y="3733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les_tree_s"/>
          <p:cNvSpPr>
            <a:spLocks noGrp="1"/>
          </p:cNvSpPr>
          <p:nvPr/>
        </p:nvSpPr>
        <p:spPr>
          <a:xfrm>
            <a:off x="10144125" y="361950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roles_tree_s_label"/>
          <p:cNvSpPr>
            <a:spLocks noGrp="1"/>
          </p:cNvSpPr>
          <p:nvPr/>
        </p:nvSpPr>
        <p:spPr>
          <a:xfrm>
            <a:off x="10182225" y="3733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les_tree_n"/>
          <p:cNvSpPr>
            <a:spLocks noGrp="1"/>
          </p:cNvSpPr>
          <p:nvPr/>
        </p:nvSpPr>
        <p:spPr>
          <a:xfrm>
            <a:off x="9477375" y="495300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roles_tree_n_label"/>
          <p:cNvSpPr>
            <a:spLocks noGrp="1"/>
          </p:cNvSpPr>
          <p:nvPr/>
        </p:nvSpPr>
        <p:spPr>
          <a:xfrm>
            <a:off x="9515475" y="50673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les_tree_f"/>
          <p:cNvSpPr>
            <a:spLocks noGrp="1"/>
          </p:cNvSpPr>
          <p:nvPr/>
        </p:nvSpPr>
        <p:spPr>
          <a:xfrm>
            <a:off x="10810875" y="495300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roles_tree_f_label"/>
          <p:cNvSpPr>
            <a:spLocks noGrp="1"/>
          </p:cNvSpPr>
          <p:nvPr/>
        </p:nvSpPr>
        <p:spPr>
          <a:xfrm>
            <a:off x="10848975" y="50673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les_note"/>
          <p:cNvSpPr>
            <a:spLocks noGrp="1"/>
          </p:cNvSpPr>
          <p:nvPr/>
        </p:nvSpPr>
        <p:spPr>
          <a:xfrm>
            <a:off x="7810500" y="561975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在左边：N = near，F = far</a:t>
            </a:r>
            <a:endParaRPr sz="135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948815" y="4436745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think:</a:t>
            </a:r>
            <a:r>
              <a:rPr lang="zh-CN" altLang="en-US"/>
              <a:t>旋转对于红黑树来说意味着</a:t>
            </a:r>
            <a:r>
              <a:rPr lang="zh-CN" altLang="en-US"/>
              <a:t>什么？</a:t>
            </a:r>
            <a:endParaRPr lang="zh-CN" altLang="en-US"/>
          </a:p>
          <a:p>
            <a:r>
              <a:rPr lang="zh-CN" altLang="en-US"/>
              <a:t>旋转之后，子树的颜色分布会发生变化。</a:t>
            </a:r>
            <a:endParaRPr lang="zh-CN" altLang="en-US"/>
          </a:p>
          <a:p>
            <a:r>
              <a:rPr lang="zh-CN" altLang="en-US"/>
              <a:t>比如左旋可以让左侄子到左边，相当于沾了兄弟的光，同时右边的线路甩掉了原来的父</a:t>
            </a:r>
            <a:r>
              <a:rPr lang="zh-CN" altLang="en-US"/>
              <a:t>节点。</a:t>
            </a:r>
            <a:endParaRPr lang="zh-CN" altLang="en-US"/>
          </a:p>
          <a:p>
            <a:r>
              <a:rPr lang="zh-CN" altLang="en-US"/>
              <a:t>如果我们能改变颜色然后旋转就能控制这个子树的颜色</a:t>
            </a:r>
            <a:r>
              <a:rPr lang="zh-CN" altLang="en-US"/>
              <a:t>分布。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26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· 删除修复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26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情况一：双黑走到根，为什么根可以直接吸收它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26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26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efore_panel_26"/>
          <p:cNvSpPr>
            <a:spLocks noGrp="1"/>
          </p:cNvSpPr>
          <p:nvPr/>
        </p:nvSpPr>
        <p:spPr>
          <a:xfrm>
            <a:off x="400050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7" name="after_panel_26"/>
          <p:cNvSpPr>
            <a:spLocks noGrp="1"/>
          </p:cNvSpPr>
          <p:nvPr/>
        </p:nvSpPr>
        <p:spPr>
          <a:xfrm>
            <a:off x="6696075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8" name="before_label_26"/>
          <p:cNvSpPr>
            <a:spLocks noGrp="1"/>
          </p:cNvSpPr>
          <p:nvPr/>
        </p:nvSpPr>
        <p:spPr>
          <a:xfrm>
            <a:off x="590550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额外黑色一路上推，最后 node 已经没有 parent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fter_label_26"/>
          <p:cNvSpPr>
            <a:spLocks noGrp="1"/>
          </p:cNvSpPr>
          <p:nvPr/>
        </p:nvSpPr>
        <p:spPr>
          <a:xfrm>
            <a:off x="6886575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根恢复为普通黑色，所有路径同时去掉额外黑色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efore_26_r_outer"/>
          <p:cNvSpPr>
            <a:spLocks noGrp="1"/>
          </p:cNvSpPr>
          <p:nvPr/>
        </p:nvSpPr>
        <p:spPr>
          <a:xfrm>
            <a:off x="2600325" y="3219450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181C"/>
            </a:solidFill>
            <a:prstDash val="solid"/>
          </a:ln>
        </p:spPr>
      </p:sp>
      <p:sp>
        <p:nvSpPr>
          <p:cNvPr id="11" name="before_26_r"/>
          <p:cNvSpPr>
            <a:spLocks noGrp="1"/>
          </p:cNvSpPr>
          <p:nvPr/>
        </p:nvSpPr>
        <p:spPr>
          <a:xfrm>
            <a:off x="2667000" y="32861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before_26_r_label"/>
          <p:cNvSpPr>
            <a:spLocks noGrp="1"/>
          </p:cNvSpPr>
          <p:nvPr/>
        </p:nvSpPr>
        <p:spPr>
          <a:xfrm>
            <a:off x="2705100" y="34004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fter_26_r"/>
          <p:cNvSpPr>
            <a:spLocks noGrp="1"/>
          </p:cNvSpPr>
          <p:nvPr/>
        </p:nvSpPr>
        <p:spPr>
          <a:xfrm>
            <a:off x="8953500" y="32861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after_26_r_label"/>
          <p:cNvSpPr>
            <a:spLocks noGrp="1"/>
          </p:cNvSpPr>
          <p:nvPr/>
        </p:nvSpPr>
        <p:spPr>
          <a:xfrm>
            <a:off x="8991600" y="34004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ransition_26_shaft"/>
          <p:cNvSpPr>
            <a:spLocks noGrp="1"/>
          </p:cNvSpPr>
          <p:nvPr/>
        </p:nvSpPr>
        <p:spPr>
          <a:xfrm>
            <a:off x="5810250" y="3600450"/>
            <a:ext cx="5715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16" name="transition_26_head_1"/>
          <p:cNvSpPr>
            <a:spLocks noGrp="1"/>
          </p:cNvSpPr>
          <p:nvPr/>
        </p:nvSpPr>
        <p:spPr>
          <a:xfrm rot="8856000">
            <a:off x="6276347" y="3631073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17" name="transition_26_head_2"/>
          <p:cNvSpPr>
            <a:spLocks noGrp="1"/>
          </p:cNvSpPr>
          <p:nvPr/>
        </p:nvSpPr>
        <p:spPr>
          <a:xfrm rot="-8856000">
            <a:off x="6276347" y="3569827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18" name="transition_caption_26"/>
          <p:cNvSpPr>
            <a:spLocks noGrp="1"/>
          </p:cNvSpPr>
          <p:nvPr/>
        </p:nvSpPr>
        <p:spPr>
          <a:xfrm>
            <a:off x="1714500" y="5772150"/>
            <a:ext cx="876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根出现在所有根到叶子的路径上，所以把 DOUBLE_BLACK 恢复成 BLACK 不会制造路径间差异。这也是循环的终止兜底：局部若无法消掉亏损，就向上推；树高有限，最多走到根。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27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· 删除修复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27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情况二：兄弟为红，旋转的目的只是换一个黑兄弟出来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27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27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efore_panel_27"/>
          <p:cNvSpPr>
            <a:spLocks noGrp="1"/>
          </p:cNvSpPr>
          <p:nvPr/>
        </p:nvSpPr>
        <p:spPr>
          <a:xfrm>
            <a:off x="400050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7" name="after_panel_27"/>
          <p:cNvSpPr>
            <a:spLocks noGrp="1"/>
          </p:cNvSpPr>
          <p:nvPr/>
        </p:nvSpPr>
        <p:spPr>
          <a:xfrm>
            <a:off x="6696075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8" name="before_label_27"/>
          <p:cNvSpPr>
            <a:spLocks noGrp="1"/>
          </p:cNvSpPr>
          <p:nvPr/>
        </p:nvSpPr>
        <p:spPr>
          <a:xfrm>
            <a:off x="590550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 sibling 是红色，不能直接套用黑兄弟分支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fter_label_27"/>
          <p:cNvSpPr>
            <a:spLocks noGrp="1"/>
          </p:cNvSpPr>
          <p:nvPr/>
        </p:nvSpPr>
        <p:spPr>
          <a:xfrm>
            <a:off x="6886575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上升，P 变红；node 的新兄弟 N 为黑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efore_27_edge_p_d"/>
          <p:cNvSpPr>
            <a:spLocks noGrp="1"/>
          </p:cNvSpPr>
          <p:nvPr/>
        </p:nvSpPr>
        <p:spPr>
          <a:xfrm rot="7521748">
            <a:off x="1428437" y="3343275"/>
            <a:ext cx="181037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before_27_edge_p_s"/>
          <p:cNvSpPr>
            <a:spLocks noGrp="1"/>
          </p:cNvSpPr>
          <p:nvPr/>
        </p:nvSpPr>
        <p:spPr>
          <a:xfrm rot="3135192">
            <a:off x="2495441" y="3343275"/>
            <a:ext cx="1867119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before_27_edge_s_n"/>
          <p:cNvSpPr>
            <a:spLocks noGrp="1"/>
          </p:cNvSpPr>
          <p:nvPr/>
        </p:nvSpPr>
        <p:spPr>
          <a:xfrm rot="7305569">
            <a:off x="3102812" y="4581525"/>
            <a:ext cx="117625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3" name="before_27_edge_s_f"/>
          <p:cNvSpPr>
            <a:spLocks noGrp="1"/>
          </p:cNvSpPr>
          <p:nvPr/>
        </p:nvSpPr>
        <p:spPr>
          <a:xfrm rot="3378596">
            <a:off x="3732875" y="4581525"/>
            <a:ext cx="120200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4" name="before_27_p"/>
          <p:cNvSpPr>
            <a:spLocks noGrp="1"/>
          </p:cNvSpPr>
          <p:nvPr/>
        </p:nvSpPr>
        <p:spPr>
          <a:xfrm>
            <a:off x="2619375" y="23812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before_27_p_label"/>
          <p:cNvSpPr>
            <a:spLocks noGrp="1"/>
          </p:cNvSpPr>
          <p:nvPr/>
        </p:nvSpPr>
        <p:spPr>
          <a:xfrm>
            <a:off x="2657475" y="2495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before_27_d_outer"/>
          <p:cNvSpPr>
            <a:spLocks noGrp="1"/>
          </p:cNvSpPr>
          <p:nvPr/>
        </p:nvSpPr>
        <p:spPr>
          <a:xfrm>
            <a:off x="1504950" y="3790950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181C"/>
            </a:solidFill>
            <a:prstDash val="solid"/>
          </a:ln>
        </p:spPr>
      </p:sp>
      <p:sp>
        <p:nvSpPr>
          <p:cNvPr id="17" name="before_27_d"/>
          <p:cNvSpPr>
            <a:spLocks noGrp="1"/>
          </p:cNvSpPr>
          <p:nvPr/>
        </p:nvSpPr>
        <p:spPr>
          <a:xfrm>
            <a:off x="1571625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before_27_d_label"/>
          <p:cNvSpPr>
            <a:spLocks noGrp="1"/>
          </p:cNvSpPr>
          <p:nvPr/>
        </p:nvSpPr>
        <p:spPr>
          <a:xfrm>
            <a:off x="1609725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before_27_s"/>
          <p:cNvSpPr>
            <a:spLocks noGrp="1"/>
          </p:cNvSpPr>
          <p:nvPr/>
        </p:nvSpPr>
        <p:spPr>
          <a:xfrm>
            <a:off x="3762375" y="3857625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before_27_s_label"/>
          <p:cNvSpPr>
            <a:spLocks noGrp="1"/>
          </p:cNvSpPr>
          <p:nvPr/>
        </p:nvSpPr>
        <p:spPr>
          <a:xfrm>
            <a:off x="3800475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before_27_n"/>
          <p:cNvSpPr>
            <a:spLocks noGrp="1"/>
          </p:cNvSpPr>
          <p:nvPr/>
        </p:nvSpPr>
        <p:spPr>
          <a:xfrm>
            <a:off x="3143250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before_27_n_label"/>
          <p:cNvSpPr>
            <a:spLocks noGrp="1"/>
          </p:cNvSpPr>
          <p:nvPr/>
        </p:nvSpPr>
        <p:spPr>
          <a:xfrm>
            <a:off x="3181350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before_27_f"/>
          <p:cNvSpPr>
            <a:spLocks noGrp="1"/>
          </p:cNvSpPr>
          <p:nvPr/>
        </p:nvSpPr>
        <p:spPr>
          <a:xfrm>
            <a:off x="4429125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before_27_f_label"/>
          <p:cNvSpPr>
            <a:spLocks noGrp="1"/>
          </p:cNvSpPr>
          <p:nvPr/>
        </p:nvSpPr>
        <p:spPr>
          <a:xfrm>
            <a:off x="446722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fter_27_edge_s_p"/>
          <p:cNvSpPr>
            <a:spLocks noGrp="1"/>
          </p:cNvSpPr>
          <p:nvPr/>
        </p:nvSpPr>
        <p:spPr>
          <a:xfrm rot="7799213">
            <a:off x="7609050" y="3343275"/>
            <a:ext cx="192690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6" name="after_27_edge_s_f"/>
          <p:cNvSpPr>
            <a:spLocks noGrp="1"/>
          </p:cNvSpPr>
          <p:nvPr/>
        </p:nvSpPr>
        <p:spPr>
          <a:xfrm rot="3000787">
            <a:off x="8847300" y="3343275"/>
            <a:ext cx="192690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7" name="after_27_edge_p_d"/>
          <p:cNvSpPr>
            <a:spLocks noGrp="1"/>
          </p:cNvSpPr>
          <p:nvPr/>
        </p:nvSpPr>
        <p:spPr>
          <a:xfrm rot="7532261">
            <a:off x="6981659" y="4581525"/>
            <a:ext cx="122905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8" name="after_27_edge_p_n"/>
          <p:cNvSpPr>
            <a:spLocks noGrp="1"/>
          </p:cNvSpPr>
          <p:nvPr/>
        </p:nvSpPr>
        <p:spPr>
          <a:xfrm rot="3267739">
            <a:off x="7696034" y="4581525"/>
            <a:ext cx="122905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9" name="after_27_s"/>
          <p:cNvSpPr>
            <a:spLocks noGrp="1"/>
          </p:cNvSpPr>
          <p:nvPr/>
        </p:nvSpPr>
        <p:spPr>
          <a:xfrm>
            <a:off x="8953500" y="23812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after_27_s_label"/>
          <p:cNvSpPr>
            <a:spLocks noGrp="1"/>
          </p:cNvSpPr>
          <p:nvPr/>
        </p:nvSpPr>
        <p:spPr>
          <a:xfrm>
            <a:off x="8991600" y="2495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after_27_p"/>
          <p:cNvSpPr>
            <a:spLocks noGrp="1"/>
          </p:cNvSpPr>
          <p:nvPr/>
        </p:nvSpPr>
        <p:spPr>
          <a:xfrm>
            <a:off x="7715250" y="3857625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after_27_p_label"/>
          <p:cNvSpPr>
            <a:spLocks noGrp="1"/>
          </p:cNvSpPr>
          <p:nvPr/>
        </p:nvSpPr>
        <p:spPr>
          <a:xfrm>
            <a:off x="7753350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after_27_f"/>
          <p:cNvSpPr>
            <a:spLocks noGrp="1"/>
          </p:cNvSpPr>
          <p:nvPr/>
        </p:nvSpPr>
        <p:spPr>
          <a:xfrm>
            <a:off x="10191750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after_27_f_label"/>
          <p:cNvSpPr>
            <a:spLocks noGrp="1"/>
          </p:cNvSpPr>
          <p:nvPr/>
        </p:nvSpPr>
        <p:spPr>
          <a:xfrm>
            <a:off x="10229850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after_27_d_outer"/>
          <p:cNvSpPr>
            <a:spLocks noGrp="1"/>
          </p:cNvSpPr>
          <p:nvPr/>
        </p:nvSpPr>
        <p:spPr>
          <a:xfrm>
            <a:off x="6934200" y="4791075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181C"/>
            </a:solidFill>
            <a:prstDash val="solid"/>
          </a:ln>
        </p:spPr>
      </p:sp>
      <p:sp>
        <p:nvSpPr>
          <p:cNvPr id="36" name="after_27_d"/>
          <p:cNvSpPr>
            <a:spLocks noGrp="1"/>
          </p:cNvSpPr>
          <p:nvPr/>
        </p:nvSpPr>
        <p:spPr>
          <a:xfrm>
            <a:off x="7000875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after_27_d_label"/>
          <p:cNvSpPr>
            <a:spLocks noGrp="1"/>
          </p:cNvSpPr>
          <p:nvPr/>
        </p:nvSpPr>
        <p:spPr>
          <a:xfrm>
            <a:off x="703897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after_27_n"/>
          <p:cNvSpPr>
            <a:spLocks noGrp="1"/>
          </p:cNvSpPr>
          <p:nvPr/>
        </p:nvSpPr>
        <p:spPr>
          <a:xfrm>
            <a:off x="8429625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after_27_n_label"/>
          <p:cNvSpPr>
            <a:spLocks noGrp="1"/>
          </p:cNvSpPr>
          <p:nvPr/>
        </p:nvSpPr>
        <p:spPr>
          <a:xfrm>
            <a:off x="846772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ransition_27_shaft"/>
          <p:cNvSpPr>
            <a:spLocks noGrp="1"/>
          </p:cNvSpPr>
          <p:nvPr/>
        </p:nvSpPr>
        <p:spPr>
          <a:xfrm>
            <a:off x="5810250" y="3600450"/>
            <a:ext cx="5715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1" name="transition_27_head_1"/>
          <p:cNvSpPr>
            <a:spLocks noGrp="1"/>
          </p:cNvSpPr>
          <p:nvPr/>
        </p:nvSpPr>
        <p:spPr>
          <a:xfrm rot="8856000">
            <a:off x="6276347" y="3631073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2" name="transition_27_head_2"/>
          <p:cNvSpPr>
            <a:spLocks noGrp="1"/>
          </p:cNvSpPr>
          <p:nvPr/>
        </p:nvSpPr>
        <p:spPr>
          <a:xfrm rot="-8856000">
            <a:off x="6276347" y="3569827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3" name="transition_caption_27"/>
          <p:cNvSpPr>
            <a:spLocks noGrp="1"/>
          </p:cNvSpPr>
          <p:nvPr/>
        </p:nvSpPr>
        <p:spPr>
          <a:xfrm>
            <a:off x="1714500" y="5772150"/>
            <a:ext cx="876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红兄弟分支不直接消除双黑。它只是通过换色和旋转，把局面改写成后面统一处理的“黑兄弟”。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28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· 删除修复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28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情况三：父黑、兄弟黑、双侄黑，为什么 sibling 染红后亏损会上移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28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28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efore_panel_28"/>
          <p:cNvSpPr>
            <a:spLocks noGrp="1"/>
          </p:cNvSpPr>
          <p:nvPr/>
        </p:nvSpPr>
        <p:spPr>
          <a:xfrm>
            <a:off x="400050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7" name="after_panel_28"/>
          <p:cNvSpPr>
            <a:spLocks noGrp="1"/>
          </p:cNvSpPr>
          <p:nvPr/>
        </p:nvSpPr>
        <p:spPr>
          <a:xfrm>
            <a:off x="6696075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8" name="before_label_28"/>
          <p:cNvSpPr>
            <a:spLocks noGrp="1"/>
          </p:cNvSpPr>
          <p:nvPr/>
        </p:nvSpPr>
        <p:spPr>
          <a:xfrm>
            <a:off x="590550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这一边少一个黑色，兄弟整边又拿不出红色补偿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fter_label_28"/>
          <p:cNvSpPr>
            <a:spLocks noGrp="1"/>
          </p:cNvSpPr>
          <p:nvPr/>
        </p:nvSpPr>
        <p:spPr>
          <a:xfrm>
            <a:off x="6886575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染红，右边也少一个黑色；亏损改由 P 承担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efore_28_edge_p_d"/>
          <p:cNvSpPr>
            <a:spLocks noGrp="1"/>
          </p:cNvSpPr>
          <p:nvPr/>
        </p:nvSpPr>
        <p:spPr>
          <a:xfrm rot="7521748">
            <a:off x="1428437" y="3343275"/>
            <a:ext cx="181037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before_28_edge_p_s"/>
          <p:cNvSpPr>
            <a:spLocks noGrp="1"/>
          </p:cNvSpPr>
          <p:nvPr/>
        </p:nvSpPr>
        <p:spPr>
          <a:xfrm rot="3135192">
            <a:off x="2495441" y="3343275"/>
            <a:ext cx="1867119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before_28_edge_s_n"/>
          <p:cNvSpPr>
            <a:spLocks noGrp="1"/>
          </p:cNvSpPr>
          <p:nvPr/>
        </p:nvSpPr>
        <p:spPr>
          <a:xfrm rot="7305569">
            <a:off x="3102812" y="4581525"/>
            <a:ext cx="117625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3" name="before_28_edge_s_f"/>
          <p:cNvSpPr>
            <a:spLocks noGrp="1"/>
          </p:cNvSpPr>
          <p:nvPr/>
        </p:nvSpPr>
        <p:spPr>
          <a:xfrm rot="3378596">
            <a:off x="3732875" y="4581525"/>
            <a:ext cx="120200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4" name="before_28_p"/>
          <p:cNvSpPr>
            <a:spLocks noGrp="1"/>
          </p:cNvSpPr>
          <p:nvPr/>
        </p:nvSpPr>
        <p:spPr>
          <a:xfrm>
            <a:off x="2619375" y="23812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before_28_p_label"/>
          <p:cNvSpPr>
            <a:spLocks noGrp="1"/>
          </p:cNvSpPr>
          <p:nvPr/>
        </p:nvSpPr>
        <p:spPr>
          <a:xfrm>
            <a:off x="2657475" y="2495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before_28_d_outer"/>
          <p:cNvSpPr>
            <a:spLocks noGrp="1"/>
          </p:cNvSpPr>
          <p:nvPr/>
        </p:nvSpPr>
        <p:spPr>
          <a:xfrm>
            <a:off x="1504950" y="3790950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181C"/>
            </a:solidFill>
            <a:prstDash val="solid"/>
          </a:ln>
        </p:spPr>
      </p:sp>
      <p:sp>
        <p:nvSpPr>
          <p:cNvPr id="17" name="before_28_d"/>
          <p:cNvSpPr>
            <a:spLocks noGrp="1"/>
          </p:cNvSpPr>
          <p:nvPr/>
        </p:nvSpPr>
        <p:spPr>
          <a:xfrm>
            <a:off x="1571625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before_28_d_label"/>
          <p:cNvSpPr>
            <a:spLocks noGrp="1"/>
          </p:cNvSpPr>
          <p:nvPr/>
        </p:nvSpPr>
        <p:spPr>
          <a:xfrm>
            <a:off x="1609725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before_28_s"/>
          <p:cNvSpPr>
            <a:spLocks noGrp="1"/>
          </p:cNvSpPr>
          <p:nvPr/>
        </p:nvSpPr>
        <p:spPr>
          <a:xfrm>
            <a:off x="3762375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before_28_s_label"/>
          <p:cNvSpPr>
            <a:spLocks noGrp="1"/>
          </p:cNvSpPr>
          <p:nvPr/>
        </p:nvSpPr>
        <p:spPr>
          <a:xfrm>
            <a:off x="3800475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before_28_n"/>
          <p:cNvSpPr>
            <a:spLocks noGrp="1"/>
          </p:cNvSpPr>
          <p:nvPr/>
        </p:nvSpPr>
        <p:spPr>
          <a:xfrm>
            <a:off x="3143250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before_28_n_label"/>
          <p:cNvSpPr>
            <a:spLocks noGrp="1"/>
          </p:cNvSpPr>
          <p:nvPr/>
        </p:nvSpPr>
        <p:spPr>
          <a:xfrm>
            <a:off x="3181350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before_28_f"/>
          <p:cNvSpPr>
            <a:spLocks noGrp="1"/>
          </p:cNvSpPr>
          <p:nvPr/>
        </p:nvSpPr>
        <p:spPr>
          <a:xfrm>
            <a:off x="4429125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before_28_f_label"/>
          <p:cNvSpPr>
            <a:spLocks noGrp="1"/>
          </p:cNvSpPr>
          <p:nvPr/>
        </p:nvSpPr>
        <p:spPr>
          <a:xfrm>
            <a:off x="446722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fter_28_edge_p_d"/>
          <p:cNvSpPr>
            <a:spLocks noGrp="1"/>
          </p:cNvSpPr>
          <p:nvPr/>
        </p:nvSpPr>
        <p:spPr>
          <a:xfrm rot="7521748">
            <a:off x="7762562" y="3343275"/>
            <a:ext cx="181037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6" name="after_28_edge_p_s"/>
          <p:cNvSpPr>
            <a:spLocks noGrp="1"/>
          </p:cNvSpPr>
          <p:nvPr/>
        </p:nvSpPr>
        <p:spPr>
          <a:xfrm rot="3135192">
            <a:off x="8829566" y="3343275"/>
            <a:ext cx="1867119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7" name="after_28_edge_s_n"/>
          <p:cNvSpPr>
            <a:spLocks noGrp="1"/>
          </p:cNvSpPr>
          <p:nvPr/>
        </p:nvSpPr>
        <p:spPr>
          <a:xfrm rot="7305569">
            <a:off x="9436937" y="4581525"/>
            <a:ext cx="117625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8" name="after_28_edge_s_f"/>
          <p:cNvSpPr>
            <a:spLocks noGrp="1"/>
          </p:cNvSpPr>
          <p:nvPr/>
        </p:nvSpPr>
        <p:spPr>
          <a:xfrm rot="3494431">
            <a:off x="10056062" y="4581525"/>
            <a:ext cx="117625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9" name="after_28_p_outer"/>
          <p:cNvSpPr>
            <a:spLocks noGrp="1"/>
          </p:cNvSpPr>
          <p:nvPr/>
        </p:nvSpPr>
        <p:spPr>
          <a:xfrm>
            <a:off x="8886825" y="2314575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181C"/>
            </a:solidFill>
            <a:prstDash val="solid"/>
          </a:ln>
        </p:spPr>
      </p:sp>
      <p:sp>
        <p:nvSpPr>
          <p:cNvPr id="30" name="after_28_p"/>
          <p:cNvSpPr>
            <a:spLocks noGrp="1"/>
          </p:cNvSpPr>
          <p:nvPr/>
        </p:nvSpPr>
        <p:spPr>
          <a:xfrm>
            <a:off x="8953500" y="23812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after_28_p_label"/>
          <p:cNvSpPr>
            <a:spLocks noGrp="1"/>
          </p:cNvSpPr>
          <p:nvPr/>
        </p:nvSpPr>
        <p:spPr>
          <a:xfrm>
            <a:off x="8991600" y="2495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after_28_d"/>
          <p:cNvSpPr>
            <a:spLocks noGrp="1"/>
          </p:cNvSpPr>
          <p:nvPr/>
        </p:nvSpPr>
        <p:spPr>
          <a:xfrm>
            <a:off x="7905750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after_28_d_label"/>
          <p:cNvSpPr>
            <a:spLocks noGrp="1"/>
          </p:cNvSpPr>
          <p:nvPr/>
        </p:nvSpPr>
        <p:spPr>
          <a:xfrm>
            <a:off x="7943850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after_28_s"/>
          <p:cNvSpPr>
            <a:spLocks noGrp="1"/>
          </p:cNvSpPr>
          <p:nvPr/>
        </p:nvSpPr>
        <p:spPr>
          <a:xfrm>
            <a:off x="10096500" y="3857625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after_28_s_label"/>
          <p:cNvSpPr>
            <a:spLocks noGrp="1"/>
          </p:cNvSpPr>
          <p:nvPr/>
        </p:nvSpPr>
        <p:spPr>
          <a:xfrm>
            <a:off x="10134600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after_28_n"/>
          <p:cNvSpPr>
            <a:spLocks noGrp="1"/>
          </p:cNvSpPr>
          <p:nvPr/>
        </p:nvSpPr>
        <p:spPr>
          <a:xfrm>
            <a:off x="9477375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after_28_n_label"/>
          <p:cNvSpPr>
            <a:spLocks noGrp="1"/>
          </p:cNvSpPr>
          <p:nvPr/>
        </p:nvSpPr>
        <p:spPr>
          <a:xfrm>
            <a:off x="951547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after_28_f"/>
          <p:cNvSpPr>
            <a:spLocks noGrp="1"/>
          </p:cNvSpPr>
          <p:nvPr/>
        </p:nvSpPr>
        <p:spPr>
          <a:xfrm>
            <a:off x="10715625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after_28_f_label"/>
          <p:cNvSpPr>
            <a:spLocks noGrp="1"/>
          </p:cNvSpPr>
          <p:nvPr/>
        </p:nvSpPr>
        <p:spPr>
          <a:xfrm>
            <a:off x="1075372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ransition_28_shaft"/>
          <p:cNvSpPr>
            <a:spLocks noGrp="1"/>
          </p:cNvSpPr>
          <p:nvPr/>
        </p:nvSpPr>
        <p:spPr>
          <a:xfrm>
            <a:off x="5810250" y="3600450"/>
            <a:ext cx="5715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1" name="transition_28_head_1"/>
          <p:cNvSpPr>
            <a:spLocks noGrp="1"/>
          </p:cNvSpPr>
          <p:nvPr/>
        </p:nvSpPr>
        <p:spPr>
          <a:xfrm rot="8856000">
            <a:off x="6276347" y="3631073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2" name="transition_28_head_2"/>
          <p:cNvSpPr>
            <a:spLocks noGrp="1"/>
          </p:cNvSpPr>
          <p:nvPr/>
        </p:nvSpPr>
        <p:spPr>
          <a:xfrm rot="-8856000">
            <a:off x="6276347" y="3569827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3" name="transition_caption_28"/>
          <p:cNvSpPr>
            <a:spLocks noGrp="1"/>
          </p:cNvSpPr>
          <p:nvPr/>
        </p:nvSpPr>
        <p:spPr>
          <a:xfrm>
            <a:off x="1714500" y="5772150"/>
            <a:ext cx="876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sibling 染红不是在“补左边”，而是在让右边也少一个黑色。两边重新相等后，把共同的亏损交给 parent，继续向上检查。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29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· 删除修复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29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情况四：parent 为红时，它本身就是可以直接兑现的黑色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29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29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efore_panel_29"/>
          <p:cNvSpPr>
            <a:spLocks noGrp="1"/>
          </p:cNvSpPr>
          <p:nvPr/>
        </p:nvSpPr>
        <p:spPr>
          <a:xfrm>
            <a:off x="400050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7" name="after_panel_29"/>
          <p:cNvSpPr>
            <a:spLocks noGrp="1"/>
          </p:cNvSpPr>
          <p:nvPr/>
        </p:nvSpPr>
        <p:spPr>
          <a:xfrm>
            <a:off x="6696075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8" name="before_label_29"/>
          <p:cNvSpPr>
            <a:spLocks noGrp="1"/>
          </p:cNvSpPr>
          <p:nvPr/>
        </p:nvSpPr>
        <p:spPr>
          <a:xfrm>
            <a:off x="590550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父红、兄弟黑、两个侄子都黑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fter_label_29"/>
          <p:cNvSpPr>
            <a:spLocks noGrp="1"/>
          </p:cNvSpPr>
          <p:nvPr/>
        </p:nvSpPr>
        <p:spPr>
          <a:xfrm>
            <a:off x="6886575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染黑、S 染红，当前层直接平衡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efore_29_edge_p_d"/>
          <p:cNvSpPr>
            <a:spLocks noGrp="1"/>
          </p:cNvSpPr>
          <p:nvPr/>
        </p:nvSpPr>
        <p:spPr>
          <a:xfrm rot="7521748">
            <a:off x="1428437" y="3343275"/>
            <a:ext cx="181037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before_29_edge_p_s"/>
          <p:cNvSpPr>
            <a:spLocks noGrp="1"/>
          </p:cNvSpPr>
          <p:nvPr/>
        </p:nvSpPr>
        <p:spPr>
          <a:xfrm rot="3135192">
            <a:off x="2495441" y="3343275"/>
            <a:ext cx="1867119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before_29_edge_s_n"/>
          <p:cNvSpPr>
            <a:spLocks noGrp="1"/>
          </p:cNvSpPr>
          <p:nvPr/>
        </p:nvSpPr>
        <p:spPr>
          <a:xfrm rot="7305569">
            <a:off x="3102812" y="4581525"/>
            <a:ext cx="117625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3" name="before_29_edge_s_f"/>
          <p:cNvSpPr>
            <a:spLocks noGrp="1"/>
          </p:cNvSpPr>
          <p:nvPr/>
        </p:nvSpPr>
        <p:spPr>
          <a:xfrm rot="3378596">
            <a:off x="3732875" y="4581525"/>
            <a:ext cx="120200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4" name="before_29_p"/>
          <p:cNvSpPr>
            <a:spLocks noGrp="1"/>
          </p:cNvSpPr>
          <p:nvPr/>
        </p:nvSpPr>
        <p:spPr>
          <a:xfrm>
            <a:off x="2619375" y="23812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before_29_p_label"/>
          <p:cNvSpPr>
            <a:spLocks noGrp="1"/>
          </p:cNvSpPr>
          <p:nvPr/>
        </p:nvSpPr>
        <p:spPr>
          <a:xfrm>
            <a:off x="2657475" y="2495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before_29_d_outer"/>
          <p:cNvSpPr>
            <a:spLocks noGrp="1"/>
          </p:cNvSpPr>
          <p:nvPr/>
        </p:nvSpPr>
        <p:spPr>
          <a:xfrm>
            <a:off x="1504950" y="3790950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181C"/>
            </a:solidFill>
            <a:prstDash val="solid"/>
          </a:ln>
        </p:spPr>
      </p:sp>
      <p:sp>
        <p:nvSpPr>
          <p:cNvPr id="17" name="before_29_d"/>
          <p:cNvSpPr>
            <a:spLocks noGrp="1"/>
          </p:cNvSpPr>
          <p:nvPr/>
        </p:nvSpPr>
        <p:spPr>
          <a:xfrm>
            <a:off x="1571625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before_29_d_label"/>
          <p:cNvSpPr>
            <a:spLocks noGrp="1"/>
          </p:cNvSpPr>
          <p:nvPr/>
        </p:nvSpPr>
        <p:spPr>
          <a:xfrm>
            <a:off x="1609725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before_29_s"/>
          <p:cNvSpPr>
            <a:spLocks noGrp="1"/>
          </p:cNvSpPr>
          <p:nvPr/>
        </p:nvSpPr>
        <p:spPr>
          <a:xfrm>
            <a:off x="3762375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before_29_s_label"/>
          <p:cNvSpPr>
            <a:spLocks noGrp="1"/>
          </p:cNvSpPr>
          <p:nvPr/>
        </p:nvSpPr>
        <p:spPr>
          <a:xfrm>
            <a:off x="3800475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before_29_n"/>
          <p:cNvSpPr>
            <a:spLocks noGrp="1"/>
          </p:cNvSpPr>
          <p:nvPr/>
        </p:nvSpPr>
        <p:spPr>
          <a:xfrm>
            <a:off x="3143250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before_29_n_label"/>
          <p:cNvSpPr>
            <a:spLocks noGrp="1"/>
          </p:cNvSpPr>
          <p:nvPr/>
        </p:nvSpPr>
        <p:spPr>
          <a:xfrm>
            <a:off x="3181350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before_29_f"/>
          <p:cNvSpPr>
            <a:spLocks noGrp="1"/>
          </p:cNvSpPr>
          <p:nvPr/>
        </p:nvSpPr>
        <p:spPr>
          <a:xfrm>
            <a:off x="4429125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before_29_f_label"/>
          <p:cNvSpPr>
            <a:spLocks noGrp="1"/>
          </p:cNvSpPr>
          <p:nvPr/>
        </p:nvSpPr>
        <p:spPr>
          <a:xfrm>
            <a:off x="446722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fter_29_edge_p_d"/>
          <p:cNvSpPr>
            <a:spLocks noGrp="1"/>
          </p:cNvSpPr>
          <p:nvPr/>
        </p:nvSpPr>
        <p:spPr>
          <a:xfrm rot="7521748">
            <a:off x="7762562" y="3343275"/>
            <a:ext cx="181037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6" name="after_29_edge_p_s"/>
          <p:cNvSpPr>
            <a:spLocks noGrp="1"/>
          </p:cNvSpPr>
          <p:nvPr/>
        </p:nvSpPr>
        <p:spPr>
          <a:xfrm rot="3135192">
            <a:off x="8829566" y="3343275"/>
            <a:ext cx="1867119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7" name="after_29_edge_s_n"/>
          <p:cNvSpPr>
            <a:spLocks noGrp="1"/>
          </p:cNvSpPr>
          <p:nvPr/>
        </p:nvSpPr>
        <p:spPr>
          <a:xfrm rot="7305569">
            <a:off x="9436937" y="4581525"/>
            <a:ext cx="117625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8" name="after_29_edge_s_f"/>
          <p:cNvSpPr>
            <a:spLocks noGrp="1"/>
          </p:cNvSpPr>
          <p:nvPr/>
        </p:nvSpPr>
        <p:spPr>
          <a:xfrm rot="3494431">
            <a:off x="10056062" y="4581525"/>
            <a:ext cx="117625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9" name="after_29_p"/>
          <p:cNvSpPr>
            <a:spLocks noGrp="1"/>
          </p:cNvSpPr>
          <p:nvPr/>
        </p:nvSpPr>
        <p:spPr>
          <a:xfrm>
            <a:off x="8953500" y="23812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after_29_p_label"/>
          <p:cNvSpPr>
            <a:spLocks noGrp="1"/>
          </p:cNvSpPr>
          <p:nvPr/>
        </p:nvSpPr>
        <p:spPr>
          <a:xfrm>
            <a:off x="8991600" y="2495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after_29_d"/>
          <p:cNvSpPr>
            <a:spLocks noGrp="1"/>
          </p:cNvSpPr>
          <p:nvPr/>
        </p:nvSpPr>
        <p:spPr>
          <a:xfrm>
            <a:off x="7905750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after_29_d_label"/>
          <p:cNvSpPr>
            <a:spLocks noGrp="1"/>
          </p:cNvSpPr>
          <p:nvPr/>
        </p:nvSpPr>
        <p:spPr>
          <a:xfrm>
            <a:off x="7943850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after_29_s"/>
          <p:cNvSpPr>
            <a:spLocks noGrp="1"/>
          </p:cNvSpPr>
          <p:nvPr/>
        </p:nvSpPr>
        <p:spPr>
          <a:xfrm>
            <a:off x="10096500" y="3857625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after_29_s_label"/>
          <p:cNvSpPr>
            <a:spLocks noGrp="1"/>
          </p:cNvSpPr>
          <p:nvPr/>
        </p:nvSpPr>
        <p:spPr>
          <a:xfrm>
            <a:off x="10134600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after_29_n"/>
          <p:cNvSpPr>
            <a:spLocks noGrp="1"/>
          </p:cNvSpPr>
          <p:nvPr/>
        </p:nvSpPr>
        <p:spPr>
          <a:xfrm>
            <a:off x="9477375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after_29_n_label"/>
          <p:cNvSpPr>
            <a:spLocks noGrp="1"/>
          </p:cNvSpPr>
          <p:nvPr/>
        </p:nvSpPr>
        <p:spPr>
          <a:xfrm>
            <a:off x="951547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after_29_f"/>
          <p:cNvSpPr>
            <a:spLocks noGrp="1"/>
          </p:cNvSpPr>
          <p:nvPr/>
        </p:nvSpPr>
        <p:spPr>
          <a:xfrm>
            <a:off x="10715625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after_29_f_label"/>
          <p:cNvSpPr>
            <a:spLocks noGrp="1"/>
          </p:cNvSpPr>
          <p:nvPr/>
        </p:nvSpPr>
        <p:spPr>
          <a:xfrm>
            <a:off x="1075372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ransition_29_shaft"/>
          <p:cNvSpPr>
            <a:spLocks noGrp="1"/>
          </p:cNvSpPr>
          <p:nvPr/>
        </p:nvSpPr>
        <p:spPr>
          <a:xfrm>
            <a:off x="5810250" y="3600450"/>
            <a:ext cx="5715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0" name="transition_29_head_1"/>
          <p:cNvSpPr>
            <a:spLocks noGrp="1"/>
          </p:cNvSpPr>
          <p:nvPr/>
        </p:nvSpPr>
        <p:spPr>
          <a:xfrm rot="8856000">
            <a:off x="6276347" y="3631073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1" name="transition_29_head_2"/>
          <p:cNvSpPr>
            <a:spLocks noGrp="1"/>
          </p:cNvSpPr>
          <p:nvPr/>
        </p:nvSpPr>
        <p:spPr>
          <a:xfrm rot="-8856000">
            <a:off x="6276347" y="3569827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2" name="transition_caption_29"/>
          <p:cNvSpPr>
            <a:spLocks noGrp="1"/>
          </p:cNvSpPr>
          <p:nvPr/>
        </p:nvSpPr>
        <p:spPr>
          <a:xfrm>
            <a:off x="1714500" y="5772150"/>
            <a:ext cx="876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上一种情况 parent 是黑色，只能把亏损继续上推；这里 parent 原本是红色，染黑就能真实增加一个黑节点，所以不必继续。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30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· 删除修复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30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情况五：近侄红、远侄黑，先旋 sibling 把红色送到外侧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30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30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efore_panel_30"/>
          <p:cNvSpPr>
            <a:spLocks noGrp="1"/>
          </p:cNvSpPr>
          <p:nvPr/>
        </p:nvSpPr>
        <p:spPr>
          <a:xfrm>
            <a:off x="400050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7" name="after_panel_30"/>
          <p:cNvSpPr>
            <a:spLocks noGrp="1"/>
          </p:cNvSpPr>
          <p:nvPr/>
        </p:nvSpPr>
        <p:spPr>
          <a:xfrm>
            <a:off x="6696075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8" name="before_label_30"/>
          <p:cNvSpPr>
            <a:spLocks noGrp="1"/>
          </p:cNvSpPr>
          <p:nvPr/>
        </p:nvSpPr>
        <p:spPr>
          <a:xfrm>
            <a:off x="590550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近侄 N 是红色，但远侄 F 仍是黑色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fter_label_30"/>
          <p:cNvSpPr>
            <a:spLocks noGrp="1"/>
          </p:cNvSpPr>
          <p:nvPr/>
        </p:nvSpPr>
        <p:spPr>
          <a:xfrm>
            <a:off x="6886575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 S 右旋：N 上升，原 S 变成红色远侄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efore_30_edge_p_d"/>
          <p:cNvSpPr>
            <a:spLocks noGrp="1"/>
          </p:cNvSpPr>
          <p:nvPr/>
        </p:nvSpPr>
        <p:spPr>
          <a:xfrm rot="7521748">
            <a:off x="1428437" y="3343275"/>
            <a:ext cx="181037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before_30_edge_p_s"/>
          <p:cNvSpPr>
            <a:spLocks noGrp="1"/>
          </p:cNvSpPr>
          <p:nvPr/>
        </p:nvSpPr>
        <p:spPr>
          <a:xfrm rot="3135192">
            <a:off x="2495441" y="3343275"/>
            <a:ext cx="1867119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before_30_edge_s_n"/>
          <p:cNvSpPr>
            <a:spLocks noGrp="1"/>
          </p:cNvSpPr>
          <p:nvPr/>
        </p:nvSpPr>
        <p:spPr>
          <a:xfrm rot="7305569">
            <a:off x="3102812" y="4581525"/>
            <a:ext cx="117625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3" name="before_30_edge_s_f"/>
          <p:cNvSpPr>
            <a:spLocks noGrp="1"/>
          </p:cNvSpPr>
          <p:nvPr/>
        </p:nvSpPr>
        <p:spPr>
          <a:xfrm rot="3378596">
            <a:off x="3732875" y="4581525"/>
            <a:ext cx="120200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4" name="before_30_p"/>
          <p:cNvSpPr>
            <a:spLocks noGrp="1"/>
          </p:cNvSpPr>
          <p:nvPr/>
        </p:nvSpPr>
        <p:spPr>
          <a:xfrm>
            <a:off x="2619375" y="23812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before_30_p_label"/>
          <p:cNvSpPr>
            <a:spLocks noGrp="1"/>
          </p:cNvSpPr>
          <p:nvPr/>
        </p:nvSpPr>
        <p:spPr>
          <a:xfrm>
            <a:off x="2657475" y="2495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before_30_d_outer"/>
          <p:cNvSpPr>
            <a:spLocks noGrp="1"/>
          </p:cNvSpPr>
          <p:nvPr/>
        </p:nvSpPr>
        <p:spPr>
          <a:xfrm>
            <a:off x="1504950" y="3790950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181C"/>
            </a:solidFill>
            <a:prstDash val="solid"/>
          </a:ln>
        </p:spPr>
      </p:sp>
      <p:sp>
        <p:nvSpPr>
          <p:cNvPr id="17" name="before_30_d"/>
          <p:cNvSpPr>
            <a:spLocks noGrp="1"/>
          </p:cNvSpPr>
          <p:nvPr/>
        </p:nvSpPr>
        <p:spPr>
          <a:xfrm>
            <a:off x="1571625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before_30_d_label"/>
          <p:cNvSpPr>
            <a:spLocks noGrp="1"/>
          </p:cNvSpPr>
          <p:nvPr/>
        </p:nvSpPr>
        <p:spPr>
          <a:xfrm>
            <a:off x="1609725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before_30_s"/>
          <p:cNvSpPr>
            <a:spLocks noGrp="1"/>
          </p:cNvSpPr>
          <p:nvPr/>
        </p:nvSpPr>
        <p:spPr>
          <a:xfrm>
            <a:off x="3762375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before_30_s_label"/>
          <p:cNvSpPr>
            <a:spLocks noGrp="1"/>
          </p:cNvSpPr>
          <p:nvPr/>
        </p:nvSpPr>
        <p:spPr>
          <a:xfrm>
            <a:off x="3800475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before_30_n"/>
          <p:cNvSpPr>
            <a:spLocks noGrp="1"/>
          </p:cNvSpPr>
          <p:nvPr/>
        </p:nvSpPr>
        <p:spPr>
          <a:xfrm>
            <a:off x="3143250" y="48577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before_30_n_label"/>
          <p:cNvSpPr>
            <a:spLocks noGrp="1"/>
          </p:cNvSpPr>
          <p:nvPr/>
        </p:nvSpPr>
        <p:spPr>
          <a:xfrm>
            <a:off x="3181350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before_30_f"/>
          <p:cNvSpPr>
            <a:spLocks noGrp="1"/>
          </p:cNvSpPr>
          <p:nvPr/>
        </p:nvSpPr>
        <p:spPr>
          <a:xfrm>
            <a:off x="4429125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before_30_f_label"/>
          <p:cNvSpPr>
            <a:spLocks noGrp="1"/>
          </p:cNvSpPr>
          <p:nvPr/>
        </p:nvSpPr>
        <p:spPr>
          <a:xfrm>
            <a:off x="446722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fter_30_edge_p_d"/>
          <p:cNvSpPr>
            <a:spLocks noGrp="1"/>
          </p:cNvSpPr>
          <p:nvPr/>
        </p:nvSpPr>
        <p:spPr>
          <a:xfrm rot="7594382">
            <a:off x="7724763" y="3343275"/>
            <a:ext cx="1838350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6" name="after_30_edge_p_n"/>
          <p:cNvSpPr>
            <a:spLocks noGrp="1"/>
          </p:cNvSpPr>
          <p:nvPr/>
        </p:nvSpPr>
        <p:spPr>
          <a:xfrm rot="3205618">
            <a:off x="8820138" y="3343275"/>
            <a:ext cx="1838350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7" name="after_30_edge_n_s"/>
          <p:cNvSpPr>
            <a:spLocks noGrp="1"/>
          </p:cNvSpPr>
          <p:nvPr/>
        </p:nvSpPr>
        <p:spPr>
          <a:xfrm rot="3615307">
            <a:off x="9996802" y="4581525"/>
            <a:ext cx="1151895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8" name="after_30_p"/>
          <p:cNvSpPr>
            <a:spLocks noGrp="1"/>
          </p:cNvSpPr>
          <p:nvPr/>
        </p:nvSpPr>
        <p:spPr>
          <a:xfrm>
            <a:off x="8953500" y="23812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after_30_p_label"/>
          <p:cNvSpPr>
            <a:spLocks noGrp="1"/>
          </p:cNvSpPr>
          <p:nvPr/>
        </p:nvSpPr>
        <p:spPr>
          <a:xfrm>
            <a:off x="8991600" y="2495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after_30_d_outer"/>
          <p:cNvSpPr>
            <a:spLocks noGrp="1"/>
          </p:cNvSpPr>
          <p:nvPr/>
        </p:nvSpPr>
        <p:spPr>
          <a:xfrm>
            <a:off x="7791450" y="3790950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181C"/>
            </a:solidFill>
            <a:prstDash val="solid"/>
          </a:ln>
        </p:spPr>
      </p:sp>
      <p:sp>
        <p:nvSpPr>
          <p:cNvPr id="31" name="after_30_d"/>
          <p:cNvSpPr>
            <a:spLocks noGrp="1"/>
          </p:cNvSpPr>
          <p:nvPr/>
        </p:nvSpPr>
        <p:spPr>
          <a:xfrm>
            <a:off x="7858125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after_30_d_label"/>
          <p:cNvSpPr>
            <a:spLocks noGrp="1"/>
          </p:cNvSpPr>
          <p:nvPr/>
        </p:nvSpPr>
        <p:spPr>
          <a:xfrm>
            <a:off x="7896225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after_30_n"/>
          <p:cNvSpPr>
            <a:spLocks noGrp="1"/>
          </p:cNvSpPr>
          <p:nvPr/>
        </p:nvSpPr>
        <p:spPr>
          <a:xfrm>
            <a:off x="10048875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after_30_n_label"/>
          <p:cNvSpPr>
            <a:spLocks noGrp="1"/>
          </p:cNvSpPr>
          <p:nvPr/>
        </p:nvSpPr>
        <p:spPr>
          <a:xfrm>
            <a:off x="10086975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after_30_s"/>
          <p:cNvSpPr>
            <a:spLocks noGrp="1"/>
          </p:cNvSpPr>
          <p:nvPr/>
        </p:nvSpPr>
        <p:spPr>
          <a:xfrm>
            <a:off x="10620375" y="48577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after_30_s_label"/>
          <p:cNvSpPr>
            <a:spLocks noGrp="1"/>
          </p:cNvSpPr>
          <p:nvPr/>
        </p:nvSpPr>
        <p:spPr>
          <a:xfrm>
            <a:off x="1065847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ransition_30_shaft"/>
          <p:cNvSpPr>
            <a:spLocks noGrp="1"/>
          </p:cNvSpPr>
          <p:nvPr/>
        </p:nvSpPr>
        <p:spPr>
          <a:xfrm>
            <a:off x="5810250" y="3600450"/>
            <a:ext cx="5715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38" name="transition_30_head_1"/>
          <p:cNvSpPr>
            <a:spLocks noGrp="1"/>
          </p:cNvSpPr>
          <p:nvPr/>
        </p:nvSpPr>
        <p:spPr>
          <a:xfrm rot="8856000">
            <a:off x="6276347" y="3631073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39" name="transition_30_head_2"/>
          <p:cNvSpPr>
            <a:spLocks noGrp="1"/>
          </p:cNvSpPr>
          <p:nvPr/>
        </p:nvSpPr>
        <p:spPr>
          <a:xfrm rot="-8856000">
            <a:off x="6276347" y="3569827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0" name="transition_caption_30"/>
          <p:cNvSpPr>
            <a:spLocks noGrp="1"/>
          </p:cNvSpPr>
          <p:nvPr/>
        </p:nvSpPr>
        <p:spPr>
          <a:xfrm>
            <a:off x="1714500" y="5772150"/>
            <a:ext cx="876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这一旋仍然不是最终修复。它只是在整理形态：让下一步一定能看到“黑兄弟 + 红色远侄”的标准终局。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31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· 删除修复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31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情况六：远侄红，围绕 parent 最终旋转，一次消掉双黑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31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31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efore_panel_31"/>
          <p:cNvSpPr>
            <a:spLocks noGrp="1"/>
          </p:cNvSpPr>
          <p:nvPr/>
        </p:nvSpPr>
        <p:spPr>
          <a:xfrm>
            <a:off x="400050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7" name="after_panel_31"/>
          <p:cNvSpPr>
            <a:spLocks noGrp="1"/>
          </p:cNvSpPr>
          <p:nvPr/>
        </p:nvSpPr>
        <p:spPr>
          <a:xfrm>
            <a:off x="6696075" y="1695450"/>
            <a:ext cx="5095875" cy="390525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</p:sp>
      <p:sp>
        <p:nvSpPr>
          <p:cNvPr id="8" name="before_label_31"/>
          <p:cNvSpPr>
            <a:spLocks noGrp="1"/>
          </p:cNvSpPr>
          <p:nvPr/>
        </p:nvSpPr>
        <p:spPr>
          <a:xfrm>
            <a:off x="590550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黑兄弟 S 的远侄 F 为红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fter_label_31"/>
          <p:cNvSpPr>
            <a:spLocks noGrp="1"/>
          </p:cNvSpPr>
          <p:nvPr/>
        </p:nvSpPr>
        <p:spPr>
          <a:xfrm>
            <a:off x="6886575" y="1876425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上升并继承 P 的颜色；P 与 F 染黑</a:t>
            </a:r>
            <a:endParaRPr sz="15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efore_31_edge_p_d"/>
          <p:cNvSpPr>
            <a:spLocks noGrp="1"/>
          </p:cNvSpPr>
          <p:nvPr/>
        </p:nvSpPr>
        <p:spPr>
          <a:xfrm rot="7521748">
            <a:off x="1428437" y="3343275"/>
            <a:ext cx="181037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before_31_edge_p_s"/>
          <p:cNvSpPr>
            <a:spLocks noGrp="1"/>
          </p:cNvSpPr>
          <p:nvPr/>
        </p:nvSpPr>
        <p:spPr>
          <a:xfrm rot="3135192">
            <a:off x="2495441" y="3343275"/>
            <a:ext cx="1867119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before_31_edge_s_n"/>
          <p:cNvSpPr>
            <a:spLocks noGrp="1"/>
          </p:cNvSpPr>
          <p:nvPr/>
        </p:nvSpPr>
        <p:spPr>
          <a:xfrm rot="7305569">
            <a:off x="3102812" y="4581525"/>
            <a:ext cx="117625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3" name="before_31_edge_s_f"/>
          <p:cNvSpPr>
            <a:spLocks noGrp="1"/>
          </p:cNvSpPr>
          <p:nvPr/>
        </p:nvSpPr>
        <p:spPr>
          <a:xfrm rot="3378596">
            <a:off x="3732875" y="4581525"/>
            <a:ext cx="120200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4" name="before_31_p"/>
          <p:cNvSpPr>
            <a:spLocks noGrp="1"/>
          </p:cNvSpPr>
          <p:nvPr/>
        </p:nvSpPr>
        <p:spPr>
          <a:xfrm>
            <a:off x="2619375" y="23812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before_31_p_label"/>
          <p:cNvSpPr>
            <a:spLocks noGrp="1"/>
          </p:cNvSpPr>
          <p:nvPr/>
        </p:nvSpPr>
        <p:spPr>
          <a:xfrm>
            <a:off x="2657475" y="2495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before_31_d_outer"/>
          <p:cNvSpPr>
            <a:spLocks noGrp="1"/>
          </p:cNvSpPr>
          <p:nvPr/>
        </p:nvSpPr>
        <p:spPr>
          <a:xfrm>
            <a:off x="1504950" y="3790950"/>
            <a:ext cx="609600" cy="609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181C"/>
            </a:solidFill>
            <a:prstDash val="solid"/>
          </a:ln>
        </p:spPr>
      </p:sp>
      <p:sp>
        <p:nvSpPr>
          <p:cNvPr id="17" name="before_31_d"/>
          <p:cNvSpPr>
            <a:spLocks noGrp="1"/>
          </p:cNvSpPr>
          <p:nvPr/>
        </p:nvSpPr>
        <p:spPr>
          <a:xfrm>
            <a:off x="1571625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before_31_d_label"/>
          <p:cNvSpPr>
            <a:spLocks noGrp="1"/>
          </p:cNvSpPr>
          <p:nvPr/>
        </p:nvSpPr>
        <p:spPr>
          <a:xfrm>
            <a:off x="1609725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before_31_s"/>
          <p:cNvSpPr>
            <a:spLocks noGrp="1"/>
          </p:cNvSpPr>
          <p:nvPr/>
        </p:nvSpPr>
        <p:spPr>
          <a:xfrm>
            <a:off x="3762375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before_31_s_label"/>
          <p:cNvSpPr>
            <a:spLocks noGrp="1"/>
          </p:cNvSpPr>
          <p:nvPr/>
        </p:nvSpPr>
        <p:spPr>
          <a:xfrm>
            <a:off x="3800475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before_31_n"/>
          <p:cNvSpPr>
            <a:spLocks noGrp="1"/>
          </p:cNvSpPr>
          <p:nvPr/>
        </p:nvSpPr>
        <p:spPr>
          <a:xfrm>
            <a:off x="3143250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before_31_n_label"/>
          <p:cNvSpPr>
            <a:spLocks noGrp="1"/>
          </p:cNvSpPr>
          <p:nvPr/>
        </p:nvSpPr>
        <p:spPr>
          <a:xfrm>
            <a:off x="3181350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before_31_f"/>
          <p:cNvSpPr>
            <a:spLocks noGrp="1"/>
          </p:cNvSpPr>
          <p:nvPr/>
        </p:nvSpPr>
        <p:spPr>
          <a:xfrm>
            <a:off x="4429125" y="48577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before_31_f_label"/>
          <p:cNvSpPr>
            <a:spLocks noGrp="1"/>
          </p:cNvSpPr>
          <p:nvPr/>
        </p:nvSpPr>
        <p:spPr>
          <a:xfrm>
            <a:off x="446722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fter_31_edge_s_p"/>
          <p:cNvSpPr>
            <a:spLocks noGrp="1"/>
          </p:cNvSpPr>
          <p:nvPr/>
        </p:nvSpPr>
        <p:spPr>
          <a:xfrm rot="7799213">
            <a:off x="7609050" y="3343275"/>
            <a:ext cx="192690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6" name="after_31_edge_s_f"/>
          <p:cNvSpPr>
            <a:spLocks noGrp="1"/>
          </p:cNvSpPr>
          <p:nvPr/>
        </p:nvSpPr>
        <p:spPr>
          <a:xfrm rot="3000787">
            <a:off x="8847300" y="3343275"/>
            <a:ext cx="192690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7" name="after_31_edge_p_d"/>
          <p:cNvSpPr>
            <a:spLocks noGrp="1"/>
          </p:cNvSpPr>
          <p:nvPr/>
        </p:nvSpPr>
        <p:spPr>
          <a:xfrm rot="7532261">
            <a:off x="6981659" y="4581525"/>
            <a:ext cx="122905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8" name="after_31_edge_p_n"/>
          <p:cNvSpPr>
            <a:spLocks noGrp="1"/>
          </p:cNvSpPr>
          <p:nvPr/>
        </p:nvSpPr>
        <p:spPr>
          <a:xfrm rot="3267739">
            <a:off x="7696034" y="4581525"/>
            <a:ext cx="122905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29" name="after_31_s"/>
          <p:cNvSpPr>
            <a:spLocks noGrp="1"/>
          </p:cNvSpPr>
          <p:nvPr/>
        </p:nvSpPr>
        <p:spPr>
          <a:xfrm>
            <a:off x="8953500" y="238125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after_31_s_label"/>
          <p:cNvSpPr>
            <a:spLocks noGrp="1"/>
          </p:cNvSpPr>
          <p:nvPr/>
        </p:nvSpPr>
        <p:spPr>
          <a:xfrm>
            <a:off x="8991600" y="2495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after_31_p"/>
          <p:cNvSpPr>
            <a:spLocks noGrp="1"/>
          </p:cNvSpPr>
          <p:nvPr/>
        </p:nvSpPr>
        <p:spPr>
          <a:xfrm>
            <a:off x="7715250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after_31_p_label"/>
          <p:cNvSpPr>
            <a:spLocks noGrp="1"/>
          </p:cNvSpPr>
          <p:nvPr/>
        </p:nvSpPr>
        <p:spPr>
          <a:xfrm>
            <a:off x="7753350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after_31_f"/>
          <p:cNvSpPr>
            <a:spLocks noGrp="1"/>
          </p:cNvSpPr>
          <p:nvPr/>
        </p:nvSpPr>
        <p:spPr>
          <a:xfrm>
            <a:off x="10191750" y="38576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after_31_f_label"/>
          <p:cNvSpPr>
            <a:spLocks noGrp="1"/>
          </p:cNvSpPr>
          <p:nvPr/>
        </p:nvSpPr>
        <p:spPr>
          <a:xfrm>
            <a:off x="10229850" y="39719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after_31_d"/>
          <p:cNvSpPr>
            <a:spLocks noGrp="1"/>
          </p:cNvSpPr>
          <p:nvPr/>
        </p:nvSpPr>
        <p:spPr>
          <a:xfrm>
            <a:off x="7000875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after_31_d_label"/>
          <p:cNvSpPr>
            <a:spLocks noGrp="1"/>
          </p:cNvSpPr>
          <p:nvPr/>
        </p:nvSpPr>
        <p:spPr>
          <a:xfrm>
            <a:off x="703897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after_31_n"/>
          <p:cNvSpPr>
            <a:spLocks noGrp="1"/>
          </p:cNvSpPr>
          <p:nvPr/>
        </p:nvSpPr>
        <p:spPr>
          <a:xfrm>
            <a:off x="8429625" y="4857750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after_31_n_label"/>
          <p:cNvSpPr>
            <a:spLocks noGrp="1"/>
          </p:cNvSpPr>
          <p:nvPr/>
        </p:nvSpPr>
        <p:spPr>
          <a:xfrm>
            <a:off x="8467725" y="4972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ransition_31_shaft"/>
          <p:cNvSpPr>
            <a:spLocks noGrp="1"/>
          </p:cNvSpPr>
          <p:nvPr/>
        </p:nvSpPr>
        <p:spPr>
          <a:xfrm>
            <a:off x="5810250" y="3600450"/>
            <a:ext cx="5715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0" name="transition_31_head_1"/>
          <p:cNvSpPr>
            <a:spLocks noGrp="1"/>
          </p:cNvSpPr>
          <p:nvPr/>
        </p:nvSpPr>
        <p:spPr>
          <a:xfrm rot="8856000">
            <a:off x="6276347" y="3631073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1" name="transition_31_head_2"/>
          <p:cNvSpPr>
            <a:spLocks noGrp="1"/>
          </p:cNvSpPr>
          <p:nvPr/>
        </p:nvSpPr>
        <p:spPr>
          <a:xfrm rot="-8856000">
            <a:off x="6276347" y="3569827"/>
            <a:ext cx="114300" cy="381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42" name="transition_caption_31"/>
          <p:cNvSpPr>
            <a:spLocks noGrp="1"/>
          </p:cNvSpPr>
          <p:nvPr/>
        </p:nvSpPr>
        <p:spPr>
          <a:xfrm>
            <a:off x="1714500" y="5772150"/>
            <a:ext cx="876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继承原 parent 的颜色，保证局部接回外部以后颜色层级不突变；P 和远侄染黑，分别补齐 node 侧与外侧路径的黑高。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32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· 正确性验证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32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invariant 不是修复函数，它只负责揭穿当前树哪里不合法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32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32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32_42"/>
          <p:cNvSpPr>
            <a:spLocks noGrp="1"/>
          </p:cNvSpPr>
          <p:nvPr/>
        </p:nvSpPr>
        <p:spPr>
          <a:xfrm>
            <a:off x="400050" y="1695450"/>
            <a:ext cx="571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为什么操作成功以后还要检查三类条件？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32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32_42"/>
          <p:cNvSpPr>
            <a:spLocks noGrp="1"/>
          </p:cNvSpPr>
          <p:nvPr/>
        </p:nvSpPr>
        <p:spPr>
          <a:xfrm>
            <a:off x="628650" y="2419350"/>
            <a:ext cx="542925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contains 只回答某个 key 能不能找到，它不会告诉我们颜色是否正确。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invariant 同时检查：红节点不能连接红孩子；左孩子小、右孩子大；左右子树黑高必须相同。当前节点通过以后，还要递归检查左右孩子。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把“修复”与“验证”分开很重要。修复代码不能用自己的逻辑证明自己正确；独立的不变量检查才有机会发现某个旋转少改了一条 parent 指针，或者某次换色只处理了一边。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_bg_32_665"/>
          <p:cNvSpPr>
            <a:spLocks noGrp="1"/>
          </p:cNvSpPr>
          <p:nvPr/>
        </p:nvSpPr>
        <p:spPr>
          <a:xfrm>
            <a:off x="6334125" y="1714500"/>
            <a:ext cx="5048250" cy="3810000"/>
          </a:xfrm>
          <a:prstGeom prst="rect">
            <a:avLst/>
          </a:prstGeom>
          <a:solidFill>
            <a:srgbClr val="202126"/>
          </a:solidFill>
          <a:ln w="0">
            <a:noFill/>
            <a:prstDash val="solid"/>
          </a:ln>
        </p:spPr>
      </p:sp>
      <p:sp>
        <p:nvSpPr>
          <p:cNvPr id="10" name="code_hl_32_0"/>
          <p:cNvSpPr>
            <a:spLocks noGrp="1"/>
          </p:cNvSpPr>
          <p:nvPr/>
        </p:nvSpPr>
        <p:spPr>
          <a:xfrm>
            <a:off x="6410325" y="1819275"/>
            <a:ext cx="489585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1" name="code_line_32_0"/>
          <p:cNvSpPr>
            <a:spLocks noGrp="1"/>
          </p:cNvSpPr>
          <p:nvPr/>
        </p:nvSpPr>
        <p:spPr>
          <a:xfrm>
            <a:off x="6496050" y="180975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bool invColor =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code_line_32_1"/>
          <p:cNvSpPr>
            <a:spLocks noGrp="1"/>
          </p:cNvSpPr>
          <p:nvPr/>
        </p:nvSpPr>
        <p:spPr>
          <a:xfrm>
            <a:off x="6496050" y="20478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color == BLACK ||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code_line_32_2"/>
          <p:cNvSpPr>
            <a:spLocks noGrp="1"/>
          </p:cNvSpPr>
          <p:nvPr/>
        </p:nvSpPr>
        <p:spPr>
          <a:xfrm>
            <a:off x="6496050" y="228600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(left is black &amp;&amp; right is black);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code_line_32_3"/>
          <p:cNvSpPr>
            <a:spLocks noGrp="1"/>
          </p:cNvSpPr>
          <p:nvPr/>
        </p:nvSpPr>
        <p:spPr>
          <a:xfrm>
            <a:off x="6496050" y="25241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5" name="code_hl_32_4"/>
          <p:cNvSpPr>
            <a:spLocks noGrp="1"/>
          </p:cNvSpPr>
          <p:nvPr/>
        </p:nvSpPr>
        <p:spPr>
          <a:xfrm>
            <a:off x="6410325" y="2771775"/>
            <a:ext cx="489585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6" name="code_line_32_4"/>
          <p:cNvSpPr>
            <a:spLocks noGrp="1"/>
          </p:cNvSpPr>
          <p:nvPr/>
        </p:nvSpPr>
        <p:spPr>
          <a:xfrm>
            <a:off x="6496050" y="276225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bool invOrder =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code_line_32_5"/>
          <p:cNvSpPr>
            <a:spLocks noGrp="1"/>
          </p:cNvSpPr>
          <p:nvPr/>
        </p:nvSpPr>
        <p:spPr>
          <a:xfrm>
            <a:off x="6496050" y="30003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left-&gt;key &lt; key &amp;&amp; right-&gt;key &gt; key;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code_line_32_6"/>
          <p:cNvSpPr>
            <a:spLocks noGrp="1"/>
          </p:cNvSpPr>
          <p:nvPr/>
        </p:nvSpPr>
        <p:spPr>
          <a:xfrm>
            <a:off x="6496050" y="323850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9" name="code_hl_32_7"/>
          <p:cNvSpPr>
            <a:spLocks noGrp="1"/>
          </p:cNvSpPr>
          <p:nvPr/>
        </p:nvSpPr>
        <p:spPr>
          <a:xfrm>
            <a:off x="6410325" y="3486150"/>
            <a:ext cx="489585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0" name="code_line_32_7"/>
          <p:cNvSpPr>
            <a:spLocks noGrp="1"/>
          </p:cNvSpPr>
          <p:nvPr/>
        </p:nvSpPr>
        <p:spPr>
          <a:xfrm>
            <a:off x="6496050" y="34766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bool blackNodeCount =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code_line_32_8"/>
          <p:cNvSpPr>
            <a:spLocks noGrp="1"/>
          </p:cNvSpPr>
          <p:nvPr/>
        </p:nvSpPr>
        <p:spPr>
          <a:xfrm>
            <a:off x="6496050" y="371475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invariantBlackNodes() &gt; -1;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code_line_32_9"/>
          <p:cNvSpPr>
            <a:spLocks noGrp="1"/>
          </p:cNvSpPr>
          <p:nvPr/>
        </p:nvSpPr>
        <p:spPr>
          <a:xfrm>
            <a:off x="6496050" y="39528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23" name="code_hl_32_10"/>
          <p:cNvSpPr>
            <a:spLocks noGrp="1"/>
          </p:cNvSpPr>
          <p:nvPr/>
        </p:nvSpPr>
        <p:spPr>
          <a:xfrm>
            <a:off x="6410325" y="4200525"/>
            <a:ext cx="489585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4" name="code_line_32_10"/>
          <p:cNvSpPr>
            <a:spLocks noGrp="1"/>
          </p:cNvSpPr>
          <p:nvPr/>
        </p:nvSpPr>
        <p:spPr>
          <a:xfrm>
            <a:off x="6496050" y="419100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return invColor &amp;&amp; invOrder &amp;&amp;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code_line_32_11"/>
          <p:cNvSpPr>
            <a:spLocks noGrp="1"/>
          </p:cNvSpPr>
          <p:nvPr/>
        </p:nvSpPr>
        <p:spPr>
          <a:xfrm>
            <a:off x="6496050" y="44291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blackNodeCount &amp;&amp;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code_line_32_12"/>
          <p:cNvSpPr>
            <a:spLocks noGrp="1"/>
          </p:cNvSpPr>
          <p:nvPr/>
        </p:nvSpPr>
        <p:spPr>
          <a:xfrm>
            <a:off x="6496050" y="466725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left-&gt;invariant() &amp;&amp; right-&gt;invariant();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33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· 正确性验证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33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invariantBlackNodes：用 -1 让黑高错误一路向上传播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33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33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33_42"/>
          <p:cNvSpPr>
            <a:spLocks noGrp="1"/>
          </p:cNvSpPr>
          <p:nvPr/>
        </p:nvSpPr>
        <p:spPr>
          <a:xfrm>
            <a:off x="400050" y="1695450"/>
            <a:ext cx="571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 NULL 的黑高从 1 开始？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33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33_42"/>
          <p:cNvSpPr>
            <a:spLocks noGrp="1"/>
          </p:cNvSpPr>
          <p:nvPr/>
        </p:nvSpPr>
        <p:spPr>
          <a:xfrm>
            <a:off x="628650" y="2419350"/>
            <a:ext cx="542925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红黑树定义里，空叶子也视为黑色。递归走到 NULL 时返回 1，父节点再根据自己是否为黑色增加计数。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当前节点先分别取得 leftCount 与 rightCount。如果两边不同，或者某一边已经返回 -1，就继续返回 -1。这样最底层发现的黑高错误不需要额外的全局变量，会沿递归返回值一直传到 root。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两边相等时只取 leftCount 即可，因为已经证明 rightCount 与它相同。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_bg_33_665"/>
          <p:cNvSpPr>
            <a:spLocks noGrp="1"/>
          </p:cNvSpPr>
          <p:nvPr/>
        </p:nvSpPr>
        <p:spPr>
          <a:xfrm>
            <a:off x="6334125" y="1809750"/>
            <a:ext cx="5048250" cy="3143250"/>
          </a:xfrm>
          <a:prstGeom prst="rect">
            <a:avLst/>
          </a:prstGeom>
          <a:solidFill>
            <a:srgbClr val="202126"/>
          </a:solidFill>
          <a:ln w="0">
            <a:noFill/>
            <a:prstDash val="solid"/>
          </a:ln>
        </p:spPr>
      </p:sp>
      <p:sp>
        <p:nvSpPr>
          <p:cNvPr id="10" name="code_hl_33_0"/>
          <p:cNvSpPr>
            <a:spLocks noGrp="1"/>
          </p:cNvSpPr>
          <p:nvPr/>
        </p:nvSpPr>
        <p:spPr>
          <a:xfrm>
            <a:off x="6410325" y="1914525"/>
            <a:ext cx="489585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1" name="code_line_33_0"/>
          <p:cNvSpPr>
            <a:spLocks noGrp="1"/>
          </p:cNvSpPr>
          <p:nvPr/>
        </p:nvSpPr>
        <p:spPr>
          <a:xfrm>
            <a:off x="6496050" y="190500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leftCount =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code_line_33_1"/>
          <p:cNvSpPr>
            <a:spLocks noGrp="1"/>
          </p:cNvSpPr>
          <p:nvPr/>
        </p:nvSpPr>
        <p:spPr>
          <a:xfrm>
            <a:off x="6496050" y="21431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left == NULL ? 1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code_line_33_2"/>
          <p:cNvSpPr>
            <a:spLocks noGrp="1"/>
          </p:cNvSpPr>
          <p:nvPr/>
        </p:nvSpPr>
        <p:spPr>
          <a:xfrm>
            <a:off x="6496050" y="238125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: left-&gt;invariantBlackNodes();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code_line_33_3"/>
          <p:cNvSpPr>
            <a:spLocks noGrp="1"/>
          </p:cNvSpPr>
          <p:nvPr/>
        </p:nvSpPr>
        <p:spPr>
          <a:xfrm>
            <a:off x="6496050" y="26193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5" name="code_hl_33_4"/>
          <p:cNvSpPr>
            <a:spLocks noGrp="1"/>
          </p:cNvSpPr>
          <p:nvPr/>
        </p:nvSpPr>
        <p:spPr>
          <a:xfrm>
            <a:off x="6410325" y="2867025"/>
            <a:ext cx="489585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6" name="code_line_33_4"/>
          <p:cNvSpPr>
            <a:spLocks noGrp="1"/>
          </p:cNvSpPr>
          <p:nvPr/>
        </p:nvSpPr>
        <p:spPr>
          <a:xfrm>
            <a:off x="6496050" y="285750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rightCount =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code_line_33_5"/>
          <p:cNvSpPr>
            <a:spLocks noGrp="1"/>
          </p:cNvSpPr>
          <p:nvPr/>
        </p:nvSpPr>
        <p:spPr>
          <a:xfrm>
            <a:off x="6496050" y="30956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right == NULL ? 1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code_line_33_6"/>
          <p:cNvSpPr>
            <a:spLocks noGrp="1"/>
          </p:cNvSpPr>
          <p:nvPr/>
        </p:nvSpPr>
        <p:spPr>
          <a:xfrm>
            <a:off x="6496050" y="333375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  : right-&gt;invariantBlackNodes();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code_line_33_7"/>
          <p:cNvSpPr>
            <a:spLocks noGrp="1"/>
          </p:cNvSpPr>
          <p:nvPr/>
        </p:nvSpPr>
        <p:spPr>
          <a:xfrm>
            <a:off x="6496050" y="35718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20" name="code_hl_33_8"/>
          <p:cNvSpPr>
            <a:spLocks noGrp="1"/>
          </p:cNvSpPr>
          <p:nvPr/>
        </p:nvSpPr>
        <p:spPr>
          <a:xfrm>
            <a:off x="6410325" y="3819525"/>
            <a:ext cx="489585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1" name="code_line_33_8"/>
          <p:cNvSpPr>
            <a:spLocks noGrp="1"/>
          </p:cNvSpPr>
          <p:nvPr/>
        </p:nvSpPr>
        <p:spPr>
          <a:xfrm>
            <a:off x="6496050" y="381000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return leftCount == rightCount &amp;&amp; leftCount != -1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code_hl_33_9"/>
          <p:cNvSpPr>
            <a:spLocks noGrp="1"/>
          </p:cNvSpPr>
          <p:nvPr/>
        </p:nvSpPr>
        <p:spPr>
          <a:xfrm>
            <a:off x="6410325" y="4057650"/>
            <a:ext cx="489585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3" name="code_line_33_9"/>
          <p:cNvSpPr>
            <a:spLocks noGrp="1"/>
          </p:cNvSpPr>
          <p:nvPr/>
        </p:nvSpPr>
        <p:spPr>
          <a:xfrm>
            <a:off x="6496050" y="40481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? leftCount + this-&gt;color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code_hl_33_10"/>
          <p:cNvSpPr>
            <a:spLocks noGrp="1"/>
          </p:cNvSpPr>
          <p:nvPr/>
        </p:nvSpPr>
        <p:spPr>
          <a:xfrm>
            <a:off x="6410325" y="4295775"/>
            <a:ext cx="489585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5" name="code_line_33_10"/>
          <p:cNvSpPr>
            <a:spLocks noGrp="1"/>
          </p:cNvSpPr>
          <p:nvPr/>
        </p:nvSpPr>
        <p:spPr>
          <a:xfrm>
            <a:off x="6496050" y="428625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: -1;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34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· 运行演示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34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EasyX 只负责把后端结果显示出来，本次答辩不展开前端实现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34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34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34_42"/>
          <p:cNvSpPr>
            <a:spLocks noGrp="1"/>
          </p:cNvSpPr>
          <p:nvPr/>
        </p:nvSpPr>
        <p:spPr>
          <a:xfrm>
            <a:off x="400050" y="1695450"/>
            <a:ext cx="619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我在演示中会讲什么？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34_42"/>
          <p:cNvSpPr>
            <a:spLocks noGrp="1"/>
          </p:cNvSpPr>
          <p:nvPr/>
        </p:nvSpPr>
        <p:spPr>
          <a:xfrm>
            <a:off x="400050" y="2305050"/>
            <a:ext cx="66675" cy="339090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34_42"/>
          <p:cNvSpPr>
            <a:spLocks noGrp="1"/>
          </p:cNvSpPr>
          <p:nvPr/>
        </p:nvSpPr>
        <p:spPr>
          <a:xfrm>
            <a:off x="628650" y="2419350"/>
            <a:ext cx="59055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界面提供插入、删除与重置操作。输入一个 key 后，程序调用的仍然是 RBTree&lt;int&gt;::insert 或 RBTree&lt;int&gt;::remove。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屏幕上的节点移动和颜色变化只是后端算法结果的可视化。答辩时我不会解释窗口消息、按钮坐标、绘图 API 或布局算法，而是根据操作结果回到 rbtree.h：当前命中了哪一种局部形态，执行了哪次换色或旋转，为什么红黑性质重新成立。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也就是说，EasyX 是演示工具，不是本次答辩的技术重点。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asyx_scope"/>
          <p:cNvSpPr>
            <a:spLocks noGrp="1"/>
          </p:cNvSpPr>
          <p:nvPr/>
        </p:nvSpPr>
        <p:spPr>
          <a:xfrm>
            <a:off x="7810500" y="2143125"/>
            <a:ext cx="2571750" cy="209550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演示操作</a:t>
            </a:r>
            <a:endParaRPr sz="1875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875"/>
          </a:p>
          <a:p>
            <a:pPr algn="ctr">
              <a:defRPr sz="18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插入 key</a:t>
            </a:r>
            <a:endParaRPr sz="1875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 key</a:t>
            </a:r>
            <a:endParaRPr sz="1875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重置示例树</a:t>
            </a:r>
            <a:endParaRPr sz="1875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akeaway_34"/>
          <p:cNvSpPr>
            <a:spLocks noGrp="1"/>
          </p:cNvSpPr>
          <p:nvPr/>
        </p:nvSpPr>
        <p:spPr>
          <a:xfrm>
            <a:off x="1047750" y="5953125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被问到界面时只需说明：使用 EasyX 实现，核心数据与操作来自后端 RBTree。</a:t>
            </a:r>
            <a:endParaRPr sz="1575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35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· 迭代器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35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 为什么一路向左、再向右：这个迭代器走的是后序，不是升序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35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35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35_42"/>
          <p:cNvSpPr>
            <a:spLocks noGrp="1"/>
          </p:cNvSpPr>
          <p:nvPr/>
        </p:nvSpPr>
        <p:spPr>
          <a:xfrm>
            <a:off x="400050" y="1695450"/>
            <a:ext cx="571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后序遍历第一个节点在哪里？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35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35_42"/>
          <p:cNvSpPr>
            <a:spLocks noGrp="1"/>
          </p:cNvSpPr>
          <p:nvPr/>
        </p:nvSpPr>
        <p:spPr>
          <a:xfrm>
            <a:off x="628650" y="2419350"/>
            <a:ext cx="542925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后序顺序是左子树、右子树、根。因此 begin 不能直接返回最小 key，也不能直接返回 root。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它从 root 开始尽量走 left；某一层没有 left 但有 right，就继续走 right，直到落到叶子。这个叶子正是整棵树后序遍历最先访问的位置。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这也解释了为什么项目测试只验证“每个值都被访问一次”，而没有要求 iterator 输出升序。它不是 std::set 那种中序迭代器。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_bg_35_665"/>
          <p:cNvSpPr>
            <a:spLocks noGrp="1"/>
          </p:cNvSpPr>
          <p:nvPr/>
        </p:nvSpPr>
        <p:spPr>
          <a:xfrm>
            <a:off x="6334125" y="1857375"/>
            <a:ext cx="5000625" cy="2571750"/>
          </a:xfrm>
          <a:prstGeom prst="rect">
            <a:avLst/>
          </a:prstGeom>
          <a:solidFill>
            <a:srgbClr val="202126"/>
          </a:solidFill>
          <a:ln w="0">
            <a:noFill/>
            <a:prstDash val="solid"/>
          </a:ln>
        </p:spPr>
      </p:sp>
      <p:sp>
        <p:nvSpPr>
          <p:cNvPr id="10" name="code_hl_35_0"/>
          <p:cNvSpPr>
            <a:spLocks noGrp="1"/>
          </p:cNvSpPr>
          <p:nvPr/>
        </p:nvSpPr>
        <p:spPr>
          <a:xfrm>
            <a:off x="6410325" y="1962150"/>
            <a:ext cx="484822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1" name="code_line_35_0"/>
          <p:cNvSpPr>
            <a:spLocks noGrp="1"/>
          </p:cNvSpPr>
          <p:nvPr/>
        </p:nvSpPr>
        <p:spPr>
          <a:xfrm>
            <a:off x="6496050" y="195262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RBTreeNode* node = root;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code_line_35_1"/>
          <p:cNvSpPr>
            <a:spLocks noGrp="1"/>
          </p:cNvSpPr>
          <p:nvPr/>
        </p:nvSpPr>
        <p:spPr>
          <a:xfrm>
            <a:off x="6496050" y="2190750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3" name="code_hl_35_2"/>
          <p:cNvSpPr>
            <a:spLocks noGrp="1"/>
          </p:cNvSpPr>
          <p:nvPr/>
        </p:nvSpPr>
        <p:spPr>
          <a:xfrm>
            <a:off x="6410325" y="2438400"/>
            <a:ext cx="484822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4" name="code_line_35_2"/>
          <p:cNvSpPr>
            <a:spLocks noGrp="1"/>
          </p:cNvSpPr>
          <p:nvPr/>
        </p:nvSpPr>
        <p:spPr>
          <a:xfrm>
            <a:off x="6496050" y="242887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while (node-&gt;left != NULL)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code_line_35_3"/>
          <p:cNvSpPr>
            <a:spLocks noGrp="1"/>
          </p:cNvSpPr>
          <p:nvPr/>
        </p:nvSpPr>
        <p:spPr>
          <a:xfrm>
            <a:off x="6496050" y="2667000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node = node-&gt;left;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code_line_35_4"/>
          <p:cNvSpPr>
            <a:spLocks noGrp="1"/>
          </p:cNvSpPr>
          <p:nvPr/>
        </p:nvSpPr>
        <p:spPr>
          <a:xfrm>
            <a:off x="6496050" y="290512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7" name="code_hl_35_5"/>
          <p:cNvSpPr>
            <a:spLocks noGrp="1"/>
          </p:cNvSpPr>
          <p:nvPr/>
        </p:nvSpPr>
        <p:spPr>
          <a:xfrm>
            <a:off x="6410325" y="3152775"/>
            <a:ext cx="484822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8" name="code_line_35_5"/>
          <p:cNvSpPr>
            <a:spLocks noGrp="1"/>
          </p:cNvSpPr>
          <p:nvPr/>
        </p:nvSpPr>
        <p:spPr>
          <a:xfrm>
            <a:off x="6496050" y="3143250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while (node-&gt;right != NULL)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code_line_35_6"/>
          <p:cNvSpPr>
            <a:spLocks noGrp="1"/>
          </p:cNvSpPr>
          <p:nvPr/>
        </p:nvSpPr>
        <p:spPr>
          <a:xfrm>
            <a:off x="6496050" y="338137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node = node-&gt;right;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code_line_35_7"/>
          <p:cNvSpPr>
            <a:spLocks noGrp="1"/>
          </p:cNvSpPr>
          <p:nvPr/>
        </p:nvSpPr>
        <p:spPr>
          <a:xfrm>
            <a:off x="6496050" y="3619500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21" name="code_hl_35_8"/>
          <p:cNvSpPr>
            <a:spLocks noGrp="1"/>
          </p:cNvSpPr>
          <p:nvPr/>
        </p:nvSpPr>
        <p:spPr>
          <a:xfrm>
            <a:off x="6410325" y="3867150"/>
            <a:ext cx="484822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2" name="code_line_35_8"/>
          <p:cNvSpPr>
            <a:spLocks noGrp="1"/>
          </p:cNvSpPr>
          <p:nvPr/>
        </p:nvSpPr>
        <p:spPr>
          <a:xfrm>
            <a:off x="6496050" y="385762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return iterator(node);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36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· 迭代器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36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operator++：什么时候去右兄弟，什么时候回到父亲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36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36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36_42"/>
          <p:cNvSpPr>
            <a:spLocks noGrp="1"/>
          </p:cNvSpPr>
          <p:nvPr/>
        </p:nvSpPr>
        <p:spPr>
          <a:xfrm>
            <a:off x="400050" y="1695450"/>
            <a:ext cx="571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当前子树走完以后，下一个节点是谁？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36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36_42"/>
          <p:cNvSpPr>
            <a:spLocks noGrp="1"/>
          </p:cNvSpPr>
          <p:nvPr/>
        </p:nvSpPr>
        <p:spPr>
          <a:xfrm>
            <a:off x="628650" y="2419350"/>
            <a:ext cx="542925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如果当前 node 是父亲的左孩子，而且父亲还有右孩子，说明左子树刚走完，后序遍历下一步应该进入右子树。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进入右子树后，仍然要一路寻找该子树最先访问的叶子：优先 left，没有 left 才走 right。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如果当前 node 不是这种情况，就说明右子树也已经完成，或者自己本来就是右孩子。此时下一个访问对象就是 parent。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走到没有 parent 的 root 后，下一位置就是 end，也就是 node = NULL。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_bg_36_665"/>
          <p:cNvSpPr>
            <a:spLocks noGrp="1"/>
          </p:cNvSpPr>
          <p:nvPr/>
        </p:nvSpPr>
        <p:spPr>
          <a:xfrm>
            <a:off x="6334125" y="1666875"/>
            <a:ext cx="5000625" cy="3905250"/>
          </a:xfrm>
          <a:prstGeom prst="rect">
            <a:avLst/>
          </a:prstGeom>
          <a:solidFill>
            <a:srgbClr val="202126"/>
          </a:solidFill>
          <a:ln w="0">
            <a:noFill/>
            <a:prstDash val="solid"/>
          </a:ln>
        </p:spPr>
      </p:sp>
      <p:sp>
        <p:nvSpPr>
          <p:cNvPr id="10" name="code_hl_36_0"/>
          <p:cNvSpPr>
            <a:spLocks noGrp="1"/>
          </p:cNvSpPr>
          <p:nvPr/>
        </p:nvSpPr>
        <p:spPr>
          <a:xfrm>
            <a:off x="6410325" y="1771650"/>
            <a:ext cx="484822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1" name="code_line_36_0"/>
          <p:cNvSpPr>
            <a:spLocks noGrp="1"/>
          </p:cNvSpPr>
          <p:nvPr/>
        </p:nvSpPr>
        <p:spPr>
          <a:xfrm>
            <a:off x="6496050" y="176212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(node-&gt;parent == NULL)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code_line_36_1"/>
          <p:cNvSpPr>
            <a:spLocks noGrp="1"/>
          </p:cNvSpPr>
          <p:nvPr/>
        </p:nvSpPr>
        <p:spPr>
          <a:xfrm>
            <a:off x="6496050" y="2000250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this-&gt;node = NULL;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code_line_36_2"/>
          <p:cNvSpPr>
            <a:spLocks noGrp="1"/>
          </p:cNvSpPr>
          <p:nvPr/>
        </p:nvSpPr>
        <p:spPr>
          <a:xfrm>
            <a:off x="6496050" y="223837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4" name="code_hl_36_3"/>
          <p:cNvSpPr>
            <a:spLocks noGrp="1"/>
          </p:cNvSpPr>
          <p:nvPr/>
        </p:nvSpPr>
        <p:spPr>
          <a:xfrm>
            <a:off x="6410325" y="2486025"/>
            <a:ext cx="484822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5" name="code_line_36_3"/>
          <p:cNvSpPr>
            <a:spLocks noGrp="1"/>
          </p:cNvSpPr>
          <p:nvPr/>
        </p:nvSpPr>
        <p:spPr>
          <a:xfrm>
            <a:off x="6496050" y="2476500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(node == node-&gt;parent-&gt;left &amp;&amp;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code_line_36_4"/>
          <p:cNvSpPr>
            <a:spLocks noGrp="1"/>
          </p:cNvSpPr>
          <p:nvPr/>
        </p:nvSpPr>
        <p:spPr>
          <a:xfrm>
            <a:off x="6496050" y="271462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node-&gt;parent-&gt;right != NULL)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code_hl_36_5"/>
          <p:cNvSpPr>
            <a:spLocks noGrp="1"/>
          </p:cNvSpPr>
          <p:nvPr/>
        </p:nvSpPr>
        <p:spPr>
          <a:xfrm>
            <a:off x="6410325" y="2962275"/>
            <a:ext cx="484822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8" name="code_line_36_5"/>
          <p:cNvSpPr>
            <a:spLocks noGrp="1"/>
          </p:cNvSpPr>
          <p:nvPr/>
        </p:nvSpPr>
        <p:spPr>
          <a:xfrm>
            <a:off x="6496050" y="2952750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node = node-&gt;parent-&gt;right;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code_line_36_6"/>
          <p:cNvSpPr>
            <a:spLocks noGrp="1"/>
          </p:cNvSpPr>
          <p:nvPr/>
        </p:nvSpPr>
        <p:spPr>
          <a:xfrm>
            <a:off x="6496050" y="319087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else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code_hl_36_7"/>
          <p:cNvSpPr>
            <a:spLocks noGrp="1"/>
          </p:cNvSpPr>
          <p:nvPr/>
        </p:nvSpPr>
        <p:spPr>
          <a:xfrm>
            <a:off x="6410325" y="3438525"/>
            <a:ext cx="484822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1" name="code_line_36_7"/>
          <p:cNvSpPr>
            <a:spLocks noGrp="1"/>
          </p:cNvSpPr>
          <p:nvPr/>
        </p:nvSpPr>
        <p:spPr>
          <a:xfrm>
            <a:off x="6496050" y="3429000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this-&gt;node = node-&gt;parent;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code_line_36_8"/>
          <p:cNvSpPr>
            <a:spLocks noGrp="1"/>
          </p:cNvSpPr>
          <p:nvPr/>
        </p:nvSpPr>
        <p:spPr>
          <a:xfrm>
            <a:off x="6496050" y="366712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23" name="code_hl_36_9"/>
          <p:cNvSpPr>
            <a:spLocks noGrp="1"/>
          </p:cNvSpPr>
          <p:nvPr/>
        </p:nvSpPr>
        <p:spPr>
          <a:xfrm>
            <a:off x="6410325" y="3914775"/>
            <a:ext cx="4848225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4" name="code_line_36_9"/>
          <p:cNvSpPr>
            <a:spLocks noGrp="1"/>
          </p:cNvSpPr>
          <p:nvPr/>
        </p:nvSpPr>
        <p:spPr>
          <a:xfrm>
            <a:off x="6496050" y="3905250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while (true)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code_line_36_10"/>
          <p:cNvSpPr>
            <a:spLocks noGrp="1"/>
          </p:cNvSpPr>
          <p:nvPr/>
        </p:nvSpPr>
        <p:spPr>
          <a:xfrm>
            <a:off x="6496050" y="414337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(node-&gt;left) node = node-&gt;left;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code_line_36_11"/>
          <p:cNvSpPr>
            <a:spLocks noGrp="1"/>
          </p:cNvSpPr>
          <p:nvPr/>
        </p:nvSpPr>
        <p:spPr>
          <a:xfrm>
            <a:off x="6496050" y="4381500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else if (node-&gt;right) node = node-&gt;right;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code_line_36_12"/>
          <p:cNvSpPr>
            <a:spLocks noGrp="1"/>
          </p:cNvSpPr>
          <p:nvPr/>
        </p:nvSpPr>
        <p:spPr>
          <a:xfrm>
            <a:off x="6496050" y="4619625"/>
            <a:ext cx="4714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else return this-&gt;node = node;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37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· 测试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37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 项测试为什么不是只看最后一句 Tests passed: 100%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37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37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37_42"/>
          <p:cNvSpPr>
            <a:spLocks noGrp="1"/>
          </p:cNvSpPr>
          <p:nvPr/>
        </p:nvSpPr>
        <p:spPr>
          <a:xfrm>
            <a:off x="400050" y="1695450"/>
            <a:ext cx="5381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固定小树负责命中明确分支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37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37_42"/>
          <p:cNvSpPr>
            <a:spLocks noGrp="1"/>
          </p:cNvSpPr>
          <p:nvPr/>
        </p:nvSpPr>
        <p:spPr>
          <a:xfrm>
            <a:off x="628650" y="2419350"/>
            <a:ext cx="5095875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插入案例主动制造叔叔红、折线、直线；删除案例主动制造红兄弟、双侄黑、近侄红、远侄红，并同时准备左右镜像。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这些测试不仅调用 invariant，还比较 toString 的精确树形。哪怕 key 都能找到，只要颜色或父子位置不同，字符串就会暴露差异。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question_37_665"/>
          <p:cNvSpPr>
            <a:spLocks noGrp="1"/>
          </p:cNvSpPr>
          <p:nvPr/>
        </p:nvSpPr>
        <p:spPr>
          <a:xfrm>
            <a:off x="6334125" y="1695450"/>
            <a:ext cx="5238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486A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486A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随机压力负责组合连续修复</a:t>
            </a:r>
            <a:endParaRPr sz="1800" b="1">
              <a:solidFill>
                <a:srgbClr val="486A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ason_bar_37_665"/>
          <p:cNvSpPr>
            <a:spLocks noGrp="1"/>
          </p:cNvSpPr>
          <p:nvPr/>
        </p:nvSpPr>
        <p:spPr>
          <a:xfrm>
            <a:off x="6334125" y="2305050"/>
            <a:ext cx="66675" cy="3629025"/>
          </a:xfrm>
          <a:prstGeom prst="rect">
            <a:avLst/>
          </a:prstGeom>
          <a:solidFill>
            <a:srgbClr val="486A9A"/>
          </a:solidFill>
          <a:ln w="0">
            <a:noFill/>
            <a:prstDash val="solid"/>
          </a:ln>
        </p:spPr>
      </p:sp>
      <p:sp>
        <p:nvSpPr>
          <p:cNvPr id="11" name="reason_body_37_665"/>
          <p:cNvSpPr>
            <a:spLocks noGrp="1"/>
          </p:cNvSpPr>
          <p:nvPr/>
        </p:nvSpPr>
        <p:spPr>
          <a:xfrm>
            <a:off x="6562725" y="2419350"/>
            <a:ext cx="49530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固定案例只能覆盖设计者想到的局部。随机插入包含 100 万个元素，用来证明有序性和高度控制没有在大规模下崩坏。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随机删除则每删一个值就检查 invariant，并确认该值确实不存在。这样可以定位第一次破坏性质的操作，而不是只看全部删完后的空树。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akeaway_37"/>
          <p:cNvSpPr>
            <a:spLocks noGrp="1"/>
          </p:cNvSpPr>
          <p:nvPr/>
        </p:nvSpPr>
        <p:spPr>
          <a:xfrm>
            <a:off x="1047750" y="5953125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本次环境实测：39 / 39 通过；完整测试一次运行约 717.71 ms。</a:t>
            </a:r>
            <a:endParaRPr sz="1575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38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· 局限与扩展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38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DOUBLE_BLACK 使用 (T)0：模板表面通用，实际仍要求 T 能由 0 构造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38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38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38_42"/>
          <p:cNvSpPr>
            <a:spLocks noGrp="1"/>
          </p:cNvSpPr>
          <p:nvPr/>
        </p:nvSpPr>
        <p:spPr>
          <a:xfrm>
            <a:off x="400050" y="1695450"/>
            <a:ext cx="590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问题不是 0 会不会被画出来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38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38_42"/>
          <p:cNvSpPr>
            <a:spLocks noGrp="1"/>
          </p:cNvSpPr>
          <p:nvPr/>
        </p:nvSpPr>
        <p:spPr>
          <a:xfrm>
            <a:off x="628650" y="2419350"/>
            <a:ext cx="561975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临时双黑节点在修复完成后会被删除，正常情况下用户看不到它的 key。但模板编译时仍然必须能执行 (T)0。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 T 是一个没有整数构造函数的自定义类型，代码甚至无法通过编译。也就是说，RBTree&lt;T&gt; 的接口看起来接受任意可比较类型，删除实现却偷偷增加了“能从 0 构造”的额外约束。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更稳妥的设计是使用统一哨兵 NIL。空叶子不再用 NULL 表示，而是由真实的黑色哨兵节点表示；它可以保存 parent，又不需要伪造业务 key。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_bg_38_680"/>
          <p:cNvSpPr>
            <a:spLocks noGrp="1"/>
          </p:cNvSpPr>
          <p:nvPr/>
        </p:nvSpPr>
        <p:spPr>
          <a:xfrm>
            <a:off x="6477000" y="1952625"/>
            <a:ext cx="4762500" cy="2143125"/>
          </a:xfrm>
          <a:prstGeom prst="rect">
            <a:avLst/>
          </a:prstGeom>
          <a:solidFill>
            <a:srgbClr val="202126"/>
          </a:solidFill>
          <a:ln w="0">
            <a:noFill/>
            <a:prstDash val="solid"/>
          </a:ln>
        </p:spPr>
      </p:sp>
      <p:sp>
        <p:nvSpPr>
          <p:cNvPr id="10" name="code_line_38_0"/>
          <p:cNvSpPr>
            <a:spLocks noGrp="1"/>
          </p:cNvSpPr>
          <p:nvPr/>
        </p:nvSpPr>
        <p:spPr>
          <a:xfrm>
            <a:off x="6638925" y="20478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当前写法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code_hl_38_1"/>
          <p:cNvSpPr>
            <a:spLocks noGrp="1"/>
          </p:cNvSpPr>
          <p:nvPr/>
        </p:nvSpPr>
        <p:spPr>
          <a:xfrm>
            <a:off x="6553200" y="2295525"/>
            <a:ext cx="46101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2" name="code_line_38_1"/>
          <p:cNvSpPr>
            <a:spLocks noGrp="1"/>
          </p:cNvSpPr>
          <p:nvPr/>
        </p:nvSpPr>
        <p:spPr>
          <a:xfrm>
            <a:off x="6638925" y="2286000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new RBTreeNode((T)0, parent, tree, DOUBLE_BLACK);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code_line_38_2"/>
          <p:cNvSpPr>
            <a:spLocks noGrp="1"/>
          </p:cNvSpPr>
          <p:nvPr/>
        </p:nvSpPr>
        <p:spPr>
          <a:xfrm>
            <a:off x="6638925" y="252412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4" name="code_line_38_3"/>
          <p:cNvSpPr>
            <a:spLocks noGrp="1"/>
          </p:cNvSpPr>
          <p:nvPr/>
        </p:nvSpPr>
        <p:spPr>
          <a:xfrm>
            <a:off x="6638925" y="2762250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E7E7E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可扩展方向</a:t>
            </a:r>
            <a:endParaRPr sz="975" b="0">
              <a:solidFill>
                <a:srgbClr val="E7E7E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code_hl_38_4"/>
          <p:cNvSpPr>
            <a:spLocks noGrp="1"/>
          </p:cNvSpPr>
          <p:nvPr/>
        </p:nvSpPr>
        <p:spPr>
          <a:xfrm>
            <a:off x="6553200" y="3009900"/>
            <a:ext cx="46101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6" name="code_line_38_4"/>
          <p:cNvSpPr>
            <a:spLocks noGrp="1"/>
          </p:cNvSpPr>
          <p:nvPr/>
        </p:nvSpPr>
        <p:spPr>
          <a:xfrm>
            <a:off x="6638925" y="30003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使用共享或独立 NIL 节点表示空叶子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code_hl_38_5"/>
          <p:cNvSpPr>
            <a:spLocks noGrp="1"/>
          </p:cNvSpPr>
          <p:nvPr/>
        </p:nvSpPr>
        <p:spPr>
          <a:xfrm>
            <a:off x="6553200" y="3248025"/>
            <a:ext cx="46101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18" name="code_line_38_5"/>
          <p:cNvSpPr>
            <a:spLocks noGrp="1"/>
          </p:cNvSpPr>
          <p:nvPr/>
        </p:nvSpPr>
        <p:spPr>
          <a:xfrm>
            <a:off x="6638925" y="3238500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NIL-&gt;color = BLACK;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code_hl_38_6"/>
          <p:cNvSpPr>
            <a:spLocks noGrp="1"/>
          </p:cNvSpPr>
          <p:nvPr/>
        </p:nvSpPr>
        <p:spPr>
          <a:xfrm>
            <a:off x="6553200" y="3486150"/>
            <a:ext cx="4610100" cy="238125"/>
          </a:xfrm>
          <a:prstGeom prst="rect">
            <a:avLst/>
          </a:prstGeom>
          <a:solidFill>
            <a:srgbClr val="56362F"/>
          </a:solidFill>
          <a:ln w="0">
            <a:noFill/>
            <a:prstDash val="solid"/>
          </a:ln>
        </p:spPr>
      </p:sp>
      <p:sp>
        <p:nvSpPr>
          <p:cNvPr id="20" name="code_line_38_6"/>
          <p:cNvSpPr>
            <a:spLocks noGrp="1"/>
          </p:cNvSpPr>
          <p:nvPr/>
        </p:nvSpPr>
        <p:spPr>
          <a:xfrm>
            <a:off x="6638925" y="347662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FFD1B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NIL-&gt;parent = parent;</a:t>
            </a:r>
            <a:endParaRPr sz="975" b="0">
              <a:solidFill>
                <a:srgbClr val="FFD1B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takeaway_38"/>
          <p:cNvSpPr>
            <a:spLocks noGrp="1"/>
          </p:cNvSpPr>
          <p:nvPr/>
        </p:nvSpPr>
        <p:spPr>
          <a:xfrm>
            <a:off x="1047750" y="5953125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真正的模板约束必须写在接口里，而不是藏在某个删除分支中。</a:t>
            </a:r>
            <a:endParaRPr sz="1575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_39"/>
          <p:cNvSpPr>
            <a:spLocks noGrp="1"/>
          </p:cNvSpPr>
          <p:nvPr/>
        </p:nvSpPr>
        <p:spPr>
          <a:xfrm>
            <a:off x="400050" y="2571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· 局限与扩展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eading_39"/>
          <p:cNvSpPr>
            <a:spLocks noGrp="1"/>
          </p:cNvSpPr>
          <p:nvPr/>
        </p:nvSpPr>
        <p:spPr>
          <a:xfrm>
            <a:off x="400050" y="590550"/>
            <a:ext cx="1128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当前迭代器走后序：如果要接近 std::set，应该怎样改成升序</a:t>
            </a:r>
            <a:endParaRPr sz="27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ule_39"/>
          <p:cNvSpPr>
            <a:spLocks noGrp="1"/>
          </p:cNvSpPr>
          <p:nvPr/>
        </p:nvSpPr>
        <p:spPr>
          <a:xfrm>
            <a:off x="400050" y="1352550"/>
            <a:ext cx="11391900" cy="19050"/>
          </a:xfrm>
          <a:prstGeom prst="rect">
            <a:avLst/>
          </a:prstGeom>
          <a:solidFill>
            <a:srgbClr val="17181C"/>
          </a:solidFill>
          <a:ln w="0">
            <a:noFill/>
            <a:prstDash val="solid"/>
          </a:ln>
        </p:spPr>
      </p:sp>
      <p:sp>
        <p:nvSpPr>
          <p:cNvPr id="5" name="footer_39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stion_39_42"/>
          <p:cNvSpPr>
            <a:spLocks noGrp="1"/>
          </p:cNvSpPr>
          <p:nvPr/>
        </p:nvSpPr>
        <p:spPr>
          <a:xfrm>
            <a:off x="400050" y="1695450"/>
            <a:ext cx="590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中序 successor 不是简单地把 begin 改成最左节点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ason_bar_39_42"/>
          <p:cNvSpPr>
            <a:spLocks noGrp="1"/>
          </p:cNvSpPr>
          <p:nvPr/>
        </p:nvSpPr>
        <p:spPr>
          <a:xfrm>
            <a:off x="400050" y="2305050"/>
            <a:ext cx="66675" cy="3629025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8" name="reason_body_39_42"/>
          <p:cNvSpPr>
            <a:spLocks noGrp="1"/>
          </p:cNvSpPr>
          <p:nvPr/>
        </p:nvSpPr>
        <p:spPr>
          <a:xfrm>
            <a:off x="628650" y="2419350"/>
            <a:ext cx="561975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 的确应该从 root 一路向 left，找到最小 key。但 operator++ 也必须一起更换规则。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当前节点有 right 时，下一个值是右子树中最靠左的节点；当前节点没有 right 时，就沿 parent 向上走，直到找到第一个“当前节点位于其左子树”的祖先，这个祖先才是下一个更大的 key。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如果一路走到 NULL，说明当前节点已经是最大值，迭代器进入 end。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l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这套规则与后序遍历完全不同，因此不能只改测试期待值，必须把 begin 与 operator++ 当作一组协议一起重写。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uccessor_tree_edge_a_b"/>
          <p:cNvSpPr>
            <a:spLocks noGrp="1"/>
          </p:cNvSpPr>
          <p:nvPr/>
        </p:nvSpPr>
        <p:spPr>
          <a:xfrm rot="7776641">
            <a:off x="7390375" y="2962275"/>
            <a:ext cx="179275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0" name="successor_tree_edge_a_d"/>
          <p:cNvSpPr>
            <a:spLocks noGrp="1"/>
          </p:cNvSpPr>
          <p:nvPr/>
        </p:nvSpPr>
        <p:spPr>
          <a:xfrm rot="3023359">
            <a:off x="8533375" y="2962275"/>
            <a:ext cx="1792751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1" name="successor_tree_edge_d_e"/>
          <p:cNvSpPr>
            <a:spLocks noGrp="1"/>
          </p:cNvSpPr>
          <p:nvPr/>
        </p:nvSpPr>
        <p:spPr>
          <a:xfrm rot="6748766">
            <a:off x="8968152" y="4343400"/>
            <a:ext cx="149469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2" name="successor_tree_edge_d_f"/>
          <p:cNvSpPr>
            <a:spLocks noGrp="1"/>
          </p:cNvSpPr>
          <p:nvPr/>
        </p:nvSpPr>
        <p:spPr>
          <a:xfrm rot="4051234">
            <a:off x="9539652" y="4343400"/>
            <a:ext cx="1494697" cy="28575"/>
          </a:xfrm>
          <a:prstGeom prst="rect">
            <a:avLst/>
          </a:prstGeom>
          <a:solidFill>
            <a:srgbClr val="B9BDC5"/>
          </a:solidFill>
          <a:ln w="0">
            <a:noFill/>
            <a:prstDash val="solid"/>
          </a:ln>
        </p:spPr>
      </p:sp>
      <p:sp>
        <p:nvSpPr>
          <p:cNvPr id="13" name="successor_tree_a"/>
          <p:cNvSpPr>
            <a:spLocks noGrp="1"/>
          </p:cNvSpPr>
          <p:nvPr/>
        </p:nvSpPr>
        <p:spPr>
          <a:xfrm>
            <a:off x="8620125" y="204787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uccessor_tree_a_label"/>
          <p:cNvSpPr>
            <a:spLocks noGrp="1"/>
          </p:cNvSpPr>
          <p:nvPr/>
        </p:nvSpPr>
        <p:spPr>
          <a:xfrm>
            <a:off x="8658225" y="21621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uccessor_tree_b"/>
          <p:cNvSpPr>
            <a:spLocks noGrp="1"/>
          </p:cNvSpPr>
          <p:nvPr/>
        </p:nvSpPr>
        <p:spPr>
          <a:xfrm>
            <a:off x="7477125" y="342900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uccessor_tree_b_label"/>
          <p:cNvSpPr>
            <a:spLocks noGrp="1"/>
          </p:cNvSpPr>
          <p:nvPr/>
        </p:nvSpPr>
        <p:spPr>
          <a:xfrm>
            <a:off x="7515225" y="35433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uccessor_tree_d"/>
          <p:cNvSpPr>
            <a:spLocks noGrp="1"/>
          </p:cNvSpPr>
          <p:nvPr/>
        </p:nvSpPr>
        <p:spPr>
          <a:xfrm>
            <a:off x="9763125" y="3429000"/>
            <a:ext cx="476250" cy="476250"/>
          </a:xfrm>
          <a:prstGeom prst="ellipse">
            <a:avLst/>
          </a:prstGeom>
          <a:solidFill>
            <a:srgbClr val="DE384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uccessor_tree_d_label"/>
          <p:cNvSpPr>
            <a:spLocks noGrp="1"/>
          </p:cNvSpPr>
          <p:nvPr/>
        </p:nvSpPr>
        <p:spPr>
          <a:xfrm>
            <a:off x="9801225" y="35433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uccessor_tree_e"/>
          <p:cNvSpPr>
            <a:spLocks noGrp="1"/>
          </p:cNvSpPr>
          <p:nvPr/>
        </p:nvSpPr>
        <p:spPr>
          <a:xfrm>
            <a:off x="9191625" y="48101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uccessor_tree_e_label"/>
          <p:cNvSpPr>
            <a:spLocks noGrp="1"/>
          </p:cNvSpPr>
          <p:nvPr/>
        </p:nvSpPr>
        <p:spPr>
          <a:xfrm>
            <a:off x="9229725" y="49244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uccessor_tree_f"/>
          <p:cNvSpPr>
            <a:spLocks noGrp="1"/>
          </p:cNvSpPr>
          <p:nvPr/>
        </p:nvSpPr>
        <p:spPr>
          <a:xfrm>
            <a:off x="10334625" y="4810125"/>
            <a:ext cx="476250" cy="476250"/>
          </a:xfrm>
          <a:prstGeom prst="ellipse">
            <a:avLst/>
          </a:prstGeom>
          <a:solidFill>
            <a:srgbClr val="2224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uccessor_tree_f_label"/>
          <p:cNvSpPr>
            <a:spLocks noGrp="1"/>
          </p:cNvSpPr>
          <p:nvPr/>
        </p:nvSpPr>
        <p:spPr>
          <a:xfrm>
            <a:off x="10372725" y="49244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uccessor_note"/>
          <p:cNvSpPr>
            <a:spLocks noGrp="1"/>
          </p:cNvSpPr>
          <p:nvPr/>
        </p:nvSpPr>
        <p:spPr>
          <a:xfrm>
            <a:off x="7048500" y="5619750"/>
            <a:ext cx="447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486A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86A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的 successor：进入右子树 15，再一路向左得到 12</a:t>
            </a:r>
            <a:endParaRPr sz="1350" b="1">
              <a:solidFill>
                <a:srgbClr val="486A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nd_section"/>
          <p:cNvSpPr>
            <a:spLocks noGrp="1"/>
          </p:cNvSpPr>
          <p:nvPr/>
        </p:nvSpPr>
        <p:spPr>
          <a:xfrm>
            <a:off x="400050" y="3810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· 总结</a:t>
            </a:r>
            <a:endParaRPr sz="1050" b="1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nd_title"/>
          <p:cNvSpPr>
            <a:spLocks noGrp="1"/>
          </p:cNvSpPr>
          <p:nvPr/>
        </p:nvSpPr>
        <p:spPr>
          <a:xfrm>
            <a:off x="400050" y="1000125"/>
            <a:ext cx="8096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最后把整套设计压回一句话</a:t>
            </a:r>
            <a:endParaRPr sz="330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question_40_42"/>
          <p:cNvSpPr>
            <a:spLocks noGrp="1"/>
          </p:cNvSpPr>
          <p:nvPr/>
        </p:nvSpPr>
        <p:spPr>
          <a:xfrm>
            <a:off x="400050" y="1952625"/>
            <a:ext cx="714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E38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红黑树的代码为什么看起来分支很多？</a:t>
            </a:r>
            <a:endParaRPr sz="1800" b="1">
              <a:solidFill>
                <a:srgbClr val="DE38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ason_bar_40_42"/>
          <p:cNvSpPr>
            <a:spLocks noGrp="1"/>
          </p:cNvSpPr>
          <p:nvPr/>
        </p:nvSpPr>
        <p:spPr>
          <a:xfrm>
            <a:off x="400050" y="2562225"/>
            <a:ext cx="66675" cy="3105150"/>
          </a:xfrm>
          <a:prstGeom prst="rect">
            <a:avLst/>
          </a:prstGeom>
          <a:solidFill>
            <a:srgbClr val="DE3840"/>
          </a:solidFill>
          <a:ln w="0">
            <a:noFill/>
            <a:prstDash val="solid"/>
          </a:ln>
        </p:spPr>
      </p:sp>
      <p:sp>
        <p:nvSpPr>
          <p:cNvPr id="6" name="reason_body_40_42"/>
          <p:cNvSpPr>
            <a:spLocks noGrp="1"/>
          </p:cNvSpPr>
          <p:nvPr/>
        </p:nvSpPr>
        <p:spPr>
          <a:xfrm>
            <a:off x="628650" y="2676525"/>
            <a:ext cx="6858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因为它在守护的不是某个固定树形，而是三类长期不变量：二叉搜索顺序、红节点约束、所有路径黑高相等。</a:t>
            </a:r>
            <a:endParaRPr sz="1425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425"/>
          </a:p>
          <a:p>
            <a:pPr algn="l">
              <a:defRPr sz="1425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insert 选择先制造局部红红冲突；remove 选择先把复杂节点转成至多一个孩子，再把黑高亏损做成 DOUBLE_BLACK；旋转只修改最小局部，但必须把内部、外部和反向 parent 全部接回。</a:t>
            </a:r>
            <a:endParaRPr sz="1425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425"/>
          </a:p>
          <a:p>
            <a:pPr algn="l">
              <a:defRPr sz="1425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EasyX 只负责显示最终结果。真正需要答辩的是后端为什么这样判断、怎样改变局部结构，以及测试怎样证明修复后的树仍然合法。</a:t>
            </a:r>
            <a:endParaRPr sz="1425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nd_qa"/>
          <p:cNvSpPr>
            <a:spLocks noGrp="1"/>
          </p:cNvSpPr>
          <p:nvPr/>
        </p:nvSpPr>
        <p:spPr>
          <a:xfrm>
            <a:off x="8429625" y="2857500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718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 &amp; A</a:t>
            </a:r>
            <a:endParaRPr sz="3150" b="1">
              <a:solidFill>
                <a:srgbClr val="1718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nd_hint"/>
          <p:cNvSpPr>
            <a:spLocks noGrp="1"/>
          </p:cNvSpPr>
          <p:nvPr/>
        </p:nvSpPr>
        <p:spPr>
          <a:xfrm>
            <a:off x="7858125" y="3905250"/>
            <a:ext cx="381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答辩时如果被追问删除，先画 P / S / N / F / DB，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再说当前分支是在“消掉亏损”还是“把亏损向上推”。</a:t>
            </a:r>
            <a:endParaRPr sz="135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nd_footer"/>
          <p:cNvSpPr>
            <a:spLocks noGrp="1"/>
          </p:cNvSpPr>
          <p:nvPr/>
        </p:nvSpPr>
        <p:spPr>
          <a:xfrm>
            <a:off x="11258550" y="643890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D62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900" b="0">
              <a:solidFill>
                <a:srgbClr val="5D62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12949</Words>
  <Application>WPS 演示</Application>
  <PresentationFormat>Converted Presentation</PresentationFormat>
  <Paragraphs>1142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Consolas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WPS_1629428613</cp:lastModifiedBy>
  <cp:revision>2</cp:revision>
  <dcterms:created xsi:type="dcterms:W3CDTF">2026-06-24T15:27:12Z</dcterms:created>
  <dcterms:modified xsi:type="dcterms:W3CDTF">2026-06-24T15:27:43Z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DFB2AFC4D2634BFF8985F02B7ECFAB2D_12</vt:lpwstr>
  </property>
</Properties>
</file>